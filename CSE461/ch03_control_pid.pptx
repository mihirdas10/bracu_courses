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2" roundtripDataSignature="AMtx7mghAqCr0MkWhvsgsfHLvAk4RA7Z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customschemas.google.com/relationships/presentationmetadata" Target="meta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6caf2632e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26caf2632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caf2632ea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26caf2632e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6caf2632ea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26caf2632e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6caf2632ea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26caf2632e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6caf2632ea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26caf2632e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6caf2632ea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26caf2632e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6caf2632ea_0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26caf2632e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6caf2632ea_0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26caf2632e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6caf2632ea_0_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26caf2632e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6caf2632ea_0_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26caf2632e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6caf2632ea_0_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26caf2632ea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6caf2632ea_0_1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26caf2632ea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6caf2632ea_0_1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26caf2632ea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6caf2632ea_0_1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26caf2632ea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6caf2632ea_3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26caf2632ea_3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6caf2632ea_3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26caf2632ea_3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6caf2632ea_3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26caf2632ea_3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6caf2632ea_0_1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26caf2632ea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6caf2632ea_0_1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26caf2632ea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6caf2632ea_3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26caf2632ea_3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6caf2632ea_1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g26caf2632ea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6caf2632ea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g26caf2632e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6caf2632ea_1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26caf2632ea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6caf2632ea_1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26caf2632ea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6caf2632ea_1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26caf2632ea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6caf2632ea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g26caf2632e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c70e3cbe86_1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g2c70e3cbe86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c7146d54e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g2c7146d54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c7146d54e6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g2c7146d54e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1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gif"/><Relationship Id="rId4" Type="http://schemas.openxmlformats.org/officeDocument/2006/relationships/image" Target="../media/image1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gif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100">
                <a:latin typeface="Times New Roman"/>
                <a:ea typeface="Times New Roman"/>
                <a:cs typeface="Times New Roman"/>
                <a:sym typeface="Times New Roman"/>
              </a:rPr>
              <a:t>Introduction to Robotics</a:t>
            </a:r>
            <a:endParaRPr sz="4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100">
                <a:latin typeface="Times New Roman"/>
                <a:ea typeface="Times New Roman"/>
                <a:cs typeface="Times New Roman"/>
                <a:sym typeface="Times New Roman"/>
              </a:rPr>
              <a:t>CSE 461</a:t>
            </a:r>
            <a:endParaRPr sz="4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46975" y="2834125"/>
            <a:ext cx="8978700" cy="13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6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Class Topic: Introduction to Control System Theory (PID)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6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Utsha Kumar Roy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6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Lecturer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6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Brac University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2</a:t>
            </a:r>
            <a:r>
              <a:rPr baseline="30000" lang="en"/>
              <a:t>nd</a:t>
            </a:r>
            <a:r>
              <a:rPr lang="en"/>
              <a:t> order control system</a:t>
            </a:r>
            <a:endParaRPr/>
          </a:p>
        </p:txBody>
      </p:sp>
      <p:pic>
        <p:nvPicPr>
          <p:cNvPr id="61" name="Google Shape;6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181100"/>
            <a:ext cx="8230313" cy="3798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Effect of PID controller function</a:t>
            </a:r>
            <a:endParaRPr/>
          </a:p>
        </p:txBody>
      </p:sp>
      <p:pic>
        <p:nvPicPr>
          <p:cNvPr id="67" name="Google Shape;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283" y="1457115"/>
            <a:ext cx="4244889" cy="27315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hat Is A PID Controller And How It Works? - PLCynergy" id="68" name="Google Shape;6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08937" y="1344267"/>
            <a:ext cx="4346247" cy="3458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6caf2632ea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74" name="Google Shape;74;g26caf2632ea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75" name="Google Shape;75;g26caf2632ea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725" y="97375"/>
            <a:ext cx="8073800" cy="50461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26caf2632ea_0_0"/>
          <p:cNvSpPr/>
          <p:nvPr/>
        </p:nvSpPr>
        <p:spPr>
          <a:xfrm>
            <a:off x="2566528" y="436662"/>
            <a:ext cx="413286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https://www.youtube.com/watch?v=wkfEZmsQqiA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g26caf2632ea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804" y="48725"/>
            <a:ext cx="8073723" cy="5046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g26caf2632ea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175" y="97441"/>
            <a:ext cx="7917798" cy="494862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26caf2632ea_0_12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Desired Altitude - Actual Altitude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60m - 0m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60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26caf2632ea_0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100" y="97441"/>
            <a:ext cx="7917798" cy="494862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26caf2632ea_0_17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Desired Altitude - Actual Altitude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60m - 0m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60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Error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26caf2632ea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525" y="53325"/>
            <a:ext cx="7900426" cy="493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g26caf2632ea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75375" y="500483"/>
            <a:ext cx="8073800" cy="504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g26caf2632ea_0_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26caf2632ea_0_26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Desired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26caf2632ea_0_26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26caf2632ea_0_26"/>
          <p:cNvSpPr txBox="1"/>
          <p:nvPr/>
        </p:nvSpPr>
        <p:spPr>
          <a:xfrm>
            <a:off x="3274100" y="304875"/>
            <a:ext cx="869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Gain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26caf2632ea_0_26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26caf2632ea_0_26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Altitude Measuring Sensor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g26caf2632ea_0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75375" y="492863"/>
            <a:ext cx="8073800" cy="504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26caf2632ea_0_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26caf2632ea_0_36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Desired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26caf2632ea_0_36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26caf2632ea_0_36"/>
          <p:cNvSpPr txBox="1"/>
          <p:nvPr/>
        </p:nvSpPr>
        <p:spPr>
          <a:xfrm>
            <a:off x="3274100" y="304875"/>
            <a:ext cx="869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26caf2632ea_0_36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26caf2632ea_0_36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Altitude Measuring Sensor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g26caf2632ea_0_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75375" y="492863"/>
            <a:ext cx="8073800" cy="504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26caf2632ea_0_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26caf2632ea_0_46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Desired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26caf2632ea_0_46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26caf2632ea_0_46"/>
          <p:cNvSpPr txBox="1"/>
          <p:nvPr/>
        </p:nvSpPr>
        <p:spPr>
          <a:xfrm>
            <a:off x="3274100" y="304875"/>
            <a:ext cx="869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26caf2632ea_0_46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26caf2632ea_0_46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Altitude Measuring Sensor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26caf2632ea_0_46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Desired Altitude - Actual Altitude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60m - 0m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60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 Speed = 60 * 1 = 60 rpm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g26caf2632ea_0_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75375" y="492863"/>
            <a:ext cx="8073800" cy="504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26caf2632ea_0_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26caf2632ea_0_68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Desired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26caf2632ea_0_68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26caf2632ea_0_68"/>
          <p:cNvSpPr txBox="1"/>
          <p:nvPr/>
        </p:nvSpPr>
        <p:spPr>
          <a:xfrm>
            <a:off x="3274100" y="304875"/>
            <a:ext cx="869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26caf2632ea_0_68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26caf2632ea_0_68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Altitude Measuring Sensor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26caf2632ea_0_68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Desired Altitude - Actual Altitude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60m - 0m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60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 Speed = 60 * 1 = 60 rpm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g26caf2632ea_0_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9725" y="1784125"/>
            <a:ext cx="2231650" cy="201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g26caf2632ea_0_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75375" y="492863"/>
            <a:ext cx="8073800" cy="504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26caf2632ea_0_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26caf2632ea_0_80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Desired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26caf2632ea_0_80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26caf2632ea_0_80"/>
          <p:cNvSpPr txBox="1"/>
          <p:nvPr/>
        </p:nvSpPr>
        <p:spPr>
          <a:xfrm>
            <a:off x="3274100" y="304875"/>
            <a:ext cx="869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26caf2632ea_0_80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26caf2632ea_0_80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Altitude Measuring Sensor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g26caf2632ea_0_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9725" y="1784125"/>
            <a:ext cx="2231650" cy="201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g26caf2632ea_0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75375" y="492863"/>
            <a:ext cx="8073800" cy="504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26caf2632ea_0_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26caf2632ea_0_92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Desired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26caf2632ea_0_92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26caf2632ea_0_92"/>
          <p:cNvSpPr txBox="1"/>
          <p:nvPr/>
        </p:nvSpPr>
        <p:spPr>
          <a:xfrm>
            <a:off x="3274100" y="304875"/>
            <a:ext cx="869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26caf2632ea_0_92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26caf2632ea_0_92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Altitude Measuring Sensor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26caf2632ea_0_92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Desired Altitude - Actual Altitude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60m - 0m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60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 Speed = 60 * 2 = 120 rpm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g26caf2632ea_0_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9725" y="1784125"/>
            <a:ext cx="2231650" cy="201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g26caf2632ea_0_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04075" y="551800"/>
            <a:ext cx="7741798" cy="4838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26caf2632ea_0_1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26caf2632ea_0_104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Desired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26caf2632ea_0_104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26caf2632ea_0_104"/>
          <p:cNvSpPr txBox="1"/>
          <p:nvPr/>
        </p:nvSpPr>
        <p:spPr>
          <a:xfrm>
            <a:off x="3274100" y="304875"/>
            <a:ext cx="869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26caf2632ea_0_104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26caf2632ea_0_104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Altitude Measuring Sensor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26caf2632ea_0_104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Desired Altitude - Actual Altitude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60m - 5m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55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 Speed = 55 * 2 = 110 rpm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g26caf2632ea_0_10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9725" y="1784125"/>
            <a:ext cx="2231650" cy="201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g26caf2632ea_0_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11450" y="880663"/>
            <a:ext cx="82296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26caf2632ea_0_1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26caf2632ea_0_117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Desired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26caf2632ea_0_117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26caf2632ea_0_117"/>
          <p:cNvSpPr txBox="1"/>
          <p:nvPr/>
        </p:nvSpPr>
        <p:spPr>
          <a:xfrm>
            <a:off x="3274100" y="304875"/>
            <a:ext cx="869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26caf2632ea_0_117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26caf2632ea_0_117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Altitude Measuring Sensor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26caf2632ea_0_117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Desired Altitude - Actual Altitude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60m - 10m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50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 Speed = 50 * 2 = 100 rpm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g26caf2632ea_0_1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9725" y="1784125"/>
            <a:ext cx="2231650" cy="201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26caf2632ea_0_117"/>
          <p:cNvSpPr txBox="1"/>
          <p:nvPr/>
        </p:nvSpPr>
        <p:spPr>
          <a:xfrm>
            <a:off x="164400" y="3661525"/>
            <a:ext cx="5637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10m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g26caf2632ea_0_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26caf2632ea_0_131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Desired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26caf2632ea_0_131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26caf2632ea_0_131"/>
          <p:cNvSpPr txBox="1"/>
          <p:nvPr/>
        </p:nvSpPr>
        <p:spPr>
          <a:xfrm>
            <a:off x="3274100" y="304875"/>
            <a:ext cx="869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26caf2632ea_0_131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26caf2632ea_0_131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Altitude Measuring Sensor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26caf2632ea_0_131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 Speed = 10 * 10 = 100 rpm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 = 10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g26caf2632ea_0_1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9725" y="1784125"/>
            <a:ext cx="2231650" cy="201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g26caf2632ea_0_1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52300" y="1876300"/>
            <a:ext cx="3070124" cy="345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26caf2632ea_0_131"/>
          <p:cNvSpPr txBox="1"/>
          <p:nvPr/>
        </p:nvSpPr>
        <p:spPr>
          <a:xfrm>
            <a:off x="338475" y="3036850"/>
            <a:ext cx="6267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50m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g26caf2632ea_3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26caf2632ea_3_2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Desired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26caf2632ea_3_2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26caf2632ea_3_2"/>
          <p:cNvSpPr txBox="1"/>
          <p:nvPr/>
        </p:nvSpPr>
        <p:spPr>
          <a:xfrm>
            <a:off x="3274100" y="304875"/>
            <a:ext cx="869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26caf2632ea_3_2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26caf2632ea_3_2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Altitude Measuring Sensor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g26caf2632ea_3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9725" y="1784125"/>
            <a:ext cx="2231650" cy="201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g26caf2632ea_3_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3188" y="1590029"/>
            <a:ext cx="2129062" cy="330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g26caf2632ea_3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26caf2632ea_3_30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Desired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26caf2632ea_3_30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26caf2632ea_3_30"/>
          <p:cNvSpPr txBox="1"/>
          <p:nvPr/>
        </p:nvSpPr>
        <p:spPr>
          <a:xfrm>
            <a:off x="3274100" y="304875"/>
            <a:ext cx="869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26caf2632ea_3_30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26caf2632ea_3_30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Altitude Measuring Sensor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g26caf2632ea_3_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9725" y="1784125"/>
            <a:ext cx="2231650" cy="201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g26caf2632ea_3_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3188" y="1590029"/>
            <a:ext cx="2129062" cy="330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26caf2632ea_3_30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Desired Altitude - Actual Altitude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60m - 60m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 Speed = 0 * 10 = 0 rpm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g26caf2632ea_3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g26caf2632ea_3_17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Desired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26caf2632ea_3_17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26caf2632ea_3_17"/>
          <p:cNvSpPr txBox="1"/>
          <p:nvPr/>
        </p:nvSpPr>
        <p:spPr>
          <a:xfrm>
            <a:off x="3274100" y="304875"/>
            <a:ext cx="869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26caf2632ea_3_17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26caf2632ea_3_17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Altitude Measuring Sensor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g26caf2632ea_3_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9725" y="1784125"/>
            <a:ext cx="2231650" cy="201617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26caf2632ea_3_17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Desired Altitude - Actual Altitude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60m - 59m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1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 Speed = 1 *100  = 100 rpm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g26caf2632ea_3_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11" y="1836650"/>
            <a:ext cx="2091236" cy="31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g26caf2632ea_0_1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26caf2632ea_0_146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Desired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26caf2632ea_0_146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26caf2632ea_0_146"/>
          <p:cNvSpPr txBox="1"/>
          <p:nvPr/>
        </p:nvSpPr>
        <p:spPr>
          <a:xfrm>
            <a:off x="3274100" y="304875"/>
            <a:ext cx="869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26caf2632ea_0_146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26caf2632ea_0_146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Altitude Measuring Sensor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26caf2632ea_0_146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 Speed = 10 * 10 = 100 rpm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 = 10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g26caf2632ea_0_1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9725" y="1784125"/>
            <a:ext cx="2231650" cy="201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g26caf2632ea_0_1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52300" y="1876300"/>
            <a:ext cx="3070124" cy="345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g26caf2632ea_0_146"/>
          <p:cNvSpPr txBox="1"/>
          <p:nvPr/>
        </p:nvSpPr>
        <p:spPr>
          <a:xfrm>
            <a:off x="338475" y="3036850"/>
            <a:ext cx="6267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50m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26caf2632ea_0_146"/>
          <p:cNvSpPr txBox="1"/>
          <p:nvPr/>
        </p:nvSpPr>
        <p:spPr>
          <a:xfrm>
            <a:off x="3419600" y="3673250"/>
            <a:ext cx="3123600" cy="7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 = </a:t>
            </a:r>
            <a:r>
              <a:rPr b="1" i="0" lang="en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Kp</a:t>
            </a: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b="1" i="0" lang="en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error</a:t>
            </a:r>
            <a:endParaRPr b="1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g26caf2632ea_0_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26caf2632ea_0_160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Desired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26caf2632ea_0_160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26caf2632ea_0_160"/>
          <p:cNvSpPr txBox="1"/>
          <p:nvPr/>
        </p:nvSpPr>
        <p:spPr>
          <a:xfrm>
            <a:off x="3274100" y="304875"/>
            <a:ext cx="869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26caf2632ea_0_160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26caf2632ea_0_160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Altitude Measuring Sensor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26caf2632ea_0_160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 Speed = 10 * 10 = 100 rpm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 = 10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g26caf2632ea_0_1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9725" y="1784125"/>
            <a:ext cx="2231650" cy="201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g26caf2632ea_0_1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52300" y="1876300"/>
            <a:ext cx="3070124" cy="345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26caf2632ea_0_160"/>
          <p:cNvSpPr txBox="1"/>
          <p:nvPr/>
        </p:nvSpPr>
        <p:spPr>
          <a:xfrm>
            <a:off x="338475" y="3036850"/>
            <a:ext cx="6267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50m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26caf2632ea_0_160"/>
          <p:cNvSpPr txBox="1"/>
          <p:nvPr/>
        </p:nvSpPr>
        <p:spPr>
          <a:xfrm>
            <a:off x="3419600" y="3673250"/>
            <a:ext cx="3123600" cy="7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 = </a:t>
            </a:r>
            <a:r>
              <a:rPr b="1" i="0" lang="en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Kp</a:t>
            </a: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b="1" i="0" lang="en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error</a:t>
            </a:r>
            <a:endParaRPr b="1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26caf2632ea_0_160"/>
          <p:cNvSpPr txBox="1"/>
          <p:nvPr/>
        </p:nvSpPr>
        <p:spPr>
          <a:xfrm>
            <a:off x="3501800" y="4154475"/>
            <a:ext cx="3123600" cy="399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Proportional Control</a:t>
            </a:r>
            <a:endParaRPr b="1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g26caf2632ea_3_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299" y="1249476"/>
            <a:ext cx="3997400" cy="246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g26caf2632ea_3_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6849" y="1224489"/>
            <a:ext cx="4190750" cy="25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26caf2632ea_3_42"/>
          <p:cNvSpPr txBox="1"/>
          <p:nvPr/>
        </p:nvSpPr>
        <p:spPr>
          <a:xfrm>
            <a:off x="3010200" y="361425"/>
            <a:ext cx="3123600" cy="399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Proportional Control</a:t>
            </a:r>
            <a:endParaRPr b="1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g26caf2632ea_1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26caf2632ea_1_15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Desired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26caf2632ea_1_15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26caf2632ea_1_15"/>
          <p:cNvSpPr txBox="1"/>
          <p:nvPr/>
        </p:nvSpPr>
        <p:spPr>
          <a:xfrm>
            <a:off x="3285825" y="211125"/>
            <a:ext cx="8691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Ki*e + Kp * ∫e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26caf2632ea_1_15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26caf2632ea_1_15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Altitude Measuring Sensor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26caf2632ea_1_15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 Speed = 10 * 10 = 100 rpm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 = 10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9" name="Google Shape;299;g26caf2632ea_1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9725" y="1784125"/>
            <a:ext cx="2231650" cy="201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g26caf2632ea_1_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52300" y="1876300"/>
            <a:ext cx="3070124" cy="345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g26caf2632ea_1_15"/>
          <p:cNvSpPr txBox="1"/>
          <p:nvPr/>
        </p:nvSpPr>
        <p:spPr>
          <a:xfrm>
            <a:off x="338475" y="3036850"/>
            <a:ext cx="6267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50m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g26caf2632ea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g26caf2632ea_1_0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Desired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26caf2632ea_1_0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26caf2632ea_1_0"/>
          <p:cNvSpPr txBox="1"/>
          <p:nvPr/>
        </p:nvSpPr>
        <p:spPr>
          <a:xfrm>
            <a:off x="3285825" y="211125"/>
            <a:ext cx="8691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Ki*e + Kp * ∫e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26caf2632ea_1_0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26caf2632ea_1_0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Altitude Measuring Sensor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26caf2632ea_1_0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 Speed = 10 * 10 = 100 rpm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 = 10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3" name="Google Shape;313;g26caf2632ea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9725" y="1784125"/>
            <a:ext cx="2231650" cy="201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g26caf2632ea_1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52300" y="1876300"/>
            <a:ext cx="3070124" cy="345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g26caf2632ea_1_0"/>
          <p:cNvSpPr txBox="1"/>
          <p:nvPr/>
        </p:nvSpPr>
        <p:spPr>
          <a:xfrm>
            <a:off x="338475" y="3036850"/>
            <a:ext cx="6267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50m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26caf2632ea_1_0"/>
          <p:cNvSpPr txBox="1"/>
          <p:nvPr/>
        </p:nvSpPr>
        <p:spPr>
          <a:xfrm>
            <a:off x="2588850" y="3269352"/>
            <a:ext cx="4295100" cy="9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 = </a:t>
            </a:r>
            <a:r>
              <a:rPr b="1" i="0" lang="en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Kp </a:t>
            </a: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</a:t>
            </a:r>
            <a:r>
              <a:rPr b="1" i="0" lang="en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error </a:t>
            </a: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="1" i="0" lang="en" sz="16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Ki </a:t>
            </a: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</a:t>
            </a:r>
            <a:r>
              <a:rPr b="1" i="0" lang="en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(error1 + error2 + error3)</a:t>
            </a:r>
            <a:endParaRPr b="1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g26caf2632ea_1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g26caf2632ea_1_29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Desired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26caf2632ea_1_29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26caf2632ea_1_29"/>
          <p:cNvSpPr txBox="1"/>
          <p:nvPr/>
        </p:nvSpPr>
        <p:spPr>
          <a:xfrm>
            <a:off x="3285825" y="211125"/>
            <a:ext cx="8691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Ki*e + Kp * ∫e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26caf2632ea_1_29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26caf2632ea_1_29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Altitude Measuring Sensor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26caf2632ea_1_29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 Speed = 10 * 10 = 100 rpm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 = 10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g26caf2632ea_1_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9725" y="1784125"/>
            <a:ext cx="2231650" cy="201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g26caf2632ea_1_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52300" y="1876300"/>
            <a:ext cx="3070124" cy="345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g26caf2632ea_1_29"/>
          <p:cNvSpPr txBox="1"/>
          <p:nvPr/>
        </p:nvSpPr>
        <p:spPr>
          <a:xfrm>
            <a:off x="338475" y="3036850"/>
            <a:ext cx="6267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50m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26caf2632ea_1_29"/>
          <p:cNvSpPr txBox="1"/>
          <p:nvPr/>
        </p:nvSpPr>
        <p:spPr>
          <a:xfrm>
            <a:off x="2588850" y="3269352"/>
            <a:ext cx="4295100" cy="9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 = </a:t>
            </a:r>
            <a:r>
              <a:rPr b="1" i="0" lang="en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Kp </a:t>
            </a: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</a:t>
            </a:r>
            <a:r>
              <a:rPr b="1" i="0" lang="en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error </a:t>
            </a: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="1" i="0" lang="en" sz="16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Ki </a:t>
            </a: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</a:t>
            </a:r>
            <a:r>
              <a:rPr b="1" i="0" lang="en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(error1 + error2 + error3)</a:t>
            </a:r>
            <a:endParaRPr b="1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26caf2632ea_1_29"/>
          <p:cNvSpPr txBox="1"/>
          <p:nvPr/>
        </p:nvSpPr>
        <p:spPr>
          <a:xfrm>
            <a:off x="3501800" y="4154475"/>
            <a:ext cx="3194100" cy="399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Proportional - Integral Control</a:t>
            </a:r>
            <a:endParaRPr b="1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g26caf2632ea_1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g26caf2632ea_1_44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Desired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26caf2632ea_1_44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26caf2632ea_1_44"/>
          <p:cNvSpPr txBox="1"/>
          <p:nvPr/>
        </p:nvSpPr>
        <p:spPr>
          <a:xfrm>
            <a:off x="3285825" y="211125"/>
            <a:ext cx="8691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Ki*e + Kp * ∫e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26caf2632ea_1_44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26caf2632ea_1_44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Altitude Measuring Sensor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3" name="Google Shape;343;g26caf2632ea_1_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52300" y="1876300"/>
            <a:ext cx="3070124" cy="345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g26caf2632ea_1_44"/>
          <p:cNvSpPr txBox="1"/>
          <p:nvPr/>
        </p:nvSpPr>
        <p:spPr>
          <a:xfrm>
            <a:off x="338475" y="3036850"/>
            <a:ext cx="6267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50m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5" name="Google Shape;345;g26caf2632ea_1_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3100" y="2029225"/>
            <a:ext cx="4649099" cy="30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g26caf2632ea_1_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g26caf2632ea_1_59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Desired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26caf2632ea_1_59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g26caf2632ea_1_59"/>
          <p:cNvSpPr txBox="1"/>
          <p:nvPr/>
        </p:nvSpPr>
        <p:spPr>
          <a:xfrm>
            <a:off x="3313925" y="152425"/>
            <a:ext cx="7704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Ki*e + 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Kp * ∫e + Kd * ∇ 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g26caf2632ea_1_59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26caf2632ea_1_59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Altitude Measuring Sensor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g26caf2632ea_1_59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 Speed = 10 * 10 = 100 rpm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 = 10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7" name="Google Shape;357;g26caf2632ea_1_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9725" y="1784125"/>
            <a:ext cx="2231650" cy="201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g26caf2632ea_1_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52300" y="1876300"/>
            <a:ext cx="3070124" cy="345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g26caf2632ea_1_59"/>
          <p:cNvSpPr txBox="1"/>
          <p:nvPr/>
        </p:nvSpPr>
        <p:spPr>
          <a:xfrm>
            <a:off x="338475" y="3036850"/>
            <a:ext cx="6267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50m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26caf2632ea_1_59"/>
          <p:cNvSpPr txBox="1"/>
          <p:nvPr/>
        </p:nvSpPr>
        <p:spPr>
          <a:xfrm>
            <a:off x="2588850" y="3269352"/>
            <a:ext cx="4295100" cy="9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 = </a:t>
            </a:r>
            <a:r>
              <a:rPr b="1" i="0" lang="en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Kp </a:t>
            </a: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</a:t>
            </a:r>
            <a:r>
              <a:rPr b="1" i="0" lang="en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error </a:t>
            </a: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="1" i="0" lang="en" sz="16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Ki </a:t>
            </a: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</a:t>
            </a:r>
            <a:r>
              <a:rPr b="1" i="0" lang="en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(error1 + error2 + error3) + Kd * ( error3- error 2)</a:t>
            </a:r>
            <a:endParaRPr b="1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g26caf2632ea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g26caf2632ea_2_0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Desired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26caf2632ea_2_0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 Altitude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26caf2632ea_2_0"/>
          <p:cNvSpPr txBox="1"/>
          <p:nvPr/>
        </p:nvSpPr>
        <p:spPr>
          <a:xfrm>
            <a:off x="3313925" y="152425"/>
            <a:ext cx="7704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Ki*e + 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Kp * ∫e + Kd * ∇ 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26caf2632ea_2_0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26caf2632ea_2_0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Altitude Measuring Sensor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26caf2632ea_2_0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Propeller Speed = 10 * 10 = 100 rpm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 = 10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2" name="Google Shape;372;g26caf2632ea_2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9725" y="1784125"/>
            <a:ext cx="2231650" cy="201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g26caf2632ea_2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52300" y="1876300"/>
            <a:ext cx="3070124" cy="345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g26caf2632ea_2_0"/>
          <p:cNvSpPr txBox="1"/>
          <p:nvPr/>
        </p:nvSpPr>
        <p:spPr>
          <a:xfrm>
            <a:off x="338475" y="3036850"/>
            <a:ext cx="6267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50m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g26caf2632ea_2_0"/>
          <p:cNvSpPr txBox="1"/>
          <p:nvPr/>
        </p:nvSpPr>
        <p:spPr>
          <a:xfrm>
            <a:off x="2588850" y="3269352"/>
            <a:ext cx="4295100" cy="9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 = </a:t>
            </a:r>
            <a:r>
              <a:rPr b="1" i="0" lang="en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Kp </a:t>
            </a: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</a:t>
            </a:r>
            <a:r>
              <a:rPr b="1" i="0" lang="en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error </a:t>
            </a: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="1" i="0" lang="en" sz="16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Ki </a:t>
            </a: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</a:t>
            </a:r>
            <a:r>
              <a:rPr b="1" i="0" lang="en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(error1 + error2 + error3) + Kd * ( error3- error 2)</a:t>
            </a:r>
            <a:endParaRPr b="1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26caf2632ea_2_0"/>
          <p:cNvSpPr txBox="1"/>
          <p:nvPr/>
        </p:nvSpPr>
        <p:spPr>
          <a:xfrm>
            <a:off x="3501800" y="4154475"/>
            <a:ext cx="4755900" cy="61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Proportional - Derivative - Integral Control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(PID) Control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g2c70e3cbe86_1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4800" y="880500"/>
            <a:ext cx="6602250" cy="4088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g2c70e3cbe86_1_2"/>
          <p:cNvSpPr txBox="1"/>
          <p:nvPr/>
        </p:nvSpPr>
        <p:spPr>
          <a:xfrm>
            <a:off x="1270875" y="114825"/>
            <a:ext cx="4755900" cy="61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Proportional - Derivative - Integral Control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(PID) Control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PID Controller</a:t>
            </a:r>
            <a:endParaRPr/>
          </a:p>
        </p:txBody>
      </p:sp>
      <p:sp>
        <p:nvSpPr>
          <p:cNvPr id="388" name="Google Shape;38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389" name="Google Shape;38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575" y="1086888"/>
            <a:ext cx="7200900" cy="330517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6"/>
          <p:cNvSpPr/>
          <p:nvPr/>
        </p:nvSpPr>
        <p:spPr>
          <a:xfrm>
            <a:off x="5932650" y="1413875"/>
            <a:ext cx="1820100" cy="285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396" name="Google Shape;39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397" name="Google Shape;39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738" y="956413"/>
            <a:ext cx="7667625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7"/>
          <p:cNvSpPr/>
          <p:nvPr/>
        </p:nvSpPr>
        <p:spPr>
          <a:xfrm>
            <a:off x="1153175" y="2646900"/>
            <a:ext cx="4356600" cy="17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404" name="Google Shape;40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405" name="Google Shape;40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075" y="979475"/>
            <a:ext cx="7848600" cy="37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c7146d54e6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Generating PID parameters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411" name="Google Shape;411;g2c7146d54e6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Char char="●"/>
            </a:pPr>
            <a:r>
              <a:rPr b="1" lang="en" sz="1650"/>
              <a:t>Auto-Tuning Algorithms</a:t>
            </a:r>
            <a:r>
              <a:rPr lang="en" sz="1650"/>
              <a:t>:</a:t>
            </a:r>
            <a:endParaRPr sz="1650"/>
          </a:p>
          <a:p>
            <a:pPr indent="-3333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Char char="○"/>
            </a:pPr>
            <a:r>
              <a:rPr lang="en" sz="1650"/>
              <a:t>Relay-based Auto-Tuning</a:t>
            </a:r>
            <a:endParaRPr sz="1650"/>
          </a:p>
          <a:p>
            <a:pPr indent="-3333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Char char="○"/>
            </a:pPr>
            <a:r>
              <a:rPr lang="en" sz="1650"/>
              <a:t>A relay is introduced in the control loop.</a:t>
            </a:r>
            <a:endParaRPr sz="1650"/>
          </a:p>
          <a:p>
            <a:pPr indent="-3333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Char char="○"/>
            </a:pPr>
            <a:r>
              <a:rPr lang="en" sz="1650"/>
              <a:t>Observes the system's oscillatory response.</a:t>
            </a:r>
            <a:endParaRPr sz="1650"/>
          </a:p>
          <a:p>
            <a:pPr indent="-3333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Char char="○"/>
            </a:pPr>
            <a:r>
              <a:rPr lang="en" sz="1650"/>
              <a:t>Calculates PID parameters based on oscillation characteristics.</a:t>
            </a:r>
            <a:endParaRPr sz="1650"/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Char char="●"/>
            </a:pPr>
            <a:r>
              <a:rPr b="1" lang="en" sz="1650"/>
              <a:t>Trial and Error: </a:t>
            </a:r>
            <a:r>
              <a:rPr lang="en" sz="1650"/>
              <a:t>Iteratively adjust parameters based on system response.</a:t>
            </a:r>
            <a:endParaRPr sz="165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c7146d54e6_0_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Advantages and Applications of PID control</a:t>
            </a:r>
            <a:endParaRPr/>
          </a:p>
        </p:txBody>
      </p:sp>
      <p:sp>
        <p:nvSpPr>
          <p:cNvPr id="417" name="Google Shape;417;g2c7146d54e6_0_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Advantages: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Simple: easy to understand.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Effective: Accurate and stable, even in dynamic environments.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Robust: Can be adopted to different robot systems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Application: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Arm positioning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Robot Navigation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Speed Control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control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423" name="Google Shape;423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PID control---most widely used control strategy today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 90% of control loops employ PID control, often the derivative gain set to zero (PI control)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three terms are intuitive---a non -specialist can grasp the essentials of the PID controller’s action. It does not require the operator to be familiar with advanced math to use PID controllers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Engineers prefer PID controls over untested solutions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