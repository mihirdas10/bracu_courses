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6.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10.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7.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13.xml" ContentType="application/vnd.openxmlformats-officedocument.presentationml.slideLayout+xml"/>
  <Override PartName="/ppt/slides/_rels/slide16.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6.xml.rels" ContentType="application/vnd.openxmlformats-package.relationships+xml"/>
  <Override PartName="/ppt/slides/_rels/slide1.xml.rels" ContentType="application/vnd.openxmlformats-package.relationships+xml"/>
  <Override PartName="/ppt/slides/_rels/slide13.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_rels/presentation.xml.rels" ContentType="application/vnd.openxmlformats-package.relationships+xml"/>
  <Override PartName="/ppt/media/image29.png" ContentType="image/png"/>
  <Override PartName="/ppt/media/image4.gif" ContentType="image/gif"/>
  <Override PartName="/ppt/media/image27.png" ContentType="image/png"/>
  <Override PartName="/ppt/media/image25.jpeg" ContentType="image/jpeg"/>
  <Override PartName="/ppt/media/image24.png" ContentType="image/png"/>
  <Override PartName="/ppt/media/image22.gif" ContentType="image/gif"/>
  <Override PartName="/ppt/media/image15.png" ContentType="image/png"/>
  <Override PartName="/ppt/media/image23.png" ContentType="image/png"/>
  <Override PartName="/ppt/media/image20.gif" ContentType="image/gif"/>
  <Override PartName="/ppt/media/image21.png" ContentType="image/png"/>
  <Override PartName="/ppt/media/image19.png" ContentType="image/png"/>
  <Override PartName="/ppt/media/image11.jpeg" ContentType="image/jpeg"/>
  <Override PartName="/ppt/media/image16.png" ContentType="image/png"/>
  <Override PartName="/ppt/media/image13.gif" ContentType="image/gif"/>
  <Override PartName="/ppt/media/image32.png" ContentType="image/png"/>
  <Override PartName="/ppt/media/image37.jpeg" ContentType="image/jpeg"/>
  <Override PartName="/ppt/media/image5.jpeg" ContentType="image/jpeg"/>
  <Override PartName="/ppt/media/image9.jpeg" ContentType="image/jpeg"/>
  <Override PartName="/ppt/media/image12.jpeg" ContentType="image/jpeg"/>
  <Override PartName="/ppt/media/image31.png" ContentType="image/png"/>
  <Override PartName="/ppt/media/image35.png" ContentType="image/png"/>
  <Override PartName="/ppt/media/image38.jpeg" ContentType="image/jpeg"/>
  <Override PartName="/ppt/media/image40.jpeg" ContentType="image/jpeg"/>
  <Override PartName="/ppt/media/image36.png" ContentType="image/png"/>
  <Override PartName="/ppt/media/image33.png" ContentType="image/png"/>
  <Override PartName="/ppt/media/image39.jpeg" ContentType="image/jpeg"/>
  <Override PartName="/ppt/media/image8.jpeg" ContentType="image/jpeg"/>
  <Override PartName="/ppt/media/image6.png" ContentType="image/png"/>
  <Override PartName="/ppt/media/image28.png" ContentType="image/png"/>
  <Override PartName="/ppt/media/image3.gif" ContentType="image/gif"/>
  <Override PartName="/ppt/media/image7.jpeg" ContentType="image/jpeg"/>
  <Override PartName="/ppt/media/image34.png" ContentType="image/png"/>
  <Override PartName="/ppt/media/image30.jpeg" ContentType="image/jpeg"/>
  <Override PartName="/ppt/media/image2.png" ContentType="image/png"/>
  <Override PartName="/ppt/media/image1.jpeg" ContentType="image/jpeg"/>
  <Override PartName="/ppt/media/image10.png" ContentType="image/png"/>
  <Override PartName="/ppt/media/image14.gif" ContentType="image/gif"/>
  <Override PartName="/ppt/media/image17.png" ContentType="image/png"/>
  <Override PartName="/ppt/media/image18.jpeg" ContentType="image/jpeg"/>
  <Override PartName="/ppt/media/image26.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Lst>
  <p:sldIdLst>
    <p:sldId id="256" r:id="rId16"/>
    <p:sldId id="257" r:id="rId1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 id="284" r:id="rId44"/>
    <p:sldId id="285" r:id="rId45"/>
    <p:sldId id="286" r:id="rId46"/>
    <p:sldId id="287" r:id="rId47"/>
    <p:sldId id="288" r:id="rId48"/>
    <p:sldId id="289" r:id="rId49"/>
    <p:sldId id="290" r:id="rId50"/>
    <p:sldId id="291" r:id="rId51"/>
    <p:sldId id="292" r:id="rId52"/>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 Target="slides/slide1.xml"/><Relationship Id="rId17"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32.xml"/><Relationship Id="rId48" Type="http://schemas.openxmlformats.org/officeDocument/2006/relationships/slide" Target="slides/slide33.xml"/><Relationship Id="rId49" Type="http://schemas.openxmlformats.org/officeDocument/2006/relationships/slide" Target="slides/slide34.xml"/><Relationship Id="rId50" Type="http://schemas.openxmlformats.org/officeDocument/2006/relationships/slide" Target="slides/slide35.xml"/><Relationship Id="rId51" Type="http://schemas.openxmlformats.org/officeDocument/2006/relationships/slide" Target="slides/slide36.xml"/><Relationship Id="rId52" Type="http://schemas.openxmlformats.org/officeDocument/2006/relationships/slide" Target="slides/slide37.xml"/><Relationship Id="rId5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 name="PlaceHolder 2"/>
          <p:cNvSpPr>
            <a:spLocks noGrp="1"/>
          </p:cNvSpPr>
          <p:nvPr>
            <p:ph type="subTitle"/>
          </p:nvPr>
        </p:nvSpPr>
        <p:spPr>
          <a:xfrm>
            <a:off x="457200" y="1600200"/>
            <a:ext cx="4038120" cy="45255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31C87F56-93DC-4B5A-8199-B0F1333DAA00}"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2E61A972-8377-433D-8334-FFB658C20AFC}"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46A7AAA3-D76C-42DB-91A2-E01DE290B5F2}"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96FFEECE-3D9C-4241-97EE-B160A200DB7D}"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280A7E44-09CC-4728-A876-AD0638B93CA8}"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993BFE9E-F1D3-48DE-8394-1339D5C9A8FB}" type="slidenum">
              <a:t>&lt;#&gt;</a:t>
            </a:fld>
          </a:p>
        </p:txBody>
      </p:sp>
      <p:sp>
        <p:nvSpPr>
          <p:cNvPr id="4" name="PlaceHolder 3"/>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51C61CF1-2CC9-4B11-B4F5-69050E166EB1}"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22157FBF-8FE8-44FD-ABEC-C414183CC16D}"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49" name="PlaceHolder 2"/>
          <p:cNvSpPr>
            <a:spLocks noGrp="1"/>
          </p:cNvSpPr>
          <p:nvPr>
            <p:ph/>
          </p:nvPr>
        </p:nvSpPr>
        <p:spPr>
          <a:xfrm>
            <a:off x="457200" y="1600200"/>
            <a:ext cx="4038120" cy="45255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25"/>
          </p:nvPr>
        </p:nvSpPr>
        <p:spPr/>
        <p:txBody>
          <a:bodyPr/>
          <a:p>
            <a:fld id="{6D2712F5-11FA-4928-BEBF-6FB07A15C322}"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7" name="PlaceHolder 2"/>
          <p:cNvSpPr>
            <a:spLocks noGrp="1"/>
          </p:cNvSpPr>
          <p:nvPr>
            <p:ph/>
          </p:nvPr>
        </p:nvSpPr>
        <p:spPr>
          <a:xfrm>
            <a:off x="457200" y="1600200"/>
            <a:ext cx="1970280" cy="45255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8" name="PlaceHolder 3"/>
          <p:cNvSpPr>
            <a:spLocks noGrp="1"/>
          </p:cNvSpPr>
          <p:nvPr>
            <p:ph/>
          </p:nvPr>
        </p:nvSpPr>
        <p:spPr>
          <a:xfrm>
            <a:off x="2526480" y="1600200"/>
            <a:ext cx="1970280" cy="45255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ftr" idx="27"/>
          </p:nvPr>
        </p:nvSpPr>
        <p:spPr/>
        <p:txBody>
          <a:bodyPr/>
          <a:p>
            <a:r>
              <a:t>Footer</a:t>
            </a:r>
          </a:p>
        </p:txBody>
      </p:sp>
      <p:sp>
        <p:nvSpPr>
          <p:cNvPr id="6" name="PlaceHolder 5"/>
          <p:cNvSpPr>
            <a:spLocks noGrp="1"/>
          </p:cNvSpPr>
          <p:nvPr>
            <p:ph type="sldNum" idx="28"/>
          </p:nvPr>
        </p:nvSpPr>
        <p:spPr/>
        <p:txBody>
          <a:bodyPr/>
          <a:p>
            <a:fld id="{431DD97F-FFEC-4EDD-BB5D-8979BCBBD49C}" type="slidenum">
              <a:t>&lt;#&gt;</a:t>
            </a:fld>
          </a:p>
        </p:txBody>
      </p:sp>
      <p:sp>
        <p:nvSpPr>
          <p:cNvPr id="7" name="PlaceHolder 6"/>
          <p:cNvSpPr>
            <a:spLocks noGrp="1"/>
          </p:cNvSpPr>
          <p:nvPr>
            <p:ph type="dt" idx="26"/>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5" name="PlaceHolder 2"/>
          <p:cNvSpPr>
            <a:spLocks noGrp="1"/>
          </p:cNvSpPr>
          <p:nvPr>
            <p:ph/>
          </p:nvPr>
        </p:nvSpPr>
        <p:spPr>
          <a:xfrm>
            <a:off x="457200" y="1600200"/>
            <a:ext cx="4038120" cy="45255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ftr" idx="30"/>
          </p:nvPr>
        </p:nvSpPr>
        <p:spPr/>
        <p:txBody>
          <a:bodyPr/>
          <a:p>
            <a:r>
              <a:t>Footer</a:t>
            </a:r>
          </a:p>
        </p:txBody>
      </p:sp>
      <p:sp>
        <p:nvSpPr>
          <p:cNvPr id="5" name="PlaceHolder 4"/>
          <p:cNvSpPr>
            <a:spLocks noGrp="1"/>
          </p:cNvSpPr>
          <p:nvPr>
            <p:ph type="sldNum" idx="31"/>
          </p:nvPr>
        </p:nvSpPr>
        <p:spPr/>
        <p:txBody>
          <a:bodyPr/>
          <a:p>
            <a:fld id="{9BF75EA2-2B3B-4D7D-87B7-0BD54102FA06}" type="slidenum">
              <a:t>&lt;#&gt;</a:t>
            </a:fld>
          </a:p>
        </p:txBody>
      </p:sp>
      <p:sp>
        <p:nvSpPr>
          <p:cNvPr id="6" name="PlaceHolder 5"/>
          <p:cNvSpPr>
            <a:spLocks noGrp="1"/>
          </p:cNvSpPr>
          <p:nvPr>
            <p:ph type="dt" idx="29"/>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_1">
    <p:spTree>
      <p:nvGrpSpPr>
        <p:cNvPr id="1" name=""/>
        <p:cNvGrpSpPr/>
        <p:nvPr/>
      </p:nvGrpSpPr>
      <p:grpSpPr>
        <a:xfrm>
          <a:off x="0" y="0"/>
          <a:ext cx="0" cy="0"/>
          <a:chOff x="0" y="0"/>
          <a:chExt cx="0" cy="0"/>
        </a:xfrm>
      </p:grpSpPr>
      <p:sp>
        <p:nvSpPr>
          <p:cNvPr id="2" name="PlaceHolder 1"/>
          <p:cNvSpPr>
            <a:spLocks noGrp="1"/>
          </p:cNvSpPr>
          <p:nvPr>
            <p:ph type="sldNum" idx="32"/>
          </p:nvPr>
        </p:nvSpPr>
        <p:spPr/>
        <p:txBody>
          <a:bodyPr/>
          <a:p>
            <a:fld id="{0B573991-C430-4434-9462-F00CF7D1F0AC}"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33"/>
          </p:nvPr>
        </p:nvSpPr>
        <p:spPr/>
        <p:txBody>
          <a:bodyPr/>
          <a:p>
            <a:fld id="{120012AA-0D55-4F8C-9B6A-A8287EA2200C}"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spTree>
      <p:nvGrpSpPr>
        <p:cNvPr id="1" name=""/>
        <p:cNvGrpSpPr/>
        <p:nvPr/>
      </p:nvGrpSpPr>
      <p:grpSpPr>
        <a:xfrm>
          <a:off x="0" y="0"/>
          <a:ext cx="0" cy="0"/>
          <a:chOff x="0" y="0"/>
          <a:chExt cx="0" cy="0"/>
        </a:xfrm>
      </p:grpSpPr>
      <p:sp>
        <p:nvSpPr>
          <p:cNvPr id="2" name="PlaceHolder 1"/>
          <p:cNvSpPr>
            <a:spLocks noGrp="1"/>
          </p:cNvSpPr>
          <p:nvPr>
            <p:ph type="ftr" idx="35"/>
          </p:nvPr>
        </p:nvSpPr>
        <p:spPr/>
        <p:txBody>
          <a:bodyPr/>
          <a:p>
            <a:r>
              <a:t>Footer</a:t>
            </a:r>
          </a:p>
        </p:txBody>
      </p:sp>
      <p:sp>
        <p:nvSpPr>
          <p:cNvPr id="3" name="PlaceHolder 2"/>
          <p:cNvSpPr>
            <a:spLocks noGrp="1"/>
          </p:cNvSpPr>
          <p:nvPr>
            <p:ph type="sldNum" idx="36"/>
          </p:nvPr>
        </p:nvSpPr>
        <p:spPr/>
        <p:txBody>
          <a:bodyPr/>
          <a:p>
            <a:fld id="{E4D19DDA-4F2E-4647-854D-34F3F8A71428}" type="slidenum">
              <a:t>&lt;#&gt;</a:t>
            </a:fld>
          </a:p>
        </p:txBody>
      </p:sp>
      <p:sp>
        <p:nvSpPr>
          <p:cNvPr id="4" name="PlaceHolder 3"/>
          <p:cNvSpPr>
            <a:spLocks noGrp="1"/>
          </p:cNvSpPr>
          <p:nvPr>
            <p:ph type="dt" idx="3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a:t>
            </a:r>
            <a:r>
              <a:rPr b="0" lang="en-US" sz="4400" spc="-1" strike="noStrike">
                <a:solidFill>
                  <a:srgbClr val="000000"/>
                </a:solidFill>
                <a:latin typeface="Arial"/>
              </a:rPr>
              <a:t>to edit </a:t>
            </a:r>
            <a:r>
              <a:rPr b="0" lang="en-US" sz="4400" spc="-1" strike="noStrike">
                <a:solidFill>
                  <a:srgbClr val="000000"/>
                </a:solidFill>
                <a:latin typeface="Arial"/>
              </a:rPr>
              <a:t>the </a:t>
            </a:r>
            <a:r>
              <a:rPr b="0" lang="en-US" sz="4400" spc="-1" strike="noStrike">
                <a:solidFill>
                  <a:srgbClr val="000000"/>
                </a:solidFill>
                <a:latin typeface="Arial"/>
              </a:rPr>
              <a:t>title </a:t>
            </a:r>
            <a:r>
              <a:rPr b="0" lang="en-US" sz="4400" spc="-1" strike="noStrike">
                <a:solidFill>
                  <a:srgbClr val="000000"/>
                </a:solidFill>
                <a:latin typeface="Arial"/>
              </a:rPr>
              <a:t>text </a:t>
            </a:r>
            <a:r>
              <a:rPr b="0" lang="en-US" sz="4400" spc="-1" strike="noStrike">
                <a:solidFill>
                  <a:srgbClr val="000000"/>
                </a:solidFill>
                <a:latin typeface="Arial"/>
              </a:rPr>
              <a:t>format</a:t>
            </a:r>
            <a:endParaRPr b="0" lang="en-US" sz="4400" spc="-1" strike="noStrike">
              <a:solidFill>
                <a:srgbClr val="000000"/>
              </a:solidFill>
              <a:latin typeface="Arial"/>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9A803E0A-9744-4AE4-AD84-4AB448E1B1B5}"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rmAutofit/>
          </a:bodyPr>
          <a:p>
            <a:pPr indent="0">
              <a:buNone/>
            </a:pPr>
            <a:r>
              <a:rPr b="0" lang="en-US" sz="4000" spc="-1" strike="noStrike">
                <a:solidFill>
                  <a:srgbClr val="000000"/>
                </a:solidFill>
                <a:latin typeface="Arial"/>
              </a:rPr>
              <a:t>Click to </a:t>
            </a:r>
            <a:r>
              <a:rPr b="0" lang="en-US" sz="4000" spc="-1" strike="noStrike">
                <a:solidFill>
                  <a:srgbClr val="000000"/>
                </a:solidFill>
                <a:latin typeface="Arial"/>
              </a:rPr>
              <a:t>edit the </a:t>
            </a:r>
            <a:r>
              <a:rPr b="0" lang="en-US" sz="4000" spc="-1" strike="noStrike">
                <a:solidFill>
                  <a:srgbClr val="000000"/>
                </a:solidFill>
                <a:latin typeface="Arial"/>
              </a:rPr>
              <a:t>title text </a:t>
            </a:r>
            <a:r>
              <a:rPr b="0" lang="en-US" sz="4000" spc="-1" strike="noStrike">
                <a:solidFill>
                  <a:srgbClr val="000000"/>
                </a:solidFill>
                <a:latin typeface="Arial"/>
              </a:rPr>
              <a:t>format</a:t>
            </a:r>
            <a:endParaRPr b="0" lang="en-US" sz="4000" spc="-1" strike="noStrike">
              <a:solidFill>
                <a:srgbClr val="000000"/>
              </a:solidFill>
              <a:latin typeface="Arial"/>
            </a:endParaRPr>
          </a:p>
        </p:txBody>
      </p:sp>
      <p:sp>
        <p:nvSpPr>
          <p:cNvPr id="8"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rmAutofit fontScale="43472"/>
          </a:bodyPr>
          <a:p>
            <a:pPr marL="432000" indent="-324000">
              <a:spcBef>
                <a:spcPts val="1417"/>
              </a:spcBef>
              <a:buClr>
                <a:srgbClr val="000000"/>
              </a:buClr>
              <a:buSzPct val="45000"/>
              <a:buFont typeface="Wingdings" charset="2"/>
              <a:buChar char=""/>
            </a:pPr>
            <a:r>
              <a:rPr b="0" lang="en-US" sz="2000" spc="-1" strike="noStrike">
                <a:solidFill>
                  <a:srgbClr val="000000"/>
                </a:solidFill>
                <a:latin typeface="Arial"/>
              </a:rPr>
              <a:t>Click to edit the outline text format</a:t>
            </a:r>
            <a:endParaRPr b="0" lang="en-US" sz="2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000" spc="-1" strike="noStrike">
                <a:solidFill>
                  <a:srgbClr val="000000"/>
                </a:solidFill>
                <a:latin typeface="Arial"/>
              </a:rPr>
              <a:t>Second Outline Level</a:t>
            </a:r>
            <a:endParaRPr b="0" lang="en-US"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
        <p:nvSpPr>
          <p:cNvPr id="9"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0"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0AE1E5E2-1BF8-4BEA-A82B-FE692404F94F}"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rmAutofit/>
          </a:bodyPr>
          <a:p>
            <a:pPr indent="0">
              <a:buNone/>
            </a:pPr>
            <a:r>
              <a:rPr b="0" lang="en-US" sz="2000" spc="-1" strike="noStrike">
                <a:solidFill>
                  <a:srgbClr val="000000"/>
                </a:solidFill>
                <a:latin typeface="Arial"/>
              </a:rPr>
              <a:t>Click to edit </a:t>
            </a:r>
            <a:r>
              <a:rPr b="0" lang="en-US" sz="2000" spc="-1" strike="noStrike">
                <a:solidFill>
                  <a:srgbClr val="000000"/>
                </a:solidFill>
                <a:latin typeface="Arial"/>
              </a:rPr>
              <a:t>the title text </a:t>
            </a:r>
            <a:r>
              <a:rPr b="0" lang="en-US" sz="2000" spc="-1" strike="noStrike">
                <a:solidFill>
                  <a:srgbClr val="000000"/>
                </a:solidFill>
                <a:latin typeface="Arial"/>
              </a:rPr>
              <a:t>format</a:t>
            </a:r>
            <a:endParaRPr b="0" lang="en-US" sz="2000" spc="-1" strike="noStrike">
              <a:solidFill>
                <a:srgbClr val="000000"/>
              </a:solidFill>
              <a:latin typeface="Arial"/>
            </a:endParaRPr>
          </a:p>
        </p:txBody>
      </p:sp>
      <p:sp>
        <p:nvSpPr>
          <p:cNvPr id="13"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rmAutofit fontScale="93740" lnSpcReduction="10000"/>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14"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rmAutofit fontScale="74983" lnSpcReduction="20000"/>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15" name="PlaceHolder 4"/>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6" name="PlaceHolder 5"/>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7" name="PlaceHolder 6"/>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DF72D8EF-5591-46C3-AD7F-7A6DBF8E27A9}"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rmAutofit/>
          </a:bodyPr>
          <a:p>
            <a:pPr indent="0">
              <a:buNone/>
            </a:pPr>
            <a:r>
              <a:rPr b="0" lang="en-US" sz="2000" spc="-1" strike="noStrike">
                <a:solidFill>
                  <a:srgbClr val="000000"/>
                </a:solidFill>
                <a:latin typeface="Arial"/>
              </a:rPr>
              <a:t>Click to edit </a:t>
            </a:r>
            <a:r>
              <a:rPr b="0" lang="en-US" sz="2000" spc="-1" strike="noStrike">
                <a:solidFill>
                  <a:srgbClr val="000000"/>
                </a:solidFill>
                <a:latin typeface="Arial"/>
              </a:rPr>
              <a:t>the title text </a:t>
            </a:r>
            <a:r>
              <a:rPr b="0" lang="en-US" sz="2000" spc="-1" strike="noStrike">
                <a:solidFill>
                  <a:srgbClr val="000000"/>
                </a:solidFill>
                <a:latin typeface="Arial"/>
              </a:rPr>
              <a:t>format</a:t>
            </a:r>
            <a:endParaRPr b="0" lang="en-US" sz="2000" spc="-1" strike="noStrike">
              <a:solidFill>
                <a:srgbClr val="000000"/>
              </a:solidFill>
              <a:latin typeface="Arial"/>
            </a:endParaRPr>
          </a:p>
        </p:txBody>
      </p:sp>
      <p:sp>
        <p:nvSpPr>
          <p:cNvPr id="19"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rmAutofit fontScale="24994" lnSpcReduction="10000"/>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21" name="PlaceHolder 4"/>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2" name="PlaceHolder 5"/>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3" name="PlaceHolder 6"/>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E4F73789-2FEA-439A-A61C-9AC273058F15}"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a:t>
            </a:r>
            <a:r>
              <a:rPr b="0" lang="en-US" sz="4400" spc="-1" strike="noStrike">
                <a:solidFill>
                  <a:srgbClr val="000000"/>
                </a:solidFill>
                <a:latin typeface="Arial"/>
              </a:rPr>
              <a:t>to edit </a:t>
            </a:r>
            <a:r>
              <a:rPr b="0" lang="en-US" sz="4400" spc="-1" strike="noStrike">
                <a:solidFill>
                  <a:srgbClr val="000000"/>
                </a:solidFill>
                <a:latin typeface="Arial"/>
              </a:rPr>
              <a:t>the </a:t>
            </a:r>
            <a:r>
              <a:rPr b="0" lang="en-US" sz="4400" spc="-1" strike="noStrike">
                <a:solidFill>
                  <a:srgbClr val="000000"/>
                </a:solidFill>
                <a:latin typeface="Arial"/>
              </a:rPr>
              <a:t>title </a:t>
            </a:r>
            <a:r>
              <a:rPr b="0" lang="en-US" sz="4400" spc="-1" strike="noStrike">
                <a:solidFill>
                  <a:srgbClr val="000000"/>
                </a:solidFill>
                <a:latin typeface="Arial"/>
              </a:rPr>
              <a:t>text </a:t>
            </a:r>
            <a:r>
              <a:rPr b="0" lang="en-US" sz="4400" spc="-1" strike="noStrike">
                <a:solidFill>
                  <a:srgbClr val="000000"/>
                </a:solidFill>
                <a:latin typeface="Arial"/>
              </a:rPr>
              <a:t>format</a:t>
            </a:r>
            <a:endParaRPr b="0" lang="en-US" sz="4400" spc="-1" strike="noStrike">
              <a:solidFill>
                <a:srgbClr val="000000"/>
              </a:solidFill>
              <a:latin typeface="Arial"/>
            </a:endParaRPr>
          </a:p>
        </p:txBody>
      </p:sp>
      <p:sp>
        <p:nvSpPr>
          <p:cNvPr id="25" name="PlaceHolder 2"/>
          <p:cNvSpPr>
            <a:spLocks noGrp="1"/>
          </p:cNvSpPr>
          <p:nvPr>
            <p:ph type="body"/>
          </p:nvPr>
        </p:nvSpPr>
        <p:spPr>
          <a:xfrm rot="5400000">
            <a:off x="2309400" y="-251640"/>
            <a:ext cx="4525560" cy="8229240"/>
          </a:xfrm>
          <a:prstGeom prst="rect">
            <a:avLst/>
          </a:prstGeom>
          <a:noFill/>
          <a:ln w="0">
            <a:noFill/>
          </a:ln>
        </p:spPr>
        <p:txBody>
          <a:bodyPr lIns="91440" rIns="91440" tIns="45720" bIns="45720" anchor="t">
            <a:normAutofit fontScale="74992" lnSpcReduction="20000"/>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26"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7"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8"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46ECBDA8-C54C-4361-877C-D29146992FEC}"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rot="5400000">
            <a:off x="4732560" y="2171520"/>
            <a:ext cx="5851080" cy="20570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a:t>
            </a:r>
            <a:r>
              <a:rPr b="0" lang="en-US" sz="4400" spc="-1" strike="noStrike">
                <a:solidFill>
                  <a:srgbClr val="000000"/>
                </a:solidFill>
                <a:latin typeface="Arial"/>
              </a:rPr>
              <a:t>to </a:t>
            </a:r>
            <a:r>
              <a:rPr b="0" lang="en-US" sz="4400" spc="-1" strike="noStrike">
                <a:solidFill>
                  <a:srgbClr val="000000"/>
                </a:solidFill>
                <a:latin typeface="Arial"/>
              </a:rPr>
              <a:t>edit </a:t>
            </a:r>
            <a:r>
              <a:rPr b="0" lang="en-US" sz="4400" spc="-1" strike="noStrike">
                <a:solidFill>
                  <a:srgbClr val="000000"/>
                </a:solidFill>
                <a:latin typeface="Arial"/>
              </a:rPr>
              <a:t>the </a:t>
            </a:r>
            <a:r>
              <a:rPr b="0" lang="en-US" sz="4400" spc="-1" strike="noStrike">
                <a:solidFill>
                  <a:srgbClr val="000000"/>
                </a:solidFill>
                <a:latin typeface="Arial"/>
              </a:rPr>
              <a:t>title </a:t>
            </a:r>
            <a:r>
              <a:rPr b="0" lang="en-US" sz="4400" spc="-1" strike="noStrike">
                <a:solidFill>
                  <a:srgbClr val="000000"/>
                </a:solidFill>
                <a:latin typeface="Arial"/>
              </a:rPr>
              <a:t>text </a:t>
            </a:r>
            <a:r>
              <a:rPr b="0" lang="en-US" sz="4400" spc="-1" strike="noStrike">
                <a:solidFill>
                  <a:srgbClr val="000000"/>
                </a:solidFill>
                <a:latin typeface="Arial"/>
              </a:rPr>
              <a:t>form</a:t>
            </a:r>
            <a:r>
              <a:rPr b="0" lang="en-US" sz="4400" spc="-1" strike="noStrike">
                <a:solidFill>
                  <a:srgbClr val="000000"/>
                </a:solidFill>
                <a:latin typeface="Arial"/>
              </a:rPr>
              <a:t>at</a:t>
            </a:r>
            <a:endParaRPr b="0" lang="en-US" sz="4400" spc="-1" strike="noStrike">
              <a:solidFill>
                <a:srgbClr val="000000"/>
              </a:solidFill>
              <a:latin typeface="Arial"/>
            </a:endParaRPr>
          </a:p>
        </p:txBody>
      </p:sp>
      <p:sp>
        <p:nvSpPr>
          <p:cNvPr id="30" name="PlaceHolder 2"/>
          <p:cNvSpPr>
            <a:spLocks noGrp="1"/>
          </p:cNvSpPr>
          <p:nvPr>
            <p:ph type="body"/>
          </p:nvPr>
        </p:nvSpPr>
        <p:spPr>
          <a:xfrm rot="5400000">
            <a:off x="541800" y="190080"/>
            <a:ext cx="5851080" cy="601956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31" name="PlaceHolder 3"/>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2" name="PlaceHolder 4"/>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5"/>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9E26AB1F-7A25-4E21-92B2-B9EDE9D8960D}"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4" name="PlaceHolder 1"/>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5" name="PlaceHolder 2"/>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6" name="PlaceHolder 3"/>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3B208B80-98DC-4086-9775-428968A1A11E}"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37"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US" sz="1400" spc="-1" strike="noStrike">
                <a:solidFill>
                  <a:srgbClr val="000000"/>
                </a:solidFill>
                <a:latin typeface="Arial"/>
              </a:rPr>
              <a:t>Click to edit the </a:t>
            </a:r>
            <a:r>
              <a:rPr b="0" lang="en-US" sz="1400" spc="-1" strike="noStrike">
                <a:solidFill>
                  <a:srgbClr val="000000"/>
                </a:solidFill>
                <a:latin typeface="Arial"/>
              </a:rPr>
              <a:t>title text format</a:t>
            </a:r>
            <a:endParaRPr b="0" lang="en-US" sz="1400" spc="-1" strike="noStrike">
              <a:solidFill>
                <a:srgbClr val="000000"/>
              </a:solidFill>
              <a:latin typeface="Arial"/>
            </a:endParaRPr>
          </a:p>
        </p:txBody>
      </p:sp>
      <p:sp>
        <p:nvSpPr>
          <p:cNvPr id="38"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a:t>
            </a:r>
            <a:r>
              <a:rPr b="0" lang="en-US" sz="4400" spc="-1" strike="noStrike">
                <a:solidFill>
                  <a:srgbClr val="000000"/>
                </a:solidFill>
                <a:latin typeface="Arial"/>
              </a:rPr>
              <a:t>to </a:t>
            </a:r>
            <a:r>
              <a:rPr b="0" lang="en-US" sz="4400" spc="-1" strike="noStrike">
                <a:solidFill>
                  <a:srgbClr val="000000"/>
                </a:solidFill>
                <a:latin typeface="Arial"/>
              </a:rPr>
              <a:t>edit </a:t>
            </a:r>
            <a:r>
              <a:rPr b="0" lang="en-US" sz="4400" spc="-1" strike="noStrike">
                <a:solidFill>
                  <a:srgbClr val="000000"/>
                </a:solidFill>
                <a:latin typeface="Arial"/>
              </a:rPr>
              <a:t>the </a:t>
            </a:r>
            <a:r>
              <a:rPr b="0" lang="en-US" sz="4400" spc="-1" strike="noStrike">
                <a:solidFill>
                  <a:srgbClr val="000000"/>
                </a:solidFill>
                <a:latin typeface="Arial"/>
              </a:rPr>
              <a:t>title </a:t>
            </a:r>
            <a:r>
              <a:rPr b="0" lang="en-US" sz="4400" spc="-1" strike="noStrike">
                <a:solidFill>
                  <a:srgbClr val="000000"/>
                </a:solidFill>
                <a:latin typeface="Arial"/>
              </a:rPr>
              <a:t>text </a:t>
            </a:r>
            <a:r>
              <a:rPr b="0" lang="en-US" sz="4400" spc="-1" strike="noStrike">
                <a:solidFill>
                  <a:srgbClr val="000000"/>
                </a:solidFill>
                <a:latin typeface="Arial"/>
              </a:rPr>
              <a:t>form</a:t>
            </a:r>
            <a:r>
              <a:rPr b="0" lang="en-US" sz="4400" spc="-1" strike="noStrike">
                <a:solidFill>
                  <a:srgbClr val="000000"/>
                </a:solidFill>
                <a:latin typeface="Arial"/>
              </a:rPr>
              <a:t>at</a:t>
            </a:r>
            <a:endParaRPr b="0" lang="en-US" sz="4400" spc="-1" strike="noStrike">
              <a:solidFill>
                <a:srgbClr val="000000"/>
              </a:solidFill>
              <a:latin typeface="Arial"/>
            </a:endParaRPr>
          </a:p>
        </p:txBody>
      </p:sp>
      <p:sp>
        <p:nvSpPr>
          <p:cNvPr id="40"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1"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2"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E5B73798-7B3E-4822-AE50-2A1FB206F576}"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43"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311760" y="593280"/>
            <a:ext cx="8520120" cy="763200"/>
          </a:xfrm>
          <a:prstGeom prst="rect">
            <a:avLst/>
          </a:prstGeom>
          <a:noFill/>
          <a:ln w="0">
            <a:noFill/>
          </a:ln>
        </p:spPr>
        <p:txBody>
          <a:bodyPr lIns="91440" rIns="91440" tIns="91440" bIns="91440" anchor="t">
            <a:normAutofit fontScale="88649"/>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6" name="PlaceHolder 2"/>
          <p:cNvSpPr>
            <a:spLocks noGrp="1"/>
          </p:cNvSpPr>
          <p:nvPr>
            <p:ph type="body"/>
          </p:nvPr>
        </p:nvSpPr>
        <p:spPr>
          <a:xfrm>
            <a:off x="311760" y="1536480"/>
            <a:ext cx="8520120" cy="455472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47" name="PlaceHolder 3"/>
          <p:cNvSpPr>
            <a:spLocks noGrp="1"/>
          </p:cNvSpPr>
          <p:nvPr>
            <p:ph type="sldNum" idx="25"/>
          </p:nvPr>
        </p:nvSpPr>
        <p:spPr>
          <a:xfrm>
            <a:off x="8472600" y="6217560"/>
            <a:ext cx="548280" cy="5245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1AFE94B8-1085-4B36-A9E2-99CD6BEF1DBC}"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1"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rmAutofit fontScale="74983" lnSpcReduction="20000"/>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52"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rmAutofit fontScale="74983" lnSpcReduction="20000"/>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53" name="PlaceHolder 4"/>
          <p:cNvSpPr>
            <a:spLocks noGrp="1"/>
          </p:cNvSpPr>
          <p:nvPr>
            <p:ph type="dt" idx="26"/>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4" name="PlaceHolder 5"/>
          <p:cNvSpPr>
            <a:spLocks noGrp="1"/>
          </p:cNvSpPr>
          <p:nvPr>
            <p:ph type="ftr" idx="2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5" name="PlaceHolder 6"/>
          <p:cNvSpPr>
            <a:spLocks noGrp="1"/>
          </p:cNvSpPr>
          <p:nvPr>
            <p:ph type="sldNum" idx="28"/>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0255C1C8-97E9-4EF5-89BB-E864E8A31913}"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60"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61" name="PlaceHolder 3"/>
          <p:cNvSpPr>
            <a:spLocks noGrp="1"/>
          </p:cNvSpPr>
          <p:nvPr>
            <p:ph type="dt" idx="29"/>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2" name="PlaceHolder 4"/>
          <p:cNvSpPr>
            <a:spLocks noGrp="1"/>
          </p:cNvSpPr>
          <p:nvPr>
            <p:ph type="ftr" idx="3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3" name="PlaceHolder 5"/>
          <p:cNvSpPr>
            <a:spLocks noGrp="1"/>
          </p:cNvSpPr>
          <p:nvPr>
            <p:ph type="sldNum" idx="31"/>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D05F21DE-0B8F-476D-8554-997663440226}"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311760" y="2867760"/>
            <a:ext cx="8520120" cy="1122120"/>
          </a:xfrm>
          <a:prstGeom prst="rect">
            <a:avLst/>
          </a:prstGeom>
          <a:noFill/>
          <a:ln w="0">
            <a:noFill/>
          </a:ln>
        </p:spPr>
        <p:txBody>
          <a:bodyPr lIns="91440" rIns="91440" tIns="91440" bIns="91440" anchor="ctr">
            <a:norm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67" name="PlaceHolder 2"/>
          <p:cNvSpPr>
            <a:spLocks noGrp="1"/>
          </p:cNvSpPr>
          <p:nvPr>
            <p:ph type="sldNum" idx="32"/>
          </p:nvPr>
        </p:nvSpPr>
        <p:spPr>
          <a:xfrm>
            <a:off x="8472600" y="6217560"/>
            <a:ext cx="548280" cy="5245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415780D3-7D12-4C76-89EE-F4924FCB57E5}"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8" name="PlaceHolder 1"/>
          <p:cNvSpPr>
            <a:spLocks noGrp="1"/>
          </p:cNvSpPr>
          <p:nvPr>
            <p:ph type="body"/>
          </p:nvPr>
        </p:nvSpPr>
        <p:spPr>
          <a:xfrm>
            <a:off x="311760" y="5640840"/>
            <a:ext cx="5998320" cy="806400"/>
          </a:xfrm>
          <a:prstGeom prst="rect">
            <a:avLst/>
          </a:prstGeom>
          <a:noFill/>
          <a:ln w="0">
            <a:noFill/>
          </a:ln>
        </p:spPr>
        <p:txBody>
          <a:bodyPr lIns="91440" rIns="91440" tIns="91440" bIns="91440" anchor="ctr">
            <a:normAutofit fontScale="6249" lnSpcReduction="10000"/>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69" name="PlaceHolder 2"/>
          <p:cNvSpPr>
            <a:spLocks noGrp="1"/>
          </p:cNvSpPr>
          <p:nvPr>
            <p:ph type="sldNum" idx="33"/>
          </p:nvPr>
        </p:nvSpPr>
        <p:spPr>
          <a:xfrm>
            <a:off x="8472600" y="6217560"/>
            <a:ext cx="548280" cy="5245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chemeClr val="dk2"/>
                </a:solidFill>
                <a:latin typeface="Arial"/>
                <a:ea typeface="Arial"/>
              </a:defRPr>
            </a:lvl1pPr>
          </a:lstStyle>
          <a:p>
            <a:pPr indent="0" algn="r">
              <a:lnSpc>
                <a:spcPct val="100000"/>
              </a:lnSpc>
              <a:buNone/>
              <a:tabLst>
                <a:tab algn="l" pos="0"/>
              </a:tabLst>
            </a:pPr>
            <a:fld id="{E4BC3CB4-E379-4727-9A52-904ED01A7B1F}" type="slidenum">
              <a:rPr b="0" lang="en-US"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71"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rmAutofit fontScale="6247"/>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72"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rmAutofit fontScale="74970" lnSpcReduction="10000"/>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73"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rmAutofit fontScale="6247"/>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74"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rmAutofit fontScale="74970" lnSpcReduction="10000"/>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75" name="PlaceHolder 6"/>
          <p:cNvSpPr>
            <a:spLocks noGrp="1"/>
          </p:cNvSpPr>
          <p:nvPr>
            <p:ph type="dt" idx="34"/>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6" name="PlaceHolder 7"/>
          <p:cNvSpPr>
            <a:spLocks noGrp="1"/>
          </p:cNvSpPr>
          <p:nvPr>
            <p:ph type="ftr" idx="3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7" name="PlaceHolder 8"/>
          <p:cNvSpPr>
            <a:spLocks noGrp="1"/>
          </p:cNvSpPr>
          <p:nvPr>
            <p:ph type="sldNum" idx="36"/>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A7735842-2F24-4FEF-8FA1-E1D95EE92530}"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5.xml.rels><?xml version="1.0" encoding="UTF-8"?>
<Relationships xmlns="http://schemas.openxmlformats.org/package/2006/relationships"><Relationship Id="rId1" Type="http://schemas.openxmlformats.org/officeDocument/2006/relationships/image" Target="../media/image3.gif"/><Relationship Id="rId2" Type="http://schemas.openxmlformats.org/officeDocument/2006/relationships/image" Target="../media/image4.gif"/><Relationship Id="rId3"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7.xml"/>
</Relationships>
</file>

<file path=ppt/slides/_rels/slide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8.xml"/>
</Relationships>
</file>

<file path=ppt/slides/_rels/slide8.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7.xml"/>
</Relationships>
</file>

<file path=ppt/slides/_rels/slide9.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7.xml"/>
</Relationships>
</file>

<file path=ppt/slides/_rels/slide1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0.png"/><Relationship Id="rId3" Type="http://schemas.openxmlformats.org/officeDocument/2006/relationships/image" Target="../media/image10.png"/><Relationship Id="rId4" Type="http://schemas.openxmlformats.org/officeDocument/2006/relationships/image" Target="../media/image10.png"/><Relationship Id="rId5" Type="http://schemas.openxmlformats.org/officeDocument/2006/relationships/slideLayout" Target="../slideLayouts/slideLayout7.xml"/>
</Relationships>
</file>

<file path=ppt/slides/_rels/slide13.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7.xml"/>
</Relationships>
</file>

<file path=ppt/slides/_rels/slide14.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7.xml"/>
</Relationships>
</file>

<file path=ppt/slides/_rels/slide15.xml.rels><?xml version="1.0" encoding="UTF-8"?>
<Relationships xmlns="http://schemas.openxmlformats.org/package/2006/relationships"><Relationship Id="rId1" Type="http://schemas.openxmlformats.org/officeDocument/2006/relationships/image" Target="../media/image13.gif"/><Relationship Id="rId2" Type="http://schemas.openxmlformats.org/officeDocument/2006/relationships/slideLayout" Target="../slideLayouts/slideLayout7.xml"/>
</Relationships>
</file>

<file path=ppt/slides/_rels/slide16.xml.rels><?xml version="1.0" encoding="UTF-8"?>
<Relationships xmlns="http://schemas.openxmlformats.org/package/2006/relationships"><Relationship Id="rId1" Type="http://schemas.openxmlformats.org/officeDocument/2006/relationships/image" Target="../media/image14.gif"/><Relationship Id="rId2" Type="http://schemas.openxmlformats.org/officeDocument/2006/relationships/slideLayout" Target="../slideLayouts/slideLayout7.xml"/>
</Relationships>
</file>

<file path=ppt/slides/_rels/slide1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7.xml"/>
</Relationships>
</file>

<file path=ppt/slides/_rels/slide18.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7.xml"/>
</Relationships>
</file>

<file path=ppt/slides/_rels/slide19.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hyperlink" Target="https://youtu.be/LAtPHANEfQo" TargetMode="External"/><Relationship Id="rId3" Type="http://schemas.openxmlformats.org/officeDocument/2006/relationships/slideLayout" Target="../slideLayouts/slideLayout9.xml"/>
</Relationships>
</file>

<file path=ppt/slides/_rels/slide21.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gif"/><Relationship Id="rId3" Type="http://schemas.openxmlformats.org/officeDocument/2006/relationships/slideLayout" Target="../slideLayouts/slideLayout9.xml"/>
</Relationships>
</file>

<file path=ppt/slides/_rels/slide22.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hyperlink" Target="https://youtu.be/eyqwLiowZiU" TargetMode="External"/><Relationship Id="rId3" Type="http://schemas.openxmlformats.org/officeDocument/2006/relationships/slideLayout" Target="../slideLayouts/slideLayout9.xml"/>
</Relationships>
</file>

<file path=ppt/slides/_rels/slide23.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gif"/><Relationship Id="rId3" Type="http://schemas.openxmlformats.org/officeDocument/2006/relationships/slideLayout" Target="../slideLayouts/slideLayout9.xml"/>
</Relationships>
</file>

<file path=ppt/slides/_rels/slide24.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9.xml"/>
</Relationships>
</file>

<file path=ppt/slides/_rels/slide25.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9.xml"/>
</Relationships>
</file>

<file path=ppt/slides/_rels/slide26.xml.rels><?xml version="1.0" encoding="UTF-8"?>
<Relationships xmlns="http://schemas.openxmlformats.org/package/2006/relationships"><Relationship Id="rId1" Type="http://schemas.openxmlformats.org/officeDocument/2006/relationships/image" Target="../media/image25.jpeg"/><Relationship Id="rId2" Type="http://schemas.openxmlformats.org/officeDocument/2006/relationships/slideLayout" Target="../slideLayouts/slideLayout7.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2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Layout" Target="../slideLayouts/slideLayout10.xml"/>
</Relationships>
</file>

<file path=ppt/slides/_rels/slide29.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slideLayout" Target="../slideLayouts/slideLayout10.xml"/>
</Relationships>
</file>

<file path=ppt/slides/_rels/slide30.xml.rels><?xml version="1.0" encoding="UTF-8"?>
<Relationships xmlns="http://schemas.openxmlformats.org/package/2006/relationships"><Relationship Id="rId1" Type="http://schemas.openxmlformats.org/officeDocument/2006/relationships/image" Target="../media/image30.jpeg"/><Relationship Id="rId2" Type="http://schemas.openxmlformats.org/officeDocument/2006/relationships/slideLayout" Target="../slideLayouts/slideLayout8.xml"/>
</Relationships>
</file>

<file path=ppt/slides/_rels/slide31.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0.xml"/>
</Relationships>
</file>

<file path=ppt/slides/_rels/slide32.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slideLayout" Target="../slideLayouts/slideLayout10.xml"/>
</Relationships>
</file>

<file path=ppt/slides/_rels/slide33.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slideLayout" Target="../slideLayouts/slideLayout10.xml"/>
</Relationships>
</file>

<file path=ppt/slides/_rels/slide34.xml.rels><?xml version="1.0" encoding="UTF-8"?>
<Relationships xmlns="http://schemas.openxmlformats.org/package/2006/relationships"><Relationship Id="rId1" Type="http://schemas.openxmlformats.org/officeDocument/2006/relationships/image" Target="../media/image37.jpeg"/><Relationship Id="rId2" Type="http://schemas.openxmlformats.org/officeDocument/2006/relationships/image" Target="../media/image38.jpeg"/><Relationship Id="rId3" Type="http://schemas.openxmlformats.org/officeDocument/2006/relationships/slideLayout" Target="../slideLayouts/slideLayout10.xml"/>
</Relationships>
</file>

<file path=ppt/slides/_rels/slide35.xml.rels><?xml version="1.0" encoding="UTF-8"?>
<Relationships xmlns="http://schemas.openxmlformats.org/package/2006/relationships"><Relationship Id="rId1" Type="http://schemas.openxmlformats.org/officeDocument/2006/relationships/image" Target="../media/image39.jpeg"/><Relationship Id="rId2" Type="http://schemas.openxmlformats.org/officeDocument/2006/relationships/image" Target="../media/image40.jpeg"/><Relationship Id="rId3" Type="http://schemas.openxmlformats.org/officeDocument/2006/relationships/slideLayout" Target="../slideLayouts/slideLayout10.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rmAutofit/>
          </a:bodyPr>
          <a:p>
            <a:pPr indent="0" algn="ctr">
              <a:lnSpc>
                <a:spcPct val="100000"/>
              </a:lnSpc>
              <a:buNone/>
              <a:tabLst>
                <a:tab algn="l" pos="0"/>
              </a:tabLst>
            </a:pPr>
            <a:r>
              <a:rPr b="0" lang="en-US" sz="4400" spc="-1" strike="noStrike">
                <a:solidFill>
                  <a:schemeClr val="dk1"/>
                </a:solidFill>
                <a:latin typeface="Calibri"/>
                <a:ea typeface="Calibri"/>
              </a:rPr>
              <a:t>Introduction to Robotics</a:t>
            </a:r>
            <a:br>
              <a:rPr sz="4400"/>
            </a:br>
            <a:r>
              <a:rPr b="0" lang="en-US" sz="4400" spc="-1" strike="noStrike">
                <a:solidFill>
                  <a:schemeClr val="dk1"/>
                </a:solidFill>
                <a:latin typeface="Calibri"/>
                <a:ea typeface="Calibri"/>
              </a:rPr>
              <a:t>CSE461</a:t>
            </a:r>
            <a:endParaRPr b="0" lang="en-US" sz="4400" spc="-1" strike="noStrike">
              <a:solidFill>
                <a:srgbClr val="000000"/>
              </a:solidFill>
              <a:latin typeface="Arial"/>
            </a:endParaRPr>
          </a:p>
        </p:txBody>
      </p:sp>
      <p:sp>
        <p:nvSpPr>
          <p:cNvPr id="79" name="PlaceHolder 2"/>
          <p:cNvSpPr>
            <a:spLocks noGrp="1"/>
          </p:cNvSpPr>
          <p:nvPr>
            <p:ph type="subTitle"/>
          </p:nvPr>
        </p:nvSpPr>
        <p:spPr>
          <a:xfrm>
            <a:off x="1371600" y="3886200"/>
            <a:ext cx="6400440" cy="1752120"/>
          </a:xfrm>
          <a:prstGeom prst="rect">
            <a:avLst/>
          </a:prstGeom>
          <a:noFill/>
          <a:ln w="0">
            <a:noFill/>
          </a:ln>
        </p:spPr>
        <p:txBody>
          <a:bodyPr lIns="91440" rIns="91440" tIns="45720" bIns="45720" anchor="t">
            <a:normAutofit/>
          </a:bodyPr>
          <a:p>
            <a:pPr indent="0" algn="ctr">
              <a:lnSpc>
                <a:spcPct val="100000"/>
              </a:lnSpc>
              <a:buNone/>
              <a:tabLst>
                <a:tab algn="l" pos="0"/>
              </a:tabLst>
            </a:pPr>
            <a:r>
              <a:rPr b="0" lang="en-US" sz="3200" spc="-1" strike="noStrike">
                <a:solidFill>
                  <a:schemeClr val="dk1"/>
                </a:solidFill>
                <a:latin typeface="Calibri"/>
                <a:ea typeface="Calibri"/>
              </a:rPr>
              <a:t>BRAC University</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0" name="Google Shape;100;p17" descr="E:\Arif\Summer2020\CSE461\Lectures\intro pics\Robotics and Embedded Systems-28.jpg"/>
          <p:cNvPicPr/>
          <p:nvPr/>
        </p:nvPicPr>
        <p:blipFill>
          <a:blip r:embed="rId1"/>
          <a:stretch/>
        </p:blipFill>
        <p:spPr>
          <a:xfrm>
            <a:off x="0" y="0"/>
            <a:ext cx="9143640" cy="685764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 name="Google Shape;105;p18" descr="E:\Arif\Summer2020\CSE461\Lectures\intro pics\Robotics and Embedded Systems-28.jpg"/>
          <p:cNvPicPr/>
          <p:nvPr/>
        </p:nvPicPr>
        <p:blipFill>
          <a:blip r:embed="rId1"/>
          <a:stretch/>
        </p:blipFill>
        <p:spPr>
          <a:xfrm>
            <a:off x="0" y="0"/>
            <a:ext cx="9143640" cy="6857640"/>
          </a:xfrm>
          <a:prstGeom prst="rect">
            <a:avLst/>
          </a:prstGeom>
          <a:ln w="0">
            <a:noFill/>
          </a:ln>
        </p:spPr>
      </p:pic>
      <p:sp>
        <p:nvSpPr>
          <p:cNvPr id="82" name="Google Shape;106;p18"/>
          <p:cNvSpPr/>
          <p:nvPr/>
        </p:nvSpPr>
        <p:spPr>
          <a:xfrm>
            <a:off x="1924200" y="1607040"/>
            <a:ext cx="1586520" cy="736920"/>
          </a:xfrm>
          <a:prstGeom prst="roundRect">
            <a:avLst>
              <a:gd name="adj" fmla="val 7147"/>
            </a:avLst>
          </a:prstGeom>
          <a:solidFill>
            <a:schemeClr val="accent2"/>
          </a:solidFill>
          <a:ln w="9525">
            <a:solidFill>
              <a:srgbClr val="1f497d"/>
            </a:solidFill>
            <a:round/>
          </a:ln>
        </p:spPr>
        <p:style>
          <a:lnRef idx="0"/>
          <a:fillRef idx="0"/>
          <a:effectRef idx="0"/>
          <a:fontRef idx="minor"/>
        </p:style>
        <p:txBody>
          <a:bodyPr tIns="91440" bIns="91440" anchor="ctr">
            <a:noAutofit/>
          </a:bodyPr>
          <a:p>
            <a:pPr algn="ctr">
              <a:lnSpc>
                <a:spcPct val="100000"/>
              </a:lnSpc>
              <a:tabLst>
                <a:tab algn="l" pos="0"/>
              </a:tabLst>
            </a:pPr>
            <a:r>
              <a:rPr b="0" lang="en-US" sz="2500" spc="-1" strike="noStrike">
                <a:solidFill>
                  <a:schemeClr val="lt1"/>
                </a:solidFill>
                <a:latin typeface="Calibri"/>
                <a:ea typeface="Calibri"/>
              </a:rPr>
              <a:t>Motion</a:t>
            </a:r>
            <a:endParaRPr b="0" lang="en-US" sz="2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3" name="Google Shape;111;p19" descr=""/>
          <p:cNvPicPr/>
          <p:nvPr/>
        </p:nvPicPr>
        <p:blipFill>
          <a:blip r:embed="rId1"/>
          <a:stretch/>
        </p:blipFill>
        <p:spPr>
          <a:xfrm>
            <a:off x="0" y="0"/>
            <a:ext cx="9143640" cy="609552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4" name="Google Shape;116;p20" descr=""/>
          <p:cNvPicPr/>
          <p:nvPr/>
        </p:nvPicPr>
        <p:blipFill>
          <a:blip r:embed="rId1"/>
          <a:stretch/>
        </p:blipFill>
        <p:spPr>
          <a:xfrm>
            <a:off x="202320" y="1418760"/>
            <a:ext cx="3015360" cy="3015360"/>
          </a:xfrm>
          <a:prstGeom prst="rect">
            <a:avLst/>
          </a:prstGeom>
          <a:ln w="0">
            <a:noFill/>
          </a:ln>
        </p:spPr>
      </p:pic>
      <p:pic>
        <p:nvPicPr>
          <p:cNvPr id="85" name="Google Shape;117;p20" descr=""/>
          <p:cNvPicPr/>
          <p:nvPr/>
        </p:nvPicPr>
        <p:blipFill>
          <a:blip r:embed="rId2"/>
          <a:stretch/>
        </p:blipFill>
        <p:spPr>
          <a:xfrm>
            <a:off x="3461400" y="1559880"/>
            <a:ext cx="5620680" cy="280332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 name="Google Shape;122;p21" descr="E:\Arif\Summer2020\CSE461\Lectures\intro pics\Robotics and Embedded Systems-29.jpg"/>
          <p:cNvPicPr/>
          <p:nvPr/>
        </p:nvPicPr>
        <p:blipFill>
          <a:blip r:embed="rId1"/>
          <a:srcRect l="0" t="0" r="0" b="16035"/>
          <a:stretch/>
        </p:blipFill>
        <p:spPr>
          <a:xfrm>
            <a:off x="0" y="0"/>
            <a:ext cx="9143640" cy="575748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311760" y="444960"/>
            <a:ext cx="8520120" cy="572400"/>
          </a:xfrm>
          <a:prstGeom prst="rect">
            <a:avLst/>
          </a:prstGeom>
          <a:noFill/>
          <a:ln w="0">
            <a:noFill/>
          </a:ln>
        </p:spPr>
        <p:txBody>
          <a:bodyPr lIns="91440" rIns="91440" tIns="45720" bIns="45720" anchor="ctr">
            <a:normAutofit fontScale="71601"/>
          </a:bodyPr>
          <a:p>
            <a:pPr indent="0" algn="ctr">
              <a:lnSpc>
                <a:spcPct val="100000"/>
              </a:lnSpc>
              <a:buNone/>
              <a:tabLst>
                <a:tab algn="l" pos="0"/>
              </a:tabLst>
            </a:pPr>
            <a:r>
              <a:rPr b="0" lang="en-US" sz="4400" spc="-1" strike="noStrike">
                <a:solidFill>
                  <a:schemeClr val="dk1"/>
                </a:solidFill>
                <a:latin typeface="Calibri"/>
                <a:ea typeface="Calibri"/>
              </a:rPr>
              <a:t>End Effector</a:t>
            </a:r>
            <a:endParaRPr b="0" lang="en-US" sz="4400" spc="-1" strike="noStrike">
              <a:solidFill>
                <a:srgbClr val="000000"/>
              </a:solidFill>
              <a:latin typeface="Arial"/>
            </a:endParaRPr>
          </a:p>
        </p:txBody>
      </p:sp>
      <p:pic>
        <p:nvPicPr>
          <p:cNvPr id="88" name="Google Shape;128;p22" descr="Image result for end effector"/>
          <p:cNvPicPr/>
          <p:nvPr/>
        </p:nvPicPr>
        <p:blipFill>
          <a:blip r:embed="rId1"/>
          <a:stretch/>
        </p:blipFill>
        <p:spPr>
          <a:xfrm>
            <a:off x="653400" y="2011680"/>
            <a:ext cx="7739640" cy="3086640"/>
          </a:xfrm>
          <a:prstGeom prst="rect">
            <a:avLst/>
          </a:prstGeom>
          <a:ln w="0">
            <a:noFill/>
          </a:ln>
        </p:spPr>
      </p:pic>
      <p:sp>
        <p:nvSpPr>
          <p:cNvPr id="89" name="Google Shape;129;p22"/>
          <p:cNvSpPr/>
          <p:nvPr/>
        </p:nvSpPr>
        <p:spPr>
          <a:xfrm>
            <a:off x="271440" y="5702400"/>
            <a:ext cx="8510040" cy="3384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US" sz="1600" spc="-1" strike="noStrike">
                <a:solidFill>
                  <a:srgbClr val="111111"/>
                </a:solidFill>
                <a:latin typeface="Roboto"/>
                <a:ea typeface="Roboto"/>
              </a:rPr>
              <a:t>Two types of fingered end-effectors: (a) gripper type, (b) anthropomorphic type </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 name="Google Shape;134;p23" descr="E:\Arif\Summer2020\CSE461\Lectures\intro pics\Robotics and Embedded Systems-31.jpg"/>
          <p:cNvPicPr/>
          <p:nvPr/>
        </p:nvPicPr>
        <p:blipFill>
          <a:blip r:embed="rId1"/>
          <a:srcRect l="0" t="0" r="0" b="19732"/>
          <a:stretch/>
        </p:blipFill>
        <p:spPr>
          <a:xfrm>
            <a:off x="0" y="0"/>
            <a:ext cx="9143640" cy="550404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Google Shape;139;p24" descr="E:\Arif\Summer2020\CSE461\Lectures\intro pics\Robotics and Embedded Systems-32.jpg"/>
          <p:cNvPicPr/>
          <p:nvPr/>
        </p:nvPicPr>
        <p:blipFill>
          <a:blip r:embed="rId1"/>
          <a:srcRect l="0" t="0" r="0" b="23694"/>
          <a:stretch/>
        </p:blipFill>
        <p:spPr>
          <a:xfrm>
            <a:off x="0" y="0"/>
            <a:ext cx="9143640" cy="523260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92" name="Google Shape;144;p25"/>
          <p:cNvGraphicFramePr/>
          <p:nvPr/>
        </p:nvGraphicFramePr>
        <p:xfrm>
          <a:off x="279720" y="356760"/>
          <a:ext cx="8584200" cy="6143760"/>
        </p:xfrm>
        <a:graphic>
          <a:graphicData uri="http://schemas.openxmlformats.org/drawingml/2006/table">
            <a:tbl>
              <a:tblPr/>
              <a:tblGrid>
                <a:gridCol w="1520640"/>
                <a:gridCol w="3394080"/>
                <a:gridCol w="3669480"/>
              </a:tblGrid>
              <a:tr h="345960">
                <a:tc>
                  <a:txBody>
                    <a:bodyPr lIns="63360" rIns="63360" tIns="63360" bIns="63360" anchor="t">
                      <a:noAutofit/>
                    </a:bodyPr>
                    <a:p>
                      <a:pPr algn="ctr">
                        <a:lnSpc>
                          <a:spcPct val="100000"/>
                        </a:lnSpc>
                        <a:tabLst>
                          <a:tab algn="l" pos="0"/>
                        </a:tabLst>
                      </a:pPr>
                      <a:r>
                        <a:rPr b="1" lang="en-US" sz="1300" spc="-1" strike="noStrike">
                          <a:solidFill>
                            <a:srgbClr val="000000"/>
                          </a:solidFill>
                          <a:latin typeface="Arial"/>
                          <a:ea typeface="Arial"/>
                        </a:rPr>
                        <a:t>Categories</a:t>
                      </a:r>
                      <a:endParaRPr b="0" lang="en-US" sz="13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ctr">
                        <a:lnSpc>
                          <a:spcPct val="100000"/>
                        </a:lnSpc>
                        <a:tabLst>
                          <a:tab algn="l" pos="0"/>
                        </a:tabLst>
                      </a:pPr>
                      <a:r>
                        <a:rPr b="1" lang="en-US" sz="1300" spc="-1" strike="noStrike">
                          <a:solidFill>
                            <a:srgbClr val="000000"/>
                          </a:solidFill>
                          <a:latin typeface="Arial"/>
                          <a:ea typeface="Arial"/>
                        </a:rPr>
                        <a:t>Synchronous  Belt</a:t>
                      </a:r>
                      <a:endParaRPr b="0" lang="en-US" sz="13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ctr">
                        <a:lnSpc>
                          <a:spcPct val="100000"/>
                        </a:lnSpc>
                        <a:tabLst>
                          <a:tab algn="l" pos="0"/>
                        </a:tabLst>
                      </a:pPr>
                      <a:r>
                        <a:rPr b="1" lang="en-US" sz="1300" spc="-1" strike="noStrike">
                          <a:solidFill>
                            <a:srgbClr val="000000"/>
                          </a:solidFill>
                          <a:latin typeface="Arial"/>
                          <a:ea typeface="Arial"/>
                        </a:rPr>
                        <a:t>Roller Chain</a:t>
                      </a:r>
                      <a:endParaRPr b="0" lang="en-US" sz="13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r>
              <a:tr h="545040">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Efficiency</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Generally more efficient, with lower friction losses</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Less efficient due to higher friction and potential for more energy loss.</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r>
              <a:tr h="345960">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Noise</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Quieter operation.</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Noisier due to metal-on-metal contact.</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r>
              <a:tr h="743760">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Maintenance</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Requires less maintenance, but belts can wear out and need replacement.</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Requires regular lubrication and tension adjustment; chains are more durable but can rust and need more frequent maintenance.</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r>
              <a:tr h="545040">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Durability</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More susceptible to stretching and breaking under high loads.</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Better suited for high-load and high-torque applications due to its strength.</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r>
              <a:tr h="545040">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Precision</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Less precise due to potential for slippage</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More precise with minimal slippage, providing consistent motion</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r>
              <a:tr h="545040">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Cost</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Typically cheaper to produce and replace</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More expensive initially and over time due to maintenance needs</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r>
              <a:tr h="545040">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Flexibility</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More flexible, can handle more complex routing</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Less flexible, limited to simpler routing paths</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r>
              <a:tr h="345960">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Speed Range</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Better for high-speed applications</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Better for lower speed, high-torque applications</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r>
              <a:tr h="345960">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Weight</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Lighter weight</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Heavier due to metal construction</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r>
              <a:tr h="743760">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Environmental Resistance</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More susceptible to temperature changes and can degrade with exposure to certain chemicals</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More robust in harsh environments, better resistance to temperature extremes and chemicals</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r>
              <a:tr h="545040">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Elasticity</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Elastic, which can dampen vibrations but may cause delay in response</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c>
                  <a:txBody>
                    <a:bodyPr lIns="63360" rIns="63360" tIns="63360" bIns="63360" anchor="t">
                      <a:noAutofit/>
                    </a:bodyPr>
                    <a:p>
                      <a:pPr algn="just">
                        <a:lnSpc>
                          <a:spcPct val="100000"/>
                        </a:lnSpc>
                        <a:tabLst>
                          <a:tab algn="l" pos="0"/>
                        </a:tabLst>
                      </a:pPr>
                      <a:r>
                        <a:rPr b="0" lang="en-US" sz="1200" spc="-1" strike="noStrike">
                          <a:solidFill>
                            <a:srgbClr val="000000"/>
                          </a:solidFill>
                          <a:latin typeface="Arial"/>
                          <a:ea typeface="Arial"/>
                        </a:rPr>
                        <a:t>Inelastic, providing more immediate response to changes in load</a:t>
                      </a:r>
                      <a:endParaRPr b="0" lang="en-US" sz="1200" spc="-1" strike="noStrike">
                        <a:solidFill>
                          <a:srgbClr val="000000"/>
                        </a:solidFill>
                        <a:latin typeface="Arial"/>
                      </a:endParaRPr>
                    </a:p>
                  </a:txBody>
                  <a:tcPr anchor="t" marL="63360" marR="63360">
                    <a:lnL w="12240">
                      <a:solidFill>
                        <a:srgbClr val="b6d7a8"/>
                      </a:solidFill>
                      <a:prstDash val="solid"/>
                    </a:lnL>
                    <a:lnR w="12240">
                      <a:solidFill>
                        <a:srgbClr val="b6d7a8"/>
                      </a:solidFill>
                      <a:prstDash val="solid"/>
                    </a:lnR>
                    <a:lnT w="12240">
                      <a:solidFill>
                        <a:srgbClr val="b6d7a8"/>
                      </a:solidFill>
                      <a:prstDash val="solid"/>
                    </a:lnT>
                    <a:lnB w="12240">
                      <a:solidFill>
                        <a:srgbClr val="b6d7a8"/>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 name="Google Shape;149;p26" descr="E:\Arif\Summer2020\CSE461\Lectures\intro pics\Robotics and Embedded Systems-33.jpg"/>
          <p:cNvPicPr/>
          <p:nvPr/>
        </p:nvPicPr>
        <p:blipFill>
          <a:blip r:embed="rId1"/>
          <a:srcRect l="0" t="0" r="0" b="12469"/>
          <a:stretch/>
        </p:blipFill>
        <p:spPr>
          <a:xfrm>
            <a:off x="0" y="0"/>
            <a:ext cx="9143640" cy="600192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4" name="Google Shape;154;p27"/>
          <p:cNvGrpSpPr/>
          <p:nvPr/>
        </p:nvGrpSpPr>
        <p:grpSpPr>
          <a:xfrm>
            <a:off x="5145120" y="707040"/>
            <a:ext cx="4092840" cy="5443920"/>
            <a:chOff x="5145120" y="707040"/>
            <a:chExt cx="4092840" cy="5443920"/>
          </a:xfrm>
        </p:grpSpPr>
        <p:pic>
          <p:nvPicPr>
            <p:cNvPr id="95" name="Google Shape;155;p27" descr=""/>
            <p:cNvPicPr/>
            <p:nvPr/>
          </p:nvPicPr>
          <p:blipFill>
            <a:blip r:embed="rId1"/>
            <a:srcRect l="0" t="10960" r="33421" b="66556"/>
            <a:stretch/>
          </p:blipFill>
          <p:spPr>
            <a:xfrm>
              <a:off x="5145120" y="707040"/>
              <a:ext cx="3542760" cy="1495440"/>
            </a:xfrm>
            <a:prstGeom prst="rect">
              <a:avLst/>
            </a:prstGeom>
            <a:ln w="0">
              <a:noFill/>
            </a:ln>
          </p:spPr>
        </p:pic>
        <p:pic>
          <p:nvPicPr>
            <p:cNvPr id="96" name="Google Shape;156;p27" descr=""/>
            <p:cNvPicPr/>
            <p:nvPr/>
          </p:nvPicPr>
          <p:blipFill>
            <a:blip r:embed="rId2"/>
            <a:srcRect l="65696" t="32779" r="0" b="44742"/>
            <a:stretch/>
          </p:blipFill>
          <p:spPr>
            <a:xfrm>
              <a:off x="7200720" y="2587680"/>
              <a:ext cx="1824840" cy="1495440"/>
            </a:xfrm>
            <a:prstGeom prst="rect">
              <a:avLst/>
            </a:prstGeom>
            <a:ln w="0">
              <a:noFill/>
            </a:ln>
          </p:spPr>
        </p:pic>
        <p:pic>
          <p:nvPicPr>
            <p:cNvPr id="97" name="Google Shape;157;p27" descr=""/>
            <p:cNvPicPr/>
            <p:nvPr/>
          </p:nvPicPr>
          <p:blipFill>
            <a:blip r:embed="rId3"/>
            <a:srcRect l="3759" t="33046" r="65136" b="21457"/>
            <a:stretch/>
          </p:blipFill>
          <p:spPr>
            <a:xfrm>
              <a:off x="5145120" y="2407320"/>
              <a:ext cx="2046240" cy="3743640"/>
            </a:xfrm>
            <a:prstGeom prst="rect">
              <a:avLst/>
            </a:prstGeom>
            <a:ln w="0">
              <a:noFill/>
            </a:ln>
          </p:spPr>
        </p:pic>
        <p:pic>
          <p:nvPicPr>
            <p:cNvPr id="98" name="Google Shape;158;p27" descr=""/>
            <p:cNvPicPr/>
            <p:nvPr/>
          </p:nvPicPr>
          <p:blipFill>
            <a:blip r:embed="rId4"/>
            <a:srcRect l="3759" t="77479" r="65136" b="1421"/>
            <a:stretch/>
          </p:blipFill>
          <p:spPr>
            <a:xfrm>
              <a:off x="7191720" y="4205160"/>
              <a:ext cx="2046240" cy="1735560"/>
            </a:xfrm>
            <a:prstGeom prst="rect">
              <a:avLst/>
            </a:prstGeom>
            <a:ln w="0">
              <a:noFill/>
            </a:ln>
          </p:spPr>
        </p:pic>
      </p:grpSp>
      <p:sp>
        <p:nvSpPr>
          <p:cNvPr id="99" name="Google Shape;159;p27"/>
          <p:cNvSpPr/>
          <p:nvPr/>
        </p:nvSpPr>
        <p:spPr>
          <a:xfrm>
            <a:off x="0" y="207720"/>
            <a:ext cx="5556960" cy="6279840"/>
          </a:xfrm>
          <a:prstGeom prst="rect">
            <a:avLst/>
          </a:prstGeom>
          <a:noFill/>
          <a:ln w="0">
            <a:noFill/>
          </a:ln>
        </p:spPr>
        <p:style>
          <a:lnRef idx="0"/>
          <a:fillRef idx="0"/>
          <a:effectRef idx="0"/>
          <a:fontRef idx="minor"/>
        </p:style>
        <p:txBody>
          <a:bodyPr tIns="91440" bIns="91440" anchor="t">
            <a:spAutoFit/>
          </a:bodyPr>
          <a:p>
            <a:pPr>
              <a:lnSpc>
                <a:spcPct val="115000"/>
              </a:lnSpc>
              <a:tabLst>
                <a:tab algn="l" pos="0"/>
              </a:tabLst>
            </a:pPr>
            <a:endParaRPr b="0" lang="en-US" sz="1400" spc="-1" strike="noStrike">
              <a:solidFill>
                <a:srgbClr val="000000"/>
              </a:solidFill>
              <a:latin typeface="Arial"/>
            </a:endParaRPr>
          </a:p>
          <a:p>
            <a:pPr marL="457200" indent="-317520">
              <a:lnSpc>
                <a:spcPct val="115000"/>
              </a:lnSpc>
              <a:buClr>
                <a:srgbClr val="000000"/>
              </a:buClr>
              <a:buFont typeface="Arial"/>
              <a:buAutoNum type="arabicPeriod"/>
              <a:tabLst>
                <a:tab algn="l" pos="0"/>
              </a:tabLst>
            </a:pPr>
            <a:r>
              <a:rPr b="1" lang="en-US" sz="1400" spc="-1" strike="noStrike">
                <a:solidFill>
                  <a:schemeClr val="dk1"/>
                </a:solidFill>
                <a:latin typeface="Arial"/>
                <a:ea typeface="Arial"/>
              </a:rPr>
              <a:t>Spur Gear - </a:t>
            </a:r>
            <a:endParaRPr b="0" lang="en-US" sz="1400" spc="-1" strike="noStrike">
              <a:solidFill>
                <a:srgbClr val="000000"/>
              </a:solidFill>
              <a:latin typeface="Arial"/>
            </a:endParaRPr>
          </a:p>
          <a:p>
            <a:pPr lvl="2" marL="1371600" indent="-317520">
              <a:lnSpc>
                <a:spcPct val="115000"/>
              </a:lnSpc>
              <a:buClr>
                <a:srgbClr val="000000"/>
              </a:buClr>
              <a:buFont typeface="Arial"/>
              <a:buAutoNum type="romanLcPeriod"/>
              <a:tabLst>
                <a:tab algn="l" pos="0"/>
              </a:tabLst>
            </a:pPr>
            <a:r>
              <a:rPr b="0" lang="en-US" sz="1400" spc="-1" strike="noStrike">
                <a:solidFill>
                  <a:schemeClr val="dk1"/>
                </a:solidFill>
                <a:latin typeface="Arial"/>
                <a:ea typeface="Arial"/>
              </a:rPr>
              <a:t>Parallel shaft gear, cylindrical, rotary motion</a:t>
            </a:r>
            <a:endParaRPr b="0" lang="en-US" sz="1400" spc="-1" strike="noStrike">
              <a:solidFill>
                <a:srgbClr val="000000"/>
              </a:solidFill>
              <a:latin typeface="Arial"/>
            </a:endParaRPr>
          </a:p>
          <a:p>
            <a:pPr lvl="2" marL="1371600" indent="-317520">
              <a:lnSpc>
                <a:spcPct val="115000"/>
              </a:lnSpc>
              <a:buClr>
                <a:srgbClr val="000000"/>
              </a:buClr>
              <a:buFont typeface="Arial"/>
              <a:buAutoNum type="romanLcPeriod"/>
              <a:tabLst>
                <a:tab algn="l" pos="0"/>
              </a:tabLst>
            </a:pPr>
            <a:r>
              <a:rPr b="0" lang="en-US" sz="1400" spc="-1" strike="noStrike">
                <a:solidFill>
                  <a:schemeClr val="dk1"/>
                </a:solidFill>
                <a:latin typeface="Arial"/>
                <a:ea typeface="Arial"/>
              </a:rPr>
              <a:t>Tooth straight and parallel to shaft</a:t>
            </a:r>
            <a:endParaRPr b="0" lang="en-US" sz="1400" spc="-1" strike="noStrike">
              <a:solidFill>
                <a:srgbClr val="000000"/>
              </a:solidFill>
              <a:latin typeface="Arial"/>
            </a:endParaRPr>
          </a:p>
          <a:p>
            <a:pPr lvl="2" marL="1371600" indent="-317520">
              <a:lnSpc>
                <a:spcPct val="115000"/>
              </a:lnSpc>
              <a:buClr>
                <a:srgbClr val="000000"/>
              </a:buClr>
              <a:buFont typeface="Arial"/>
              <a:buAutoNum type="romanLcPeriod"/>
              <a:tabLst>
                <a:tab algn="l" pos="0"/>
              </a:tabLst>
            </a:pPr>
            <a:r>
              <a:rPr b="0" lang="en-US" sz="1400" spc="-1" strike="noStrike">
                <a:solidFill>
                  <a:schemeClr val="dk1"/>
                </a:solidFill>
                <a:latin typeface="Arial"/>
                <a:ea typeface="Arial"/>
              </a:rPr>
              <a:t>High accuracy, easy production, no load, slow</a:t>
            </a:r>
            <a:endParaRPr b="0" lang="en-US" sz="1400" spc="-1" strike="noStrike">
              <a:solidFill>
                <a:srgbClr val="000000"/>
              </a:solidFill>
              <a:latin typeface="Arial"/>
            </a:endParaRPr>
          </a:p>
          <a:p>
            <a:pPr marL="457200" indent="-317520">
              <a:lnSpc>
                <a:spcPct val="115000"/>
              </a:lnSpc>
              <a:buClr>
                <a:srgbClr val="000000"/>
              </a:buClr>
              <a:buFont typeface="Arial"/>
              <a:buAutoNum type="arabicPeriod"/>
              <a:tabLst>
                <a:tab algn="l" pos="0"/>
              </a:tabLst>
            </a:pPr>
            <a:r>
              <a:rPr b="1" lang="en-US" sz="1400" spc="-1" strike="noStrike">
                <a:solidFill>
                  <a:schemeClr val="dk1"/>
                </a:solidFill>
                <a:latin typeface="Arial"/>
                <a:ea typeface="Arial"/>
              </a:rPr>
              <a:t>Helical Gear -</a:t>
            </a:r>
            <a:endParaRPr b="0" lang="en-US" sz="1400" spc="-1" strike="noStrike">
              <a:solidFill>
                <a:srgbClr val="000000"/>
              </a:solidFill>
              <a:latin typeface="Arial"/>
            </a:endParaRPr>
          </a:p>
          <a:p>
            <a:pPr lvl="2" marL="1371600" indent="-317520">
              <a:lnSpc>
                <a:spcPct val="115000"/>
              </a:lnSpc>
              <a:buClr>
                <a:srgbClr val="000000"/>
              </a:buClr>
              <a:buFont typeface="Arial"/>
              <a:buAutoNum type="romanLcPeriod"/>
              <a:tabLst>
                <a:tab algn="l" pos="0"/>
              </a:tabLst>
            </a:pPr>
            <a:r>
              <a:rPr b="0" lang="en-US" sz="1400" spc="-1" strike="noStrike">
                <a:solidFill>
                  <a:schemeClr val="dk1"/>
                </a:solidFill>
                <a:latin typeface="Arial"/>
                <a:ea typeface="Arial"/>
              </a:rPr>
              <a:t>Parallel shaft gear, cylindrical</a:t>
            </a:r>
            <a:endParaRPr b="0" lang="en-US" sz="1400" spc="-1" strike="noStrike">
              <a:solidFill>
                <a:srgbClr val="000000"/>
              </a:solidFill>
              <a:latin typeface="Arial"/>
            </a:endParaRPr>
          </a:p>
          <a:p>
            <a:pPr lvl="2" marL="1371600" indent="-317520">
              <a:lnSpc>
                <a:spcPct val="115000"/>
              </a:lnSpc>
              <a:buClr>
                <a:srgbClr val="000000"/>
              </a:buClr>
              <a:buFont typeface="Arial"/>
              <a:buAutoNum type="romanLcPeriod"/>
              <a:tabLst>
                <a:tab algn="l" pos="0"/>
              </a:tabLst>
            </a:pPr>
            <a:r>
              <a:rPr b="0" lang="en-US" sz="1400" spc="-1" strike="noStrike">
                <a:solidFill>
                  <a:schemeClr val="dk1"/>
                </a:solidFill>
                <a:latin typeface="Arial"/>
                <a:ea typeface="Arial"/>
              </a:rPr>
              <a:t>Winding tooth lines, better meshing</a:t>
            </a:r>
            <a:endParaRPr b="0" lang="en-US" sz="1400" spc="-1" strike="noStrike">
              <a:solidFill>
                <a:srgbClr val="000000"/>
              </a:solidFill>
              <a:latin typeface="Arial"/>
            </a:endParaRPr>
          </a:p>
          <a:p>
            <a:pPr lvl="2" marL="1371600" indent="-317520">
              <a:lnSpc>
                <a:spcPct val="115000"/>
              </a:lnSpc>
              <a:buClr>
                <a:srgbClr val="000000"/>
              </a:buClr>
              <a:buFont typeface="Arial"/>
              <a:buAutoNum type="romanLcPeriod"/>
              <a:tabLst>
                <a:tab algn="l" pos="0"/>
              </a:tabLst>
            </a:pPr>
            <a:r>
              <a:rPr b="0" lang="en-US" sz="1400" spc="-1" strike="noStrike">
                <a:solidFill>
                  <a:schemeClr val="dk1"/>
                </a:solidFill>
                <a:latin typeface="Arial"/>
                <a:ea typeface="Arial"/>
              </a:rPr>
              <a:t>Heavy lifting, high speed</a:t>
            </a:r>
            <a:endParaRPr b="0" lang="en-US" sz="1400" spc="-1" strike="noStrike">
              <a:solidFill>
                <a:srgbClr val="000000"/>
              </a:solidFill>
              <a:latin typeface="Arial"/>
            </a:endParaRPr>
          </a:p>
          <a:p>
            <a:pPr marL="457200" indent="-317520">
              <a:lnSpc>
                <a:spcPct val="115000"/>
              </a:lnSpc>
              <a:buClr>
                <a:srgbClr val="000000"/>
              </a:buClr>
              <a:buFont typeface="Arial"/>
              <a:buAutoNum type="arabicPeriod"/>
              <a:tabLst>
                <a:tab algn="l" pos="0"/>
              </a:tabLst>
            </a:pPr>
            <a:r>
              <a:rPr b="1" lang="en-US" sz="1400" spc="-1" strike="noStrike">
                <a:solidFill>
                  <a:schemeClr val="dk1"/>
                </a:solidFill>
                <a:latin typeface="Arial"/>
                <a:ea typeface="Arial"/>
              </a:rPr>
              <a:t>Straight Bevel - </a:t>
            </a:r>
            <a:endParaRPr b="0" lang="en-US" sz="1400" spc="-1" strike="noStrike">
              <a:solidFill>
                <a:srgbClr val="000000"/>
              </a:solidFill>
              <a:latin typeface="Arial"/>
            </a:endParaRPr>
          </a:p>
          <a:p>
            <a:pPr lvl="2" marL="1371600" indent="-317520">
              <a:lnSpc>
                <a:spcPct val="115000"/>
              </a:lnSpc>
              <a:buClr>
                <a:srgbClr val="000000"/>
              </a:buClr>
              <a:buFont typeface="Arial"/>
              <a:buAutoNum type="romanLcPeriod"/>
              <a:tabLst>
                <a:tab algn="l" pos="0"/>
              </a:tabLst>
            </a:pPr>
            <a:r>
              <a:rPr b="0" lang="en-US" sz="1400" spc="-1" strike="noStrike">
                <a:solidFill>
                  <a:schemeClr val="dk1"/>
                </a:solidFill>
                <a:latin typeface="Arial"/>
                <a:ea typeface="Arial"/>
              </a:rPr>
              <a:t>Cone shaped</a:t>
            </a:r>
            <a:endParaRPr b="0" lang="en-US" sz="1400" spc="-1" strike="noStrike">
              <a:solidFill>
                <a:srgbClr val="000000"/>
              </a:solidFill>
              <a:latin typeface="Arial"/>
            </a:endParaRPr>
          </a:p>
          <a:p>
            <a:pPr lvl="2" marL="1371600" indent="-317520">
              <a:lnSpc>
                <a:spcPct val="115000"/>
              </a:lnSpc>
              <a:buClr>
                <a:srgbClr val="000000"/>
              </a:buClr>
              <a:buFont typeface="Arial"/>
              <a:buAutoNum type="romanLcPeriod"/>
              <a:tabLst>
                <a:tab algn="l" pos="0"/>
              </a:tabLst>
            </a:pPr>
            <a:r>
              <a:rPr b="0" lang="en-US" sz="1400" spc="-1" strike="noStrike">
                <a:solidFill>
                  <a:schemeClr val="dk1"/>
                </a:solidFill>
                <a:latin typeface="Arial"/>
                <a:ea typeface="Arial"/>
              </a:rPr>
              <a:t>Power transmitted at 90 degrees angle</a:t>
            </a:r>
            <a:endParaRPr b="0" lang="en-US" sz="1400" spc="-1" strike="noStrike">
              <a:solidFill>
                <a:srgbClr val="000000"/>
              </a:solidFill>
              <a:latin typeface="Arial"/>
            </a:endParaRPr>
          </a:p>
          <a:p>
            <a:pPr marL="457200" indent="-317520">
              <a:lnSpc>
                <a:spcPct val="115000"/>
              </a:lnSpc>
              <a:buClr>
                <a:srgbClr val="000000"/>
              </a:buClr>
              <a:buFont typeface="Arial"/>
              <a:buAutoNum type="arabicPeriod"/>
              <a:tabLst>
                <a:tab algn="l" pos="0"/>
              </a:tabLst>
            </a:pPr>
            <a:r>
              <a:rPr b="1" lang="en-US" sz="1400" spc="-1" strike="noStrike">
                <a:solidFill>
                  <a:schemeClr val="dk1"/>
                </a:solidFill>
                <a:latin typeface="Arial"/>
                <a:ea typeface="Arial"/>
              </a:rPr>
              <a:t>Spiral Bevel -</a:t>
            </a:r>
            <a:endParaRPr b="0" lang="en-US" sz="1400" spc="-1" strike="noStrike">
              <a:solidFill>
                <a:srgbClr val="000000"/>
              </a:solidFill>
              <a:latin typeface="Arial"/>
            </a:endParaRPr>
          </a:p>
          <a:p>
            <a:pPr lvl="2" marL="1371600" indent="-317520">
              <a:lnSpc>
                <a:spcPct val="115000"/>
              </a:lnSpc>
              <a:buClr>
                <a:srgbClr val="000000"/>
              </a:buClr>
              <a:buFont typeface="Arial"/>
              <a:buAutoNum type="romanLcPeriod"/>
              <a:tabLst>
                <a:tab algn="l" pos="0"/>
              </a:tabLst>
            </a:pPr>
            <a:r>
              <a:rPr b="0" lang="en-US" sz="1400" spc="-1" strike="noStrike">
                <a:solidFill>
                  <a:schemeClr val="dk1"/>
                </a:solidFill>
                <a:latin typeface="Arial"/>
                <a:ea typeface="Arial"/>
              </a:rPr>
              <a:t>Cone shaped, teeths are curved</a:t>
            </a:r>
            <a:endParaRPr b="0" lang="en-US" sz="1400" spc="-1" strike="noStrike">
              <a:solidFill>
                <a:srgbClr val="000000"/>
              </a:solidFill>
              <a:latin typeface="Arial"/>
            </a:endParaRPr>
          </a:p>
          <a:p>
            <a:pPr lvl="2" marL="1371600" indent="-317520">
              <a:lnSpc>
                <a:spcPct val="115000"/>
              </a:lnSpc>
              <a:buClr>
                <a:srgbClr val="000000"/>
              </a:buClr>
              <a:buFont typeface="Arial"/>
              <a:buAutoNum type="romanLcPeriod"/>
              <a:tabLst>
                <a:tab algn="l" pos="0"/>
              </a:tabLst>
            </a:pPr>
            <a:r>
              <a:rPr b="0" lang="en-US" sz="1400" spc="-1" strike="noStrike">
                <a:solidFill>
                  <a:schemeClr val="dk1"/>
                </a:solidFill>
                <a:latin typeface="Arial"/>
                <a:ea typeface="Arial"/>
              </a:rPr>
              <a:t>More efficient, strong, quiet</a:t>
            </a:r>
            <a:endParaRPr b="0" lang="en-US" sz="1400" spc="-1" strike="noStrike">
              <a:solidFill>
                <a:srgbClr val="000000"/>
              </a:solidFill>
              <a:latin typeface="Arial"/>
            </a:endParaRPr>
          </a:p>
          <a:p>
            <a:pPr lvl="2" marL="1371600" indent="-317520">
              <a:lnSpc>
                <a:spcPct val="115000"/>
              </a:lnSpc>
              <a:buClr>
                <a:srgbClr val="000000"/>
              </a:buClr>
              <a:buFont typeface="Arial"/>
              <a:buAutoNum type="romanLcPeriod"/>
              <a:tabLst>
                <a:tab algn="l" pos="0"/>
              </a:tabLst>
            </a:pPr>
            <a:r>
              <a:rPr b="0" lang="en-US" sz="1400" spc="-1" strike="noStrike">
                <a:solidFill>
                  <a:schemeClr val="dk1"/>
                </a:solidFill>
                <a:latin typeface="Arial"/>
                <a:ea typeface="Arial"/>
              </a:rPr>
              <a:t>Harder Production</a:t>
            </a:r>
            <a:endParaRPr b="0" lang="en-US" sz="1400" spc="-1" strike="noStrike">
              <a:solidFill>
                <a:srgbClr val="000000"/>
              </a:solidFill>
              <a:latin typeface="Arial"/>
            </a:endParaRPr>
          </a:p>
          <a:p>
            <a:pPr marL="457200" indent="-317520">
              <a:lnSpc>
                <a:spcPct val="115000"/>
              </a:lnSpc>
              <a:buClr>
                <a:srgbClr val="000000"/>
              </a:buClr>
              <a:buFont typeface="Arial"/>
              <a:buAutoNum type="arabicPeriod"/>
              <a:tabLst>
                <a:tab algn="l" pos="0"/>
              </a:tabLst>
            </a:pPr>
            <a:r>
              <a:rPr b="1" lang="en-US" sz="1400" spc="-1" strike="noStrike">
                <a:solidFill>
                  <a:schemeClr val="dk1"/>
                </a:solidFill>
                <a:latin typeface="Arial"/>
                <a:ea typeface="Arial"/>
              </a:rPr>
              <a:t>Worm -</a:t>
            </a:r>
            <a:endParaRPr b="0" lang="en-US" sz="1400" spc="-1" strike="noStrike">
              <a:solidFill>
                <a:srgbClr val="000000"/>
              </a:solidFill>
              <a:latin typeface="Arial"/>
            </a:endParaRPr>
          </a:p>
          <a:p>
            <a:pPr lvl="2" marL="1371600" indent="-317520">
              <a:lnSpc>
                <a:spcPct val="115000"/>
              </a:lnSpc>
              <a:buClr>
                <a:srgbClr val="000000"/>
              </a:buClr>
              <a:buFont typeface="Arial"/>
              <a:buAutoNum type="romanLcPeriod"/>
              <a:tabLst>
                <a:tab algn="l" pos="0"/>
              </a:tabLst>
            </a:pPr>
            <a:r>
              <a:rPr b="0" lang="en-US" sz="1400" spc="-1" strike="noStrike">
                <a:solidFill>
                  <a:schemeClr val="dk1"/>
                </a:solidFill>
                <a:latin typeface="Arial"/>
                <a:ea typeface="Arial"/>
              </a:rPr>
              <a:t>Screw shape cut on shaft (worm), mating gear (worm wheel)</a:t>
            </a:r>
            <a:endParaRPr b="0" lang="en-US" sz="1400" spc="-1" strike="noStrike">
              <a:solidFill>
                <a:srgbClr val="000000"/>
              </a:solidFill>
              <a:latin typeface="Arial"/>
            </a:endParaRPr>
          </a:p>
          <a:p>
            <a:pPr lvl="2" marL="1371600" indent="-317520">
              <a:lnSpc>
                <a:spcPct val="115000"/>
              </a:lnSpc>
              <a:buClr>
                <a:srgbClr val="000000"/>
              </a:buClr>
              <a:buFont typeface="Arial"/>
              <a:buAutoNum type="romanLcPeriod"/>
              <a:tabLst>
                <a:tab algn="l" pos="0"/>
              </a:tabLst>
            </a:pPr>
            <a:r>
              <a:rPr b="0" lang="en-US" sz="1400" spc="-1" strike="noStrike">
                <a:solidFill>
                  <a:schemeClr val="dk1"/>
                </a:solidFill>
                <a:latin typeface="Arial"/>
                <a:ea typeface="Arial"/>
              </a:rPr>
              <a:t>Can be of various shapes, power to different axis</a:t>
            </a:r>
            <a:endParaRPr b="0" lang="en-US" sz="1400" spc="-1" strike="noStrike">
              <a:solidFill>
                <a:srgbClr val="000000"/>
              </a:solidFill>
              <a:latin typeface="Arial"/>
            </a:endParaRPr>
          </a:p>
          <a:p>
            <a:pPr lvl="2" marL="1371600" indent="-317520">
              <a:lnSpc>
                <a:spcPct val="115000"/>
              </a:lnSpc>
              <a:buClr>
                <a:srgbClr val="000000"/>
              </a:buClr>
              <a:buFont typeface="Arial"/>
              <a:buAutoNum type="romanLcPeriod"/>
              <a:tabLst>
                <a:tab algn="l" pos="0"/>
              </a:tabLst>
            </a:pPr>
            <a:r>
              <a:rPr b="0" lang="en-US" sz="1400" spc="-1" strike="noStrike">
                <a:solidFill>
                  <a:schemeClr val="dk1"/>
                </a:solidFill>
                <a:latin typeface="Arial"/>
                <a:ea typeface="Arial"/>
              </a:rPr>
              <a:t>Low efficiency, smooth, quite, high torque</a:t>
            </a:r>
            <a:endParaRPr b="0" lang="en-US" sz="1400" spc="-1" strike="noStrike">
              <a:solidFill>
                <a:srgbClr val="000000"/>
              </a:solidFill>
              <a:latin typeface="Arial"/>
            </a:endParaRPr>
          </a:p>
          <a:p>
            <a:pPr marL="457200" indent="-317520">
              <a:lnSpc>
                <a:spcPct val="115000"/>
              </a:lnSpc>
              <a:buClr>
                <a:srgbClr val="000000"/>
              </a:buClr>
              <a:buFont typeface="Arial"/>
              <a:buAutoNum type="arabicPeriod"/>
              <a:tabLst>
                <a:tab algn="l" pos="0"/>
              </a:tabLst>
            </a:pPr>
            <a:r>
              <a:rPr b="1" lang="en-US" sz="1400" spc="-1" strike="noStrike">
                <a:solidFill>
                  <a:schemeClr val="dk1"/>
                </a:solidFill>
                <a:latin typeface="Arial"/>
                <a:ea typeface="Arial"/>
              </a:rPr>
              <a:t>Rack and Pinion -</a:t>
            </a:r>
            <a:endParaRPr b="0" lang="en-US" sz="1400" spc="-1" strike="noStrike">
              <a:solidFill>
                <a:srgbClr val="000000"/>
              </a:solidFill>
              <a:latin typeface="Arial"/>
            </a:endParaRPr>
          </a:p>
          <a:p>
            <a:pPr lvl="2" marL="1371600" indent="-317520">
              <a:lnSpc>
                <a:spcPct val="115000"/>
              </a:lnSpc>
              <a:buClr>
                <a:srgbClr val="000000"/>
              </a:buClr>
              <a:buFont typeface="Arial"/>
              <a:buAutoNum type="romanLcPeriod"/>
              <a:tabLst>
                <a:tab algn="l" pos="0"/>
              </a:tabLst>
            </a:pPr>
            <a:r>
              <a:rPr b="0" lang="en-US" sz="1400" spc="-1" strike="noStrike">
                <a:solidFill>
                  <a:schemeClr val="dk1"/>
                </a:solidFill>
                <a:latin typeface="Arial"/>
                <a:ea typeface="Arial"/>
              </a:rPr>
              <a:t>Rotational to linear motion</a:t>
            </a:r>
            <a:endParaRPr b="0" lang="en-US" sz="1400" spc="-1" strike="noStrike">
              <a:solidFill>
                <a:srgbClr val="000000"/>
              </a:solidFill>
              <a:latin typeface="Arial"/>
            </a:endParaRPr>
          </a:p>
          <a:p>
            <a:pPr lvl="2" marL="1371600" indent="-317520">
              <a:lnSpc>
                <a:spcPct val="115000"/>
              </a:lnSpc>
              <a:buClr>
                <a:srgbClr val="000000"/>
              </a:buClr>
              <a:buFont typeface="Arial"/>
              <a:buAutoNum type="romanLcPeriod"/>
              <a:tabLst>
                <a:tab algn="l" pos="0"/>
              </a:tabLst>
            </a:pPr>
            <a:r>
              <a:rPr b="0" lang="en-US" sz="1400" spc="-1" strike="noStrike">
                <a:solidFill>
                  <a:schemeClr val="dk1"/>
                </a:solidFill>
                <a:latin typeface="Arial"/>
                <a:ea typeface="Arial"/>
              </a:rPr>
              <a:t>High precision</a:t>
            </a:r>
            <a:endParaRPr b="0" lang="en-US" sz="1400" spc="-1" strike="noStrike">
              <a:solidFill>
                <a:srgbClr val="000000"/>
              </a:solidFill>
              <a:latin typeface="Arial"/>
            </a:endParaRPr>
          </a:p>
          <a:p>
            <a:pPr lvl="2" marL="1371600" indent="-317520">
              <a:lnSpc>
                <a:spcPct val="115000"/>
              </a:lnSpc>
              <a:buClr>
                <a:srgbClr val="000000"/>
              </a:buClr>
              <a:buFont typeface="Arial"/>
              <a:buAutoNum type="romanLcPeriod"/>
              <a:tabLst>
                <a:tab algn="l" pos="0"/>
              </a:tabLst>
            </a:pPr>
            <a:r>
              <a:rPr b="0" lang="en-US" sz="1400" spc="-1" strike="noStrike">
                <a:solidFill>
                  <a:schemeClr val="dk1"/>
                </a:solidFill>
                <a:latin typeface="Arial"/>
                <a:ea typeface="Arial"/>
              </a:rPr>
              <a:t>High load capacity</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00" name="Google Shape;164;p28" descr="E:\Arif\Summer2020\CSE461\Lectures\intro pics\Robotics and Embedded Systems-34.jpg"/>
          <p:cNvPicPr/>
          <p:nvPr/>
        </p:nvPicPr>
        <p:blipFill>
          <a:blip r:embed="rId1"/>
          <a:stretch/>
        </p:blipFill>
        <p:spPr>
          <a:xfrm>
            <a:off x="0" y="0"/>
            <a:ext cx="9143640" cy="685764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1" name="Google Shape;169;p29" descr="E:\Arif\Summer2020\CSE461\Lectures\intro pics\Robotics and Embedded Systems-36.jpg"/>
          <p:cNvPicPr/>
          <p:nvPr/>
        </p:nvPicPr>
        <p:blipFill>
          <a:blip r:embed="rId1"/>
          <a:stretch/>
        </p:blipFill>
        <p:spPr>
          <a:xfrm>
            <a:off x="0" y="0"/>
            <a:ext cx="9143640" cy="685764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2" name="Google Shape;174;p30" descr=""/>
          <p:cNvPicPr/>
          <p:nvPr/>
        </p:nvPicPr>
        <p:blipFill>
          <a:blip r:embed="rId1"/>
          <a:stretch/>
        </p:blipFill>
        <p:spPr>
          <a:xfrm>
            <a:off x="854640" y="652680"/>
            <a:ext cx="7434000" cy="4181400"/>
          </a:xfrm>
          <a:prstGeom prst="rect">
            <a:avLst/>
          </a:prstGeom>
          <a:ln w="0">
            <a:noFill/>
          </a:ln>
        </p:spPr>
      </p:pic>
      <p:sp>
        <p:nvSpPr>
          <p:cNvPr id="103" name="Google Shape;175;p30"/>
          <p:cNvSpPr/>
          <p:nvPr/>
        </p:nvSpPr>
        <p:spPr>
          <a:xfrm>
            <a:off x="677520" y="355320"/>
            <a:ext cx="2298240" cy="5943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US" sz="2700" spc="-1" strike="noStrike">
                <a:solidFill>
                  <a:srgbClr val="000000"/>
                </a:solidFill>
                <a:latin typeface="Arial"/>
                <a:ea typeface="Arial"/>
              </a:rPr>
              <a:t>Pneumatic</a:t>
            </a:r>
            <a:endParaRPr b="0" lang="en-US" sz="2700" spc="-1" strike="noStrike">
              <a:solidFill>
                <a:srgbClr val="000000"/>
              </a:solidFill>
              <a:latin typeface="Arial"/>
            </a:endParaRPr>
          </a:p>
        </p:txBody>
      </p:sp>
      <p:sp>
        <p:nvSpPr>
          <p:cNvPr id="104" name="Google Shape;176;p30"/>
          <p:cNvSpPr/>
          <p:nvPr/>
        </p:nvSpPr>
        <p:spPr>
          <a:xfrm>
            <a:off x="854640" y="5344200"/>
            <a:ext cx="7434360" cy="91368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1600" spc="-1" strike="noStrike">
                <a:solidFill>
                  <a:srgbClr val="000000"/>
                </a:solidFill>
                <a:latin typeface="Arial"/>
                <a:ea typeface="Arial"/>
              </a:rPr>
              <a:t>Pneumatic actuators use </a:t>
            </a:r>
            <a:r>
              <a:rPr b="1" lang="en-US" sz="1600" spc="-1" strike="noStrike">
                <a:solidFill>
                  <a:srgbClr val="000000"/>
                </a:solidFill>
                <a:latin typeface="Arial"/>
                <a:ea typeface="Arial"/>
              </a:rPr>
              <a:t>compressed air</a:t>
            </a:r>
            <a:r>
              <a:rPr b="0" lang="en-US" sz="1600" spc="-1" strike="noStrike">
                <a:solidFill>
                  <a:srgbClr val="000000"/>
                </a:solidFill>
                <a:latin typeface="Arial"/>
                <a:ea typeface="Arial"/>
              </a:rPr>
              <a:t> to produce linear or rotary motion. They are </a:t>
            </a:r>
            <a:r>
              <a:rPr b="1" lang="en-US" sz="1600" spc="-1" strike="noStrike">
                <a:solidFill>
                  <a:srgbClr val="000000"/>
                </a:solidFill>
                <a:latin typeface="Arial"/>
                <a:ea typeface="Arial"/>
              </a:rPr>
              <a:t>fast, clean, and suitable for light to medium</a:t>
            </a:r>
            <a:r>
              <a:rPr b="0" lang="en-US" sz="1600" spc="-1" strike="noStrike">
                <a:solidFill>
                  <a:srgbClr val="000000"/>
                </a:solidFill>
                <a:latin typeface="Arial"/>
                <a:ea typeface="Arial"/>
              </a:rPr>
              <a:t> load applications. Commonly used in automation where </a:t>
            </a:r>
            <a:r>
              <a:rPr b="1" lang="en-US" sz="1600" spc="-1" strike="noStrike">
                <a:solidFill>
                  <a:srgbClr val="000000"/>
                </a:solidFill>
                <a:latin typeface="Arial"/>
                <a:ea typeface="Arial"/>
              </a:rPr>
              <a:t>speed and simplicity</a:t>
            </a:r>
            <a:r>
              <a:rPr b="0" lang="en-US" sz="1600" spc="-1" strike="noStrike">
                <a:solidFill>
                  <a:srgbClr val="000000"/>
                </a:solidFill>
                <a:latin typeface="Arial"/>
                <a:ea typeface="Arial"/>
              </a:rPr>
              <a:t> are important.</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5" name="Google Shape;181;p31" descr=""/>
          <p:cNvPicPr/>
          <p:nvPr/>
        </p:nvPicPr>
        <p:blipFill>
          <a:blip r:embed="rId1"/>
          <a:stretch/>
        </p:blipFill>
        <p:spPr>
          <a:xfrm>
            <a:off x="490320" y="1618200"/>
            <a:ext cx="8163000" cy="2139120"/>
          </a:xfrm>
          <a:prstGeom prst="rect">
            <a:avLst/>
          </a:prstGeom>
          <a:ln w="0">
            <a:noFill/>
          </a:ln>
        </p:spPr>
      </p:pic>
      <p:sp>
        <p:nvSpPr>
          <p:cNvPr id="106" name="Google Shape;182;p31"/>
          <p:cNvSpPr/>
          <p:nvPr/>
        </p:nvSpPr>
        <p:spPr>
          <a:xfrm>
            <a:off x="594360" y="374400"/>
            <a:ext cx="2298240" cy="5943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US" sz="2700" spc="-1" strike="noStrike">
                <a:solidFill>
                  <a:srgbClr val="000000"/>
                </a:solidFill>
                <a:latin typeface="Arial"/>
                <a:ea typeface="Arial"/>
              </a:rPr>
              <a:t>Hydraulic</a:t>
            </a:r>
            <a:endParaRPr b="0" lang="en-US" sz="2700" spc="-1" strike="noStrike">
              <a:solidFill>
                <a:srgbClr val="000000"/>
              </a:solidFill>
              <a:latin typeface="Arial"/>
            </a:endParaRPr>
          </a:p>
        </p:txBody>
      </p:sp>
      <p:sp>
        <p:nvSpPr>
          <p:cNvPr id="107" name="Google Shape;183;p31"/>
          <p:cNvSpPr/>
          <p:nvPr/>
        </p:nvSpPr>
        <p:spPr>
          <a:xfrm>
            <a:off x="490320" y="4480920"/>
            <a:ext cx="8163000" cy="91368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1600" spc="-1" strike="noStrike">
                <a:solidFill>
                  <a:srgbClr val="000000"/>
                </a:solidFill>
                <a:latin typeface="Arial"/>
                <a:ea typeface="Arial"/>
              </a:rPr>
              <a:t>Hydraulic actuators operate using </a:t>
            </a:r>
            <a:r>
              <a:rPr b="1" lang="en-US" sz="1600" spc="-1" strike="noStrike">
                <a:solidFill>
                  <a:srgbClr val="000000"/>
                </a:solidFill>
                <a:latin typeface="Arial"/>
                <a:ea typeface="Arial"/>
              </a:rPr>
              <a:t>pressurized fluid</a:t>
            </a:r>
            <a:r>
              <a:rPr b="0" lang="en-US" sz="1600" spc="-1" strike="noStrike">
                <a:solidFill>
                  <a:srgbClr val="000000"/>
                </a:solidFill>
                <a:latin typeface="Arial"/>
                <a:ea typeface="Arial"/>
              </a:rPr>
              <a:t> to generate </a:t>
            </a:r>
            <a:r>
              <a:rPr b="1" lang="en-US" sz="1600" spc="-1" strike="noStrike">
                <a:solidFill>
                  <a:srgbClr val="000000"/>
                </a:solidFill>
                <a:latin typeface="Arial"/>
                <a:ea typeface="Arial"/>
              </a:rPr>
              <a:t>high force and torque</a:t>
            </a:r>
            <a:r>
              <a:rPr b="0" lang="en-US" sz="1600" spc="-1" strike="noStrike">
                <a:solidFill>
                  <a:srgbClr val="000000"/>
                </a:solidFill>
                <a:latin typeface="Arial"/>
                <a:ea typeface="Arial"/>
              </a:rPr>
              <a:t>. They are ideal for </a:t>
            </a:r>
            <a:r>
              <a:rPr b="1" lang="en-US" sz="1600" spc="-1" strike="noStrike">
                <a:solidFill>
                  <a:srgbClr val="000000"/>
                </a:solidFill>
                <a:latin typeface="Arial"/>
                <a:ea typeface="Arial"/>
              </a:rPr>
              <a:t>heavy-duty applications</a:t>
            </a:r>
            <a:r>
              <a:rPr b="0" lang="en-US" sz="1600" spc="-1" strike="noStrike">
                <a:solidFill>
                  <a:srgbClr val="000000"/>
                </a:solidFill>
                <a:latin typeface="Arial"/>
                <a:ea typeface="Arial"/>
              </a:rPr>
              <a:t> requiring </a:t>
            </a:r>
            <a:r>
              <a:rPr b="1" lang="en-US" sz="1600" spc="-1" strike="noStrike">
                <a:solidFill>
                  <a:srgbClr val="000000"/>
                </a:solidFill>
                <a:latin typeface="Arial"/>
                <a:ea typeface="Arial"/>
              </a:rPr>
              <a:t>precise and powerful motion</a:t>
            </a:r>
            <a:r>
              <a:rPr b="0" lang="en-US" sz="1600" spc="-1" strike="noStrike">
                <a:solidFill>
                  <a:srgbClr val="000000"/>
                </a:solidFill>
                <a:latin typeface="Arial"/>
                <a:ea typeface="Arial"/>
              </a:rPr>
              <a:t>. These actuators are widely used in </a:t>
            </a:r>
            <a:r>
              <a:rPr b="1" lang="en-US" sz="1600" spc="-1" strike="noStrike">
                <a:solidFill>
                  <a:srgbClr val="000000"/>
                </a:solidFill>
                <a:latin typeface="Arial"/>
                <a:ea typeface="Arial"/>
              </a:rPr>
              <a:t>construction and industrial machinery</a:t>
            </a:r>
            <a:r>
              <a:rPr b="0" lang="en-US" sz="1600" spc="-1" strike="noStrike">
                <a:solidFill>
                  <a:srgbClr val="000000"/>
                </a:solidFill>
                <a:latin typeface="Arial"/>
                <a:ea typeface="Arial"/>
              </a:rPr>
              <a:t>.</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8" name="Google Shape;188;p32" descr=""/>
          <p:cNvPicPr/>
          <p:nvPr/>
        </p:nvPicPr>
        <p:blipFill>
          <a:blip r:embed="rId1"/>
          <a:srcRect l="0" t="21631" r="0" b="23384"/>
          <a:stretch/>
        </p:blipFill>
        <p:spPr>
          <a:xfrm>
            <a:off x="2152800" y="1200960"/>
            <a:ext cx="4838400" cy="2659680"/>
          </a:xfrm>
          <a:prstGeom prst="rect">
            <a:avLst/>
          </a:prstGeom>
          <a:ln w="0">
            <a:noFill/>
          </a:ln>
        </p:spPr>
      </p:pic>
      <p:sp>
        <p:nvSpPr>
          <p:cNvPr id="109" name="Google Shape;189;p32"/>
          <p:cNvSpPr/>
          <p:nvPr/>
        </p:nvSpPr>
        <p:spPr>
          <a:xfrm>
            <a:off x="658440" y="430920"/>
            <a:ext cx="2298240" cy="5943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US" sz="2700" spc="-1" strike="noStrike">
                <a:solidFill>
                  <a:srgbClr val="000000"/>
                </a:solidFill>
                <a:latin typeface="Arial"/>
                <a:ea typeface="Arial"/>
              </a:rPr>
              <a:t>Electric</a:t>
            </a:r>
            <a:endParaRPr b="0" lang="en-US" sz="2700" spc="-1" strike="noStrike">
              <a:solidFill>
                <a:srgbClr val="000000"/>
              </a:solidFill>
              <a:latin typeface="Arial"/>
            </a:endParaRPr>
          </a:p>
        </p:txBody>
      </p:sp>
      <p:sp>
        <p:nvSpPr>
          <p:cNvPr id="110" name="Google Shape;190;p32"/>
          <p:cNvSpPr/>
          <p:nvPr/>
        </p:nvSpPr>
        <p:spPr>
          <a:xfrm>
            <a:off x="705600" y="4292280"/>
            <a:ext cx="7842960" cy="115740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1600" spc="-1" strike="noStrike">
                <a:solidFill>
                  <a:srgbClr val="000000"/>
                </a:solidFill>
                <a:latin typeface="Arial"/>
                <a:ea typeface="Arial"/>
              </a:rPr>
              <a:t>Electric actuators convert </a:t>
            </a:r>
            <a:r>
              <a:rPr b="1" lang="en-US" sz="1600" spc="-1" strike="noStrike">
                <a:solidFill>
                  <a:srgbClr val="000000"/>
                </a:solidFill>
                <a:latin typeface="Arial"/>
                <a:ea typeface="Arial"/>
              </a:rPr>
              <a:t>electrical energy into mechanical motion</a:t>
            </a:r>
            <a:r>
              <a:rPr b="0" lang="en-US" sz="1600" spc="-1" strike="noStrike">
                <a:solidFill>
                  <a:srgbClr val="000000"/>
                </a:solidFill>
                <a:latin typeface="Arial"/>
                <a:ea typeface="Arial"/>
              </a:rPr>
              <a:t> using motors. They offer </a:t>
            </a:r>
            <a:r>
              <a:rPr b="1" lang="en-US" sz="1600" spc="-1" strike="noStrike">
                <a:solidFill>
                  <a:srgbClr val="000000"/>
                </a:solidFill>
                <a:latin typeface="Arial"/>
                <a:ea typeface="Arial"/>
              </a:rPr>
              <a:t>high precision, easy control, and low maintenance</a:t>
            </a:r>
            <a:r>
              <a:rPr b="0" lang="en-US" sz="1600" spc="-1" strike="noStrike">
                <a:solidFill>
                  <a:srgbClr val="000000"/>
                </a:solidFill>
                <a:latin typeface="Arial"/>
                <a:ea typeface="Arial"/>
              </a:rPr>
              <a:t> compared to fluid-based systems. Suitable for applications requiring </a:t>
            </a:r>
            <a:r>
              <a:rPr b="1" lang="en-US" sz="1600" spc="-1" strike="noStrike">
                <a:solidFill>
                  <a:srgbClr val="000000"/>
                </a:solidFill>
                <a:latin typeface="Arial"/>
                <a:ea typeface="Arial"/>
              </a:rPr>
              <a:t>accurate positioning</a:t>
            </a:r>
            <a:r>
              <a:rPr b="0" lang="en-US" sz="1600" spc="-1" strike="noStrike">
                <a:solidFill>
                  <a:srgbClr val="000000"/>
                </a:solidFill>
                <a:latin typeface="Arial"/>
                <a:ea typeface="Arial"/>
              </a:rPr>
              <a:t> and integration with digital control systems.</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1" name="Google Shape;195;p33" descr=""/>
          <p:cNvPicPr/>
          <p:nvPr/>
        </p:nvPicPr>
        <p:blipFill>
          <a:blip r:embed="rId1"/>
          <a:stretch/>
        </p:blipFill>
        <p:spPr>
          <a:xfrm>
            <a:off x="490680" y="2433600"/>
            <a:ext cx="8162640" cy="3190680"/>
          </a:xfrm>
          <a:prstGeom prst="rect">
            <a:avLst/>
          </a:prstGeom>
          <a:ln w="0">
            <a:noFill/>
          </a:ln>
        </p:spPr>
      </p:pic>
      <p:pic>
        <p:nvPicPr>
          <p:cNvPr id="112" name="Google Shape;196;p33" descr=""/>
          <p:cNvPicPr/>
          <p:nvPr/>
        </p:nvPicPr>
        <p:blipFill>
          <a:blip r:embed="rId2"/>
          <a:stretch/>
        </p:blipFill>
        <p:spPr>
          <a:xfrm>
            <a:off x="542880" y="1559160"/>
            <a:ext cx="8057880" cy="571320"/>
          </a:xfrm>
          <a:prstGeom prst="rect">
            <a:avLst/>
          </a:prstGeom>
          <a:ln w="0">
            <a:noFill/>
          </a:ln>
        </p:spPr>
      </p:pic>
      <p:sp>
        <p:nvSpPr>
          <p:cNvPr id="113" name="Google Shape;197;p33"/>
          <p:cNvSpPr/>
          <p:nvPr/>
        </p:nvSpPr>
        <p:spPr>
          <a:xfrm>
            <a:off x="1855080" y="703080"/>
            <a:ext cx="5433120" cy="670320"/>
          </a:xfrm>
          <a:prstGeom prst="rect">
            <a:avLst/>
          </a:prstGeom>
          <a:noFill/>
          <a:ln w="0">
            <a:noFill/>
          </a:ln>
        </p:spPr>
        <p:style>
          <a:lnRef idx="0"/>
          <a:fillRef idx="0"/>
          <a:effectRef idx="0"/>
          <a:fontRef idx="minor"/>
        </p:style>
        <p:txBody>
          <a:bodyPr tIns="91440" bIns="91440" anchor="t">
            <a:spAutoFit/>
          </a:bodyPr>
          <a:p>
            <a:pPr algn="ctr">
              <a:lnSpc>
                <a:spcPct val="100000"/>
              </a:lnSpc>
              <a:tabLst>
                <a:tab algn="l" pos="0"/>
              </a:tabLst>
            </a:pPr>
            <a:r>
              <a:rPr b="1" lang="en-US" sz="3200" spc="-1" strike="noStrike">
                <a:solidFill>
                  <a:schemeClr val="dk1"/>
                </a:solidFill>
                <a:latin typeface="Calibri"/>
                <a:ea typeface="Calibri"/>
              </a:rPr>
              <a:t>Actuators Comparison</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311760" y="358560"/>
            <a:ext cx="8520120" cy="1017720"/>
          </a:xfrm>
          <a:prstGeom prst="rect">
            <a:avLst/>
          </a:prstGeom>
          <a:noFill/>
          <a:ln w="0">
            <a:noFill/>
          </a:ln>
        </p:spPr>
        <p:txBody>
          <a:bodyPr lIns="91440" rIns="91440" tIns="91440" bIns="91440" anchor="t">
            <a:normAutofit/>
          </a:bodyPr>
          <a:p>
            <a:pPr indent="0">
              <a:lnSpc>
                <a:spcPct val="100000"/>
              </a:lnSpc>
              <a:buNone/>
              <a:tabLst>
                <a:tab algn="l" pos="0"/>
              </a:tabLst>
            </a:pPr>
            <a:r>
              <a:rPr b="0" lang="en-US" sz="4400" spc="-1" strike="noStrike">
                <a:solidFill>
                  <a:schemeClr val="dk1"/>
                </a:solidFill>
                <a:latin typeface="Calibri"/>
                <a:ea typeface="Calibri"/>
              </a:rPr>
              <a:t>Motor</a:t>
            </a:r>
            <a:endParaRPr b="0" lang="en-US" sz="4400" spc="-1" strike="noStrike">
              <a:solidFill>
                <a:srgbClr val="000000"/>
              </a:solidFill>
              <a:latin typeface="Arial"/>
            </a:endParaRPr>
          </a:p>
        </p:txBody>
      </p:sp>
      <p:pic>
        <p:nvPicPr>
          <p:cNvPr id="115" name="Google Shape;203;p34" descr=""/>
          <p:cNvPicPr/>
          <p:nvPr/>
        </p:nvPicPr>
        <p:blipFill>
          <a:blip r:embed="rId1"/>
          <a:stretch/>
        </p:blipFill>
        <p:spPr>
          <a:xfrm>
            <a:off x="2042280" y="1337400"/>
            <a:ext cx="5903280" cy="4182480"/>
          </a:xfrm>
          <a:prstGeom prst="rect">
            <a:avLst/>
          </a:prstGeom>
          <a:ln w="0">
            <a:noFill/>
          </a:ln>
        </p:spPr>
      </p:pic>
      <p:sp>
        <p:nvSpPr>
          <p:cNvPr id="116" name="Google Shape;204;p34"/>
          <p:cNvSpPr/>
          <p:nvPr/>
        </p:nvSpPr>
        <p:spPr>
          <a:xfrm>
            <a:off x="3762000" y="1588320"/>
            <a:ext cx="1619280" cy="6397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3000" spc="-1" strike="noStrike">
                <a:solidFill>
                  <a:srgbClr val="000000"/>
                </a:solidFill>
                <a:latin typeface="Arial"/>
                <a:ea typeface="Arial"/>
              </a:rPr>
              <a:t>Stator</a:t>
            </a:r>
            <a:endParaRPr b="0" lang="en-US" sz="3000" spc="-1" strike="noStrike">
              <a:solidFill>
                <a:srgbClr val="000000"/>
              </a:solidFill>
              <a:latin typeface="Arial"/>
            </a:endParaRPr>
          </a:p>
        </p:txBody>
      </p:sp>
      <p:sp>
        <p:nvSpPr>
          <p:cNvPr id="117" name="Google Shape;205;p34"/>
          <p:cNvSpPr/>
          <p:nvPr/>
        </p:nvSpPr>
        <p:spPr>
          <a:xfrm>
            <a:off x="2789280" y="4874040"/>
            <a:ext cx="1619280" cy="6397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3000" spc="-1" strike="noStrike">
                <a:solidFill>
                  <a:srgbClr val="000000"/>
                </a:solidFill>
                <a:latin typeface="Arial"/>
                <a:ea typeface="Arial"/>
              </a:rPr>
              <a:t>Rotor</a:t>
            </a: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311760" y="339120"/>
            <a:ext cx="8520120" cy="1017720"/>
          </a:xfrm>
          <a:prstGeom prst="rect">
            <a:avLst/>
          </a:prstGeom>
          <a:noFill/>
          <a:ln w="0">
            <a:noFill/>
          </a:ln>
        </p:spPr>
        <p:txBody>
          <a:bodyPr lIns="91440" rIns="91440" tIns="91440" bIns="91440" anchor="t">
            <a:normAutofit/>
          </a:bodyPr>
          <a:p>
            <a:pPr indent="0">
              <a:lnSpc>
                <a:spcPct val="100000"/>
              </a:lnSpc>
              <a:buNone/>
              <a:tabLst>
                <a:tab algn="l" pos="0"/>
              </a:tabLst>
            </a:pPr>
            <a:r>
              <a:rPr b="0" lang="en-US" sz="4400" spc="-1" strike="noStrike">
                <a:solidFill>
                  <a:schemeClr val="dk1"/>
                </a:solidFill>
                <a:latin typeface="Calibri"/>
                <a:ea typeface="Calibri"/>
              </a:rPr>
              <a:t>DC motor </a:t>
            </a:r>
            <a:endParaRPr b="0" lang="en-US" sz="4400" spc="-1" strike="noStrike">
              <a:solidFill>
                <a:srgbClr val="000000"/>
              </a:solidFill>
              <a:latin typeface="Arial"/>
            </a:endParaRPr>
          </a:p>
        </p:txBody>
      </p:sp>
      <p:pic>
        <p:nvPicPr>
          <p:cNvPr id="119" name="Google Shape;211;p35" descr=""/>
          <p:cNvPicPr/>
          <p:nvPr/>
        </p:nvPicPr>
        <p:blipFill>
          <a:blip r:embed="rId1"/>
          <a:stretch/>
        </p:blipFill>
        <p:spPr>
          <a:xfrm>
            <a:off x="311760" y="1356840"/>
            <a:ext cx="4388760" cy="3547800"/>
          </a:xfrm>
          <a:prstGeom prst="rect">
            <a:avLst/>
          </a:prstGeom>
          <a:ln w="0">
            <a:noFill/>
          </a:ln>
        </p:spPr>
      </p:pic>
      <p:sp>
        <p:nvSpPr>
          <p:cNvPr id="120" name="Google Shape;212;p35"/>
          <p:cNvSpPr/>
          <p:nvPr/>
        </p:nvSpPr>
        <p:spPr>
          <a:xfrm>
            <a:off x="124920" y="6230880"/>
            <a:ext cx="5046480" cy="39600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1400" spc="-1" strike="noStrike">
                <a:solidFill>
                  <a:srgbClr val="000000"/>
                </a:solidFill>
                <a:latin typeface="Arial"/>
                <a:ea typeface="Arial"/>
              </a:rPr>
              <a:t>Working  mechanism: </a:t>
            </a:r>
            <a:r>
              <a:rPr b="0" lang="en-US" sz="1400" spc="-1" strike="noStrike" u="sng">
                <a:solidFill>
                  <a:schemeClr val="hlink"/>
                </a:solidFill>
                <a:uFillTx/>
                <a:latin typeface="Arial"/>
                <a:ea typeface="Arial"/>
                <a:hlinkClick r:id="rId2"/>
              </a:rPr>
              <a:t>https://youtu.be/LAtPHANEfQo</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311760" y="339120"/>
            <a:ext cx="8520120" cy="1017720"/>
          </a:xfrm>
          <a:prstGeom prst="rect">
            <a:avLst/>
          </a:prstGeom>
          <a:noFill/>
          <a:ln w="0">
            <a:noFill/>
          </a:ln>
        </p:spPr>
        <p:txBody>
          <a:bodyPr lIns="91440" rIns="91440" tIns="91440" bIns="91440" anchor="t">
            <a:normAutofit/>
          </a:bodyPr>
          <a:p>
            <a:pPr indent="0">
              <a:lnSpc>
                <a:spcPct val="100000"/>
              </a:lnSpc>
              <a:buNone/>
              <a:tabLst>
                <a:tab algn="l" pos="0"/>
              </a:tabLst>
            </a:pPr>
            <a:r>
              <a:rPr b="0" lang="en-US" sz="4400" spc="-1" strike="noStrike">
                <a:solidFill>
                  <a:schemeClr val="dk1"/>
                </a:solidFill>
                <a:latin typeface="Calibri"/>
                <a:ea typeface="Calibri"/>
              </a:rPr>
              <a:t>DC motor </a:t>
            </a:r>
            <a:endParaRPr b="0" lang="en-US" sz="4400" spc="-1" strike="noStrike">
              <a:solidFill>
                <a:srgbClr val="000000"/>
              </a:solidFill>
              <a:latin typeface="Arial"/>
            </a:endParaRPr>
          </a:p>
        </p:txBody>
      </p:sp>
      <p:pic>
        <p:nvPicPr>
          <p:cNvPr id="122" name="Google Shape;218;p36" descr=""/>
          <p:cNvPicPr/>
          <p:nvPr/>
        </p:nvPicPr>
        <p:blipFill>
          <a:blip r:embed="rId1"/>
          <a:stretch/>
        </p:blipFill>
        <p:spPr>
          <a:xfrm>
            <a:off x="311760" y="1356840"/>
            <a:ext cx="4388760" cy="3547800"/>
          </a:xfrm>
          <a:prstGeom prst="rect">
            <a:avLst/>
          </a:prstGeom>
          <a:ln w="0">
            <a:noFill/>
          </a:ln>
        </p:spPr>
      </p:pic>
      <p:pic>
        <p:nvPicPr>
          <p:cNvPr id="123" name="Google Shape;219;p36" descr=""/>
          <p:cNvPicPr/>
          <p:nvPr/>
        </p:nvPicPr>
        <p:blipFill>
          <a:blip r:embed="rId2"/>
          <a:stretch/>
        </p:blipFill>
        <p:spPr>
          <a:xfrm>
            <a:off x="4853160" y="1560240"/>
            <a:ext cx="4138200" cy="2383560"/>
          </a:xfrm>
          <a:prstGeom prst="rect">
            <a:avLst/>
          </a:prstGeom>
          <a:ln w="0">
            <a:noFill/>
          </a:ln>
        </p:spPr>
      </p:pic>
      <p:sp>
        <p:nvSpPr>
          <p:cNvPr id="124" name="Google Shape;220;p36"/>
          <p:cNvSpPr/>
          <p:nvPr/>
        </p:nvSpPr>
        <p:spPr>
          <a:xfrm>
            <a:off x="344880" y="5046840"/>
            <a:ext cx="8453880" cy="1401120"/>
          </a:xfrm>
          <a:prstGeom prst="rect">
            <a:avLst/>
          </a:prstGeom>
          <a:noFill/>
          <a:ln w="0">
            <a:noFill/>
          </a:ln>
        </p:spPr>
        <p:style>
          <a:lnRef idx="0"/>
          <a:fillRef idx="0"/>
          <a:effectRef idx="0"/>
          <a:fontRef idx="minor"/>
        </p:style>
        <p:txBody>
          <a:bodyPr tIns="91440" bIns="91440" anchor="t">
            <a:spAutoFit/>
          </a:bodyPr>
          <a:p>
            <a:pPr algn="just">
              <a:lnSpc>
                <a:spcPct val="100000"/>
              </a:lnSpc>
              <a:tabLst>
                <a:tab algn="l" pos="0"/>
              </a:tabLst>
            </a:pPr>
            <a:r>
              <a:rPr b="0" lang="en-US" sz="1600" spc="-1" strike="noStrike">
                <a:solidFill>
                  <a:srgbClr val="000000"/>
                </a:solidFill>
                <a:latin typeface="Arial"/>
                <a:ea typeface="Arial"/>
              </a:rPr>
              <a:t>A DC motor works by converting electrical energy into </a:t>
            </a:r>
            <a:r>
              <a:rPr b="1" lang="en-US" sz="1600" spc="-1" strike="noStrike">
                <a:solidFill>
                  <a:srgbClr val="000000"/>
                </a:solidFill>
                <a:latin typeface="Arial"/>
                <a:ea typeface="Arial"/>
              </a:rPr>
              <a:t>mechanical rotation through electromagnetic interaction</a:t>
            </a:r>
            <a:r>
              <a:rPr b="0" lang="en-US" sz="1600" spc="-1" strike="noStrike">
                <a:solidFill>
                  <a:srgbClr val="000000"/>
                </a:solidFill>
                <a:latin typeface="Arial"/>
                <a:ea typeface="Arial"/>
              </a:rPr>
              <a:t>. When current flows through the armature winding, it creates a magnetic field that interacts with the stator field, producing torque. A commutator is used to maintain continuous rotation by reversing current direction. Speed control is typically achieved by varying the supply voltage.</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311760" y="217800"/>
            <a:ext cx="8520120" cy="1017720"/>
          </a:xfrm>
          <a:prstGeom prst="rect">
            <a:avLst/>
          </a:prstGeom>
          <a:noFill/>
          <a:ln w="0">
            <a:noFill/>
          </a:ln>
        </p:spPr>
        <p:txBody>
          <a:bodyPr lIns="91440" rIns="91440" tIns="91440" bIns="91440" anchor="t">
            <a:normAutofit/>
          </a:bodyPr>
          <a:p>
            <a:pPr indent="0">
              <a:lnSpc>
                <a:spcPct val="100000"/>
              </a:lnSpc>
              <a:buNone/>
              <a:tabLst>
                <a:tab algn="l" pos="0"/>
              </a:tabLst>
            </a:pPr>
            <a:r>
              <a:rPr b="0" lang="en-US" sz="4400" spc="-1" strike="noStrike">
                <a:solidFill>
                  <a:schemeClr val="dk1"/>
                </a:solidFill>
                <a:latin typeface="Calibri"/>
                <a:ea typeface="Calibri"/>
              </a:rPr>
              <a:t>Stepper Motor </a:t>
            </a:r>
            <a:endParaRPr b="0" lang="en-US" sz="4400" spc="-1" strike="noStrike">
              <a:solidFill>
                <a:srgbClr val="000000"/>
              </a:solidFill>
              <a:latin typeface="Arial"/>
            </a:endParaRPr>
          </a:p>
        </p:txBody>
      </p:sp>
      <p:pic>
        <p:nvPicPr>
          <p:cNvPr id="126" name="Google Shape;226;p37" descr=""/>
          <p:cNvPicPr/>
          <p:nvPr/>
        </p:nvPicPr>
        <p:blipFill>
          <a:blip r:embed="rId1"/>
          <a:stretch/>
        </p:blipFill>
        <p:spPr>
          <a:xfrm>
            <a:off x="311760" y="1536480"/>
            <a:ext cx="3987720" cy="3188880"/>
          </a:xfrm>
          <a:prstGeom prst="rect">
            <a:avLst/>
          </a:prstGeom>
          <a:ln w="0">
            <a:noFill/>
          </a:ln>
        </p:spPr>
      </p:pic>
      <p:sp>
        <p:nvSpPr>
          <p:cNvPr id="127" name="Google Shape;227;p37"/>
          <p:cNvSpPr/>
          <p:nvPr/>
        </p:nvSpPr>
        <p:spPr>
          <a:xfrm>
            <a:off x="417600" y="6197040"/>
            <a:ext cx="5008680" cy="39600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1400" spc="-1" strike="noStrike">
                <a:solidFill>
                  <a:srgbClr val="000000"/>
                </a:solidFill>
                <a:latin typeface="Arial"/>
                <a:ea typeface="Arial"/>
              </a:rPr>
              <a:t>Working mechanism: </a:t>
            </a:r>
            <a:r>
              <a:rPr b="0" lang="en-US" sz="1400" spc="-1" strike="noStrike" u="sng">
                <a:solidFill>
                  <a:schemeClr val="hlink"/>
                </a:solidFill>
                <a:uFillTx/>
                <a:latin typeface="Arial"/>
                <a:ea typeface="Arial"/>
                <a:hlinkClick r:id="rId2"/>
              </a:rPr>
              <a:t>https://youtu.be/eyqwLiowZiU</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270720" y="197640"/>
            <a:ext cx="8520120" cy="1017720"/>
          </a:xfrm>
          <a:prstGeom prst="rect">
            <a:avLst/>
          </a:prstGeom>
          <a:noFill/>
          <a:ln w="0">
            <a:noFill/>
          </a:ln>
        </p:spPr>
        <p:txBody>
          <a:bodyPr lIns="91440" rIns="91440" tIns="91440" bIns="91440" anchor="t">
            <a:normAutofit/>
          </a:bodyPr>
          <a:p>
            <a:pPr indent="0">
              <a:lnSpc>
                <a:spcPct val="100000"/>
              </a:lnSpc>
              <a:buNone/>
              <a:tabLst>
                <a:tab algn="l" pos="0"/>
              </a:tabLst>
            </a:pPr>
            <a:r>
              <a:rPr b="0" lang="en-US" sz="4400" spc="-1" strike="noStrike">
                <a:solidFill>
                  <a:schemeClr val="dk1"/>
                </a:solidFill>
                <a:latin typeface="Calibri"/>
                <a:ea typeface="Calibri"/>
              </a:rPr>
              <a:t>Stepper Motor </a:t>
            </a:r>
            <a:endParaRPr b="0" lang="en-US" sz="4400" spc="-1" strike="noStrike">
              <a:solidFill>
                <a:srgbClr val="000000"/>
              </a:solidFill>
              <a:latin typeface="Arial"/>
            </a:endParaRPr>
          </a:p>
        </p:txBody>
      </p:sp>
      <p:pic>
        <p:nvPicPr>
          <p:cNvPr id="129" name="Google Shape;233;p38" descr=""/>
          <p:cNvPicPr/>
          <p:nvPr/>
        </p:nvPicPr>
        <p:blipFill>
          <a:blip r:embed="rId1"/>
          <a:stretch/>
        </p:blipFill>
        <p:spPr>
          <a:xfrm>
            <a:off x="311760" y="1536480"/>
            <a:ext cx="3987720" cy="3188880"/>
          </a:xfrm>
          <a:prstGeom prst="rect">
            <a:avLst/>
          </a:prstGeom>
          <a:ln w="0">
            <a:noFill/>
          </a:ln>
        </p:spPr>
      </p:pic>
      <p:pic>
        <p:nvPicPr>
          <p:cNvPr id="130" name="Google Shape;234;p38" descr=""/>
          <p:cNvPicPr/>
          <p:nvPr/>
        </p:nvPicPr>
        <p:blipFill>
          <a:blip r:embed="rId2"/>
          <a:stretch/>
        </p:blipFill>
        <p:spPr>
          <a:xfrm>
            <a:off x="4975200" y="1215720"/>
            <a:ext cx="3307320" cy="3319560"/>
          </a:xfrm>
          <a:prstGeom prst="rect">
            <a:avLst/>
          </a:prstGeom>
          <a:ln w="0">
            <a:noFill/>
          </a:ln>
        </p:spPr>
      </p:pic>
      <p:sp>
        <p:nvSpPr>
          <p:cNvPr id="131" name="Google Shape;235;p38"/>
          <p:cNvSpPr/>
          <p:nvPr/>
        </p:nvSpPr>
        <p:spPr>
          <a:xfrm>
            <a:off x="526680" y="5046840"/>
            <a:ext cx="8090640" cy="1401120"/>
          </a:xfrm>
          <a:prstGeom prst="rect">
            <a:avLst/>
          </a:prstGeom>
          <a:noFill/>
          <a:ln w="0">
            <a:noFill/>
          </a:ln>
        </p:spPr>
        <p:style>
          <a:lnRef idx="0"/>
          <a:fillRef idx="0"/>
          <a:effectRef idx="0"/>
          <a:fontRef idx="minor"/>
        </p:style>
        <p:txBody>
          <a:bodyPr tIns="91440" bIns="91440" anchor="t">
            <a:spAutoFit/>
          </a:bodyPr>
          <a:p>
            <a:pPr algn="just">
              <a:lnSpc>
                <a:spcPct val="100000"/>
              </a:lnSpc>
              <a:tabLst>
                <a:tab algn="l" pos="0"/>
              </a:tabLst>
            </a:pPr>
            <a:r>
              <a:rPr b="0" lang="en-US" sz="1600" spc="-1" strike="noStrike">
                <a:solidFill>
                  <a:srgbClr val="000000"/>
                </a:solidFill>
                <a:latin typeface="Arial"/>
                <a:ea typeface="Arial"/>
              </a:rPr>
              <a:t>A stepper motor operates by dividing a full rotation into a </a:t>
            </a:r>
            <a:r>
              <a:rPr b="1" lang="en-US" sz="1600" spc="-1" strike="noStrike">
                <a:solidFill>
                  <a:srgbClr val="000000"/>
                </a:solidFill>
                <a:latin typeface="Arial"/>
                <a:ea typeface="Arial"/>
              </a:rPr>
              <a:t>series of equal, discrete steps</a:t>
            </a:r>
            <a:r>
              <a:rPr b="0" lang="en-US" sz="1600" spc="-1" strike="noStrike">
                <a:solidFill>
                  <a:srgbClr val="000000"/>
                </a:solidFill>
                <a:latin typeface="Arial"/>
                <a:ea typeface="Arial"/>
              </a:rPr>
              <a:t>. Sequential energizing of stator windings creates a rotating magnetic field that moves the rotor step by step. Each input pulse corresponds to a fixed angular movement, enabling precise position control. Stepper motors can hold their position without feedback when energized.</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311760" y="791280"/>
            <a:ext cx="8520120" cy="1017720"/>
          </a:xfrm>
          <a:prstGeom prst="rect">
            <a:avLst/>
          </a:prstGeom>
          <a:noFill/>
          <a:ln w="0">
            <a:noFill/>
          </a:ln>
        </p:spPr>
        <p:txBody>
          <a:bodyPr lIns="91440" rIns="91440" tIns="91440" bIns="91440" anchor="t">
            <a:normAutofit/>
          </a:bodyPr>
          <a:p>
            <a:pPr indent="0">
              <a:lnSpc>
                <a:spcPct val="100000"/>
              </a:lnSpc>
              <a:buNone/>
              <a:tabLst>
                <a:tab algn="l" pos="0"/>
              </a:tabLst>
            </a:pPr>
            <a:r>
              <a:rPr b="0" lang="en-US" sz="4400" spc="-1" strike="noStrike">
                <a:solidFill>
                  <a:schemeClr val="dk1"/>
                </a:solidFill>
                <a:latin typeface="Calibri"/>
                <a:ea typeface="Calibri"/>
              </a:rPr>
              <a:t>Servo Motor </a:t>
            </a:r>
            <a:endParaRPr b="0" lang="en-US" sz="4400" spc="-1" strike="noStrike">
              <a:solidFill>
                <a:srgbClr val="000000"/>
              </a:solidFill>
              <a:latin typeface="Arial"/>
            </a:endParaRPr>
          </a:p>
        </p:txBody>
      </p:sp>
      <p:pic>
        <p:nvPicPr>
          <p:cNvPr id="133" name="Google Shape;241;p39" descr=""/>
          <p:cNvPicPr/>
          <p:nvPr/>
        </p:nvPicPr>
        <p:blipFill>
          <a:blip r:embed="rId1"/>
          <a:stretch/>
        </p:blipFill>
        <p:spPr>
          <a:xfrm>
            <a:off x="1717560" y="1506960"/>
            <a:ext cx="6183360" cy="447264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311760" y="791280"/>
            <a:ext cx="8520120" cy="1017720"/>
          </a:xfrm>
          <a:prstGeom prst="rect">
            <a:avLst/>
          </a:prstGeom>
          <a:noFill/>
          <a:ln w="0">
            <a:noFill/>
          </a:ln>
        </p:spPr>
        <p:txBody>
          <a:bodyPr lIns="91440" rIns="91440" tIns="91440" bIns="91440" anchor="t">
            <a:normAutofit/>
          </a:bodyPr>
          <a:p>
            <a:pPr indent="0">
              <a:lnSpc>
                <a:spcPct val="100000"/>
              </a:lnSpc>
              <a:buNone/>
              <a:tabLst>
                <a:tab algn="l" pos="0"/>
              </a:tabLst>
            </a:pPr>
            <a:r>
              <a:rPr b="0" lang="en-US" sz="4400" spc="-1" strike="noStrike">
                <a:solidFill>
                  <a:schemeClr val="dk1"/>
                </a:solidFill>
                <a:latin typeface="Calibri"/>
                <a:ea typeface="Calibri"/>
              </a:rPr>
              <a:t>Servo Motor </a:t>
            </a:r>
            <a:endParaRPr b="0" lang="en-US" sz="4400" spc="-1" strike="noStrike">
              <a:solidFill>
                <a:srgbClr val="000000"/>
              </a:solidFill>
              <a:latin typeface="Arial"/>
            </a:endParaRPr>
          </a:p>
        </p:txBody>
      </p:sp>
      <p:pic>
        <p:nvPicPr>
          <p:cNvPr id="135" name="Google Shape;247;p40" descr=""/>
          <p:cNvPicPr/>
          <p:nvPr/>
        </p:nvPicPr>
        <p:blipFill>
          <a:blip r:embed="rId1"/>
          <a:stretch/>
        </p:blipFill>
        <p:spPr>
          <a:xfrm>
            <a:off x="2038680" y="1741320"/>
            <a:ext cx="5066280" cy="3375360"/>
          </a:xfrm>
          <a:prstGeom prst="rect">
            <a:avLst/>
          </a:prstGeom>
          <a:ln w="0">
            <a:noFill/>
          </a:ln>
        </p:spPr>
      </p:pic>
      <p:sp>
        <p:nvSpPr>
          <p:cNvPr id="136" name="Google Shape;248;p40"/>
          <p:cNvSpPr/>
          <p:nvPr/>
        </p:nvSpPr>
        <p:spPr>
          <a:xfrm>
            <a:off x="467640" y="5197680"/>
            <a:ext cx="8208720" cy="1401120"/>
          </a:xfrm>
          <a:prstGeom prst="rect">
            <a:avLst/>
          </a:prstGeom>
          <a:noFill/>
          <a:ln w="0">
            <a:noFill/>
          </a:ln>
        </p:spPr>
        <p:style>
          <a:lnRef idx="0"/>
          <a:fillRef idx="0"/>
          <a:effectRef idx="0"/>
          <a:fontRef idx="minor"/>
        </p:style>
        <p:txBody>
          <a:bodyPr tIns="91440" bIns="91440" anchor="t">
            <a:spAutoFit/>
          </a:bodyPr>
          <a:p>
            <a:pPr algn="just">
              <a:lnSpc>
                <a:spcPct val="100000"/>
              </a:lnSpc>
              <a:tabLst>
                <a:tab algn="l" pos="0"/>
              </a:tabLst>
            </a:pPr>
            <a:r>
              <a:rPr b="0" lang="en-US" sz="1600" spc="-1" strike="noStrike">
                <a:solidFill>
                  <a:srgbClr val="000000"/>
                </a:solidFill>
                <a:latin typeface="Arial"/>
                <a:ea typeface="Arial"/>
              </a:rPr>
              <a:t>A servo motor works using a </a:t>
            </a:r>
            <a:r>
              <a:rPr b="1" lang="en-US" sz="1600" spc="-1" strike="noStrike">
                <a:solidFill>
                  <a:srgbClr val="000000"/>
                </a:solidFill>
                <a:latin typeface="Arial"/>
                <a:ea typeface="Arial"/>
              </a:rPr>
              <a:t>closed-loop control system with feedback</a:t>
            </a:r>
            <a:r>
              <a:rPr b="0" lang="en-US" sz="1600" spc="-1" strike="noStrike">
                <a:solidFill>
                  <a:srgbClr val="000000"/>
                </a:solidFill>
                <a:latin typeface="Arial"/>
                <a:ea typeface="Arial"/>
              </a:rPr>
              <a:t> from a potentiometer. The controller compares the desired position with the actual position and adjusts the motor accordingly. This allows high precision and accuracy in position, speed, and torque control. Servo motors are widely used in robotics and automation where precision is critical.</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7" name="Google Shape;253;p41" descr="E:\Arif\Summer2020\CSE461\Lectures\intro pics\Robotics and Embedded Systems-46.jpg"/>
          <p:cNvPicPr/>
          <p:nvPr/>
        </p:nvPicPr>
        <p:blipFill>
          <a:blip r:embed="rId1"/>
          <a:stretch/>
        </p:blipFill>
        <p:spPr>
          <a:xfrm>
            <a:off x="0" y="0"/>
            <a:ext cx="9143640" cy="685764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algn="ctr">
              <a:lnSpc>
                <a:spcPct val="100000"/>
              </a:lnSpc>
              <a:buNone/>
              <a:tabLst>
                <a:tab algn="l" pos="0"/>
              </a:tabLst>
            </a:pPr>
            <a:r>
              <a:rPr b="0" lang="en-US" sz="4400" spc="-1" strike="noStrike">
                <a:solidFill>
                  <a:schemeClr val="dk1"/>
                </a:solidFill>
                <a:latin typeface="Calibri"/>
                <a:ea typeface="Calibri"/>
              </a:rPr>
              <a:t>Control Hardware</a:t>
            </a:r>
            <a:endParaRPr b="0" lang="en-US" sz="4400" spc="-1" strike="noStrike">
              <a:solidFill>
                <a:srgbClr val="000000"/>
              </a:solidFill>
              <a:latin typeface="Arial"/>
            </a:endParaRPr>
          </a:p>
        </p:txBody>
      </p:sp>
      <p:sp>
        <p:nvSpPr>
          <p:cNvPr id="139" name="PlaceHolder 2"/>
          <p:cNvSpPr>
            <a:spLocks noGrp="1"/>
          </p:cNvSpPr>
          <p:nvPr>
            <p:ph/>
          </p:nvPr>
        </p:nvSpPr>
        <p:spPr>
          <a:xfrm>
            <a:off x="457200" y="1600200"/>
            <a:ext cx="8229240" cy="4525560"/>
          </a:xfrm>
          <a:prstGeom prst="rect">
            <a:avLst/>
          </a:prstGeom>
          <a:noFill/>
          <a:ln w="0">
            <a:noFill/>
          </a:ln>
        </p:spPr>
        <p:txBody>
          <a:bodyPr lIns="91440" rIns="91440" tIns="45720" bIns="45720" anchor="t">
            <a:normAutofit/>
          </a:bodyPr>
          <a:p>
            <a:pPr marL="457200" indent="-343080">
              <a:lnSpc>
                <a:spcPct val="100000"/>
              </a:lnSpc>
              <a:spcBef>
                <a:spcPts val="360"/>
              </a:spcBef>
              <a:buClr>
                <a:srgbClr val="000000"/>
              </a:buClr>
              <a:buFont typeface="Arial"/>
              <a:buChar char="•"/>
            </a:pPr>
            <a:r>
              <a:rPr b="0" lang="en-US" sz="3200" spc="-1" strike="noStrike">
                <a:solidFill>
                  <a:schemeClr val="dk1"/>
                </a:solidFill>
                <a:latin typeface="Calibri"/>
                <a:ea typeface="Calibri"/>
              </a:rPr>
              <a:t>Microcontrollers</a:t>
            </a:r>
            <a:endParaRPr b="0" lang="en-US" sz="3200" spc="-1" strike="noStrike">
              <a:solidFill>
                <a:srgbClr val="000000"/>
              </a:solidFill>
              <a:latin typeface="Arial"/>
            </a:endParaRPr>
          </a:p>
          <a:p>
            <a:pPr marL="457200" indent="-343080">
              <a:lnSpc>
                <a:spcPct val="100000"/>
              </a:lnSpc>
              <a:spcBef>
                <a:spcPts val="360"/>
              </a:spcBef>
              <a:buClr>
                <a:srgbClr val="000000"/>
              </a:buClr>
              <a:buFont typeface="Arial"/>
              <a:buChar char="•"/>
            </a:pPr>
            <a:r>
              <a:rPr b="0" lang="en-US" sz="3200" spc="-1" strike="noStrike">
                <a:solidFill>
                  <a:schemeClr val="dk1"/>
                </a:solidFill>
                <a:latin typeface="Calibri"/>
                <a:ea typeface="Calibri"/>
              </a:rPr>
              <a:t>Arduino</a:t>
            </a:r>
            <a:endParaRPr b="0" lang="en-US" sz="3200" spc="-1" strike="noStrike">
              <a:solidFill>
                <a:srgbClr val="000000"/>
              </a:solidFill>
              <a:latin typeface="Arial"/>
            </a:endParaRPr>
          </a:p>
          <a:p>
            <a:pPr marL="457200" indent="-343080">
              <a:lnSpc>
                <a:spcPct val="100000"/>
              </a:lnSpc>
              <a:spcBef>
                <a:spcPts val="360"/>
              </a:spcBef>
              <a:buClr>
                <a:srgbClr val="000000"/>
              </a:buClr>
              <a:buFont typeface="Arial"/>
              <a:buChar char="•"/>
            </a:pPr>
            <a:r>
              <a:rPr b="0" lang="en-US" sz="3200" spc="-1" strike="noStrike">
                <a:solidFill>
                  <a:schemeClr val="dk1"/>
                </a:solidFill>
                <a:latin typeface="Calibri"/>
                <a:ea typeface="Calibri"/>
              </a:rPr>
              <a:t>PLC</a:t>
            </a:r>
            <a:endParaRPr b="0" lang="en-US" sz="3200" spc="-1" strike="noStrike">
              <a:solidFill>
                <a:srgbClr val="000000"/>
              </a:solidFill>
              <a:latin typeface="Arial"/>
            </a:endParaRPr>
          </a:p>
          <a:p>
            <a:pPr marL="457200" indent="-343080">
              <a:lnSpc>
                <a:spcPct val="100000"/>
              </a:lnSpc>
              <a:spcBef>
                <a:spcPts val="360"/>
              </a:spcBef>
              <a:buClr>
                <a:srgbClr val="000000"/>
              </a:buClr>
              <a:buFont typeface="Arial"/>
              <a:buChar char="•"/>
            </a:pPr>
            <a:r>
              <a:rPr b="0" lang="en-US" sz="3200" spc="-1" strike="noStrike">
                <a:solidFill>
                  <a:schemeClr val="dk1"/>
                </a:solidFill>
                <a:latin typeface="Calibri"/>
                <a:ea typeface="Calibri"/>
              </a:rPr>
              <a:t>FPGA</a:t>
            </a:r>
            <a:endParaRPr b="0" lang="en-US" sz="3200" spc="-1" strike="noStrike">
              <a:solidFill>
                <a:srgbClr val="000000"/>
              </a:solidFill>
              <a:latin typeface="Arial"/>
            </a:endParaRPr>
          </a:p>
          <a:p>
            <a:pPr marL="457200" indent="-343080">
              <a:lnSpc>
                <a:spcPct val="100000"/>
              </a:lnSpc>
              <a:spcBef>
                <a:spcPts val="360"/>
              </a:spcBef>
              <a:buClr>
                <a:srgbClr val="000000"/>
              </a:buClr>
              <a:buFont typeface="Arial"/>
              <a:buChar char="•"/>
            </a:pPr>
            <a:r>
              <a:rPr b="0" lang="en-US" sz="3200" spc="-1" strike="noStrike">
                <a:solidFill>
                  <a:schemeClr val="dk1"/>
                </a:solidFill>
                <a:latin typeface="Calibri"/>
                <a:ea typeface="Calibri"/>
              </a:rPr>
              <a:t>Single Board Computer</a:t>
            </a:r>
            <a:endParaRPr b="0" lang="en-US" sz="3200" spc="-1" strike="noStrike">
              <a:solidFill>
                <a:srgbClr val="000000"/>
              </a:solidFill>
              <a:latin typeface="Arial"/>
            </a:endParaRPr>
          </a:p>
          <a:p>
            <a:pPr marL="457200" indent="-343080">
              <a:lnSpc>
                <a:spcPct val="100000"/>
              </a:lnSpc>
              <a:spcBef>
                <a:spcPts val="360"/>
              </a:spcBef>
              <a:buClr>
                <a:srgbClr val="000000"/>
              </a:buClr>
              <a:buFont typeface="Arial"/>
              <a:buChar char="•"/>
            </a:pPr>
            <a:r>
              <a:rPr b="0" lang="en-US" sz="3200" spc="-1" strike="noStrike">
                <a:solidFill>
                  <a:schemeClr val="dk1"/>
                </a:solidFill>
                <a:latin typeface="Calibri"/>
                <a:ea typeface="Calibri"/>
              </a:rPr>
              <a:t>Portable PCs</a:t>
            </a:r>
            <a:endParaRPr b="0" lang="en-US" sz="3200" spc="-1" strike="noStrike">
              <a:solidFill>
                <a:srgbClr val="000000"/>
              </a:solidFill>
              <a:latin typeface="Arial"/>
            </a:endParaRPr>
          </a:p>
          <a:p>
            <a:pPr marL="457200" indent="-343080">
              <a:lnSpc>
                <a:spcPct val="100000"/>
              </a:lnSpc>
              <a:spcBef>
                <a:spcPts val="360"/>
              </a:spcBef>
              <a:buClr>
                <a:srgbClr val="000000"/>
              </a:buClr>
              <a:buFont typeface="Arial"/>
              <a:buChar char="•"/>
            </a:pPr>
            <a:r>
              <a:rPr b="0" lang="en-US" sz="3200" spc="-1" strike="noStrike">
                <a:solidFill>
                  <a:schemeClr val="dk1"/>
                </a:solidFill>
                <a:latin typeface="Calibri"/>
                <a:ea typeface="Calibri"/>
              </a:rPr>
              <a:t>Cloud Computing System</a:t>
            </a:r>
            <a:endParaRPr b="0" lang="en-US" sz="3200" spc="-1" strike="noStrike">
              <a:solidFill>
                <a:srgbClr val="000000"/>
              </a:solidFill>
              <a:latin typeface="Arial"/>
            </a:endParaRPr>
          </a:p>
          <a:p>
            <a:pPr marL="457200" indent="-228600">
              <a:lnSpc>
                <a:spcPct val="100000"/>
              </a:lnSpc>
              <a:spcBef>
                <a:spcPts val="360"/>
              </a:spcBef>
              <a:buNone/>
              <a:tabLst>
                <a:tab algn="l" pos="0"/>
              </a:tabLst>
            </a:pPr>
            <a:endParaRPr b="0" lang="en-US" sz="3200" spc="-1" strike="noStrike">
              <a:solidFill>
                <a:srgbClr val="000000"/>
              </a:solidFill>
              <a:latin typeface="Arial"/>
            </a:endParaRPr>
          </a:p>
          <a:p>
            <a:pPr marL="457200" indent="-228600">
              <a:lnSpc>
                <a:spcPct val="100000"/>
              </a:lnSpc>
              <a:spcBef>
                <a:spcPts val="360"/>
              </a:spcBef>
              <a:buNone/>
              <a:tabLst>
                <a:tab algn="l" pos="0"/>
              </a:tabLst>
            </a:pP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457200" y="205920"/>
            <a:ext cx="8229240" cy="857520"/>
          </a:xfrm>
          <a:prstGeom prst="rect">
            <a:avLst/>
          </a:prstGeom>
          <a:noFill/>
          <a:ln w="0">
            <a:noFill/>
          </a:ln>
        </p:spPr>
        <p:txBody>
          <a:bodyPr lIns="91440" rIns="91440" tIns="45720" bIns="45720" anchor="ctr">
            <a:normAutofit/>
          </a:bodyPr>
          <a:p>
            <a:pPr indent="0" algn="ctr">
              <a:lnSpc>
                <a:spcPct val="100000"/>
              </a:lnSpc>
              <a:buNone/>
              <a:tabLst>
                <a:tab algn="l" pos="0"/>
              </a:tabLst>
            </a:pPr>
            <a:r>
              <a:rPr b="0" lang="en-US" sz="4400" spc="-1" strike="noStrike">
                <a:solidFill>
                  <a:schemeClr val="dk1"/>
                </a:solidFill>
                <a:latin typeface="Calibri"/>
                <a:ea typeface="Calibri"/>
              </a:rPr>
              <a:t>Microcontrollers</a:t>
            </a:r>
            <a:endParaRPr b="0" lang="en-US" sz="4400" spc="-1" strike="noStrike">
              <a:solidFill>
                <a:srgbClr val="000000"/>
              </a:solidFill>
              <a:latin typeface="Arial"/>
            </a:endParaRPr>
          </a:p>
        </p:txBody>
      </p:sp>
      <p:pic>
        <p:nvPicPr>
          <p:cNvPr id="141" name="Google Shape;272;p44" descr=""/>
          <p:cNvPicPr/>
          <p:nvPr/>
        </p:nvPicPr>
        <p:blipFill>
          <a:blip r:embed="rId1"/>
          <a:stretch/>
        </p:blipFill>
        <p:spPr>
          <a:xfrm>
            <a:off x="457200" y="3189960"/>
            <a:ext cx="4038120" cy="2704320"/>
          </a:xfrm>
          <a:prstGeom prst="rect">
            <a:avLst/>
          </a:prstGeom>
          <a:ln w="0">
            <a:noFill/>
          </a:ln>
        </p:spPr>
      </p:pic>
      <p:pic>
        <p:nvPicPr>
          <p:cNvPr id="142" name="Google Shape;273;p44" descr=""/>
          <p:cNvPicPr/>
          <p:nvPr/>
        </p:nvPicPr>
        <p:blipFill>
          <a:blip r:embed="rId2"/>
          <a:stretch/>
        </p:blipFill>
        <p:spPr>
          <a:xfrm>
            <a:off x="4648320" y="3189960"/>
            <a:ext cx="4038120" cy="2704320"/>
          </a:xfrm>
          <a:prstGeom prst="rect">
            <a:avLst/>
          </a:prstGeom>
          <a:ln w="0">
            <a:noFill/>
          </a:ln>
        </p:spPr>
      </p:pic>
      <p:sp>
        <p:nvSpPr>
          <p:cNvPr id="143" name="Google Shape;274;p44"/>
          <p:cNvSpPr/>
          <p:nvPr/>
        </p:nvSpPr>
        <p:spPr>
          <a:xfrm>
            <a:off x="673560" y="1252080"/>
            <a:ext cx="7796520" cy="1516320"/>
          </a:xfrm>
          <a:prstGeom prst="rect">
            <a:avLst/>
          </a:prstGeom>
          <a:noFill/>
          <a:ln w="0">
            <a:noFill/>
          </a:ln>
        </p:spPr>
        <p:style>
          <a:lnRef idx="0"/>
          <a:fillRef idx="0"/>
          <a:effectRef idx="0"/>
          <a:fontRef idx="minor"/>
        </p:style>
        <p:txBody>
          <a:bodyPr tIns="91440" bIns="91440" anchor="t">
            <a:noAutofit/>
          </a:bodyPr>
          <a:p>
            <a:pPr algn="just">
              <a:lnSpc>
                <a:spcPct val="100000"/>
              </a:lnSpc>
              <a:tabLst>
                <a:tab algn="l" pos="0"/>
              </a:tabLst>
            </a:pPr>
            <a:r>
              <a:rPr b="0" lang="en-US" sz="2000" spc="-1" strike="noStrike">
                <a:solidFill>
                  <a:srgbClr val="000000"/>
                </a:solidFill>
                <a:latin typeface="Times New Roman"/>
                <a:ea typeface="Times New Roman"/>
              </a:rPr>
              <a:t>A microcontroller is a small, integrated circuit that contains a processor, memory, and input/output peripherals on a single chip. In robotics, it is used for low-level control tasks such as sensor reading, motor control, and real-time decision making in embedded systems.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457200" y="205920"/>
            <a:ext cx="8229240" cy="857520"/>
          </a:xfrm>
          <a:prstGeom prst="rect">
            <a:avLst/>
          </a:prstGeom>
          <a:noFill/>
          <a:ln w="0">
            <a:noFill/>
          </a:ln>
        </p:spPr>
        <p:txBody>
          <a:bodyPr lIns="91440" rIns="91440" tIns="45720" bIns="45720" anchor="ctr">
            <a:normAutofit/>
          </a:bodyPr>
          <a:p>
            <a:pPr indent="0" algn="ctr">
              <a:lnSpc>
                <a:spcPct val="100000"/>
              </a:lnSpc>
              <a:buNone/>
              <a:tabLst>
                <a:tab algn="l" pos="0"/>
              </a:tabLst>
            </a:pPr>
            <a:r>
              <a:rPr b="0" lang="en-US" sz="4400" spc="-1" strike="noStrike">
                <a:solidFill>
                  <a:schemeClr val="dk1"/>
                </a:solidFill>
                <a:latin typeface="Calibri"/>
                <a:ea typeface="Calibri"/>
              </a:rPr>
              <a:t>Arduino</a:t>
            </a:r>
            <a:endParaRPr b="0" lang="en-US" sz="4400" spc="-1" strike="noStrike">
              <a:solidFill>
                <a:srgbClr val="000000"/>
              </a:solidFill>
              <a:latin typeface="Arial"/>
            </a:endParaRPr>
          </a:p>
        </p:txBody>
      </p:sp>
      <p:pic>
        <p:nvPicPr>
          <p:cNvPr id="145" name="Google Shape;280;p45" descr=""/>
          <p:cNvPicPr/>
          <p:nvPr/>
        </p:nvPicPr>
        <p:blipFill>
          <a:blip r:embed="rId1"/>
          <a:stretch/>
        </p:blipFill>
        <p:spPr>
          <a:xfrm>
            <a:off x="6603120" y="4771080"/>
            <a:ext cx="2684520" cy="2086560"/>
          </a:xfrm>
          <a:prstGeom prst="rect">
            <a:avLst/>
          </a:prstGeom>
          <a:ln w="0">
            <a:noFill/>
          </a:ln>
        </p:spPr>
      </p:pic>
      <p:pic>
        <p:nvPicPr>
          <p:cNvPr id="146" name="Google Shape;281;p45" descr=""/>
          <p:cNvPicPr/>
          <p:nvPr/>
        </p:nvPicPr>
        <p:blipFill>
          <a:blip r:embed="rId2"/>
          <a:stretch/>
        </p:blipFill>
        <p:spPr>
          <a:xfrm>
            <a:off x="2540880" y="2796120"/>
            <a:ext cx="4061520" cy="4061520"/>
          </a:xfrm>
          <a:prstGeom prst="rect">
            <a:avLst/>
          </a:prstGeom>
          <a:ln w="0">
            <a:noFill/>
          </a:ln>
        </p:spPr>
      </p:pic>
      <p:sp>
        <p:nvSpPr>
          <p:cNvPr id="147" name="Google Shape;282;p45"/>
          <p:cNvSpPr/>
          <p:nvPr/>
        </p:nvSpPr>
        <p:spPr>
          <a:xfrm>
            <a:off x="311760" y="1301760"/>
            <a:ext cx="8520120" cy="1402200"/>
          </a:xfrm>
          <a:prstGeom prst="rect">
            <a:avLst/>
          </a:prstGeom>
          <a:noFill/>
          <a:ln w="0">
            <a:noFill/>
          </a:ln>
        </p:spPr>
        <p:style>
          <a:lnRef idx="0"/>
          <a:fillRef idx="0"/>
          <a:effectRef idx="0"/>
          <a:fontRef idx="minor"/>
        </p:style>
        <p:txBody>
          <a:bodyPr tIns="91440" bIns="91440" anchor="t">
            <a:spAutoFit/>
          </a:bodyPr>
          <a:p>
            <a:pPr algn="just">
              <a:lnSpc>
                <a:spcPct val="100000"/>
              </a:lnSpc>
              <a:tabLst>
                <a:tab algn="l" pos="0"/>
              </a:tabLst>
            </a:pPr>
            <a:r>
              <a:rPr b="0" lang="en-US" sz="2000" spc="-1" strike="noStrike">
                <a:solidFill>
                  <a:srgbClr val="000000"/>
                </a:solidFill>
                <a:latin typeface="Times New Roman"/>
                <a:ea typeface="Times New Roman"/>
              </a:rPr>
              <a:t>Arduino is an open-source microcontroller platform designed for rapid prototyping and ease of use. In robotics, it is widely used for educational robots and simple control tasks like line following, obstacle detection, and actuator control</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311760" y="444960"/>
            <a:ext cx="8520120" cy="572400"/>
          </a:xfrm>
          <a:prstGeom prst="rect">
            <a:avLst/>
          </a:prstGeom>
          <a:noFill/>
          <a:ln w="0">
            <a:noFill/>
          </a:ln>
        </p:spPr>
        <p:txBody>
          <a:bodyPr lIns="91440" rIns="91440" tIns="45720" bIns="45720" anchor="ctr">
            <a:normAutofit fontScale="71601"/>
          </a:bodyPr>
          <a:p>
            <a:pPr indent="0" algn="ctr">
              <a:lnSpc>
                <a:spcPct val="100000"/>
              </a:lnSpc>
              <a:buNone/>
              <a:tabLst>
                <a:tab algn="l" pos="0"/>
              </a:tabLst>
            </a:pPr>
            <a:r>
              <a:rPr b="0" lang="en-US" sz="4400" spc="-1" strike="noStrike">
                <a:solidFill>
                  <a:schemeClr val="dk1"/>
                </a:solidFill>
                <a:latin typeface="Calibri"/>
                <a:ea typeface="Calibri"/>
              </a:rPr>
              <a:t>Arduino</a:t>
            </a:r>
            <a:endParaRPr b="0" lang="en-US" sz="4400" spc="-1" strike="noStrike">
              <a:solidFill>
                <a:srgbClr val="000000"/>
              </a:solidFill>
              <a:latin typeface="Arial"/>
            </a:endParaRPr>
          </a:p>
        </p:txBody>
      </p:sp>
      <p:pic>
        <p:nvPicPr>
          <p:cNvPr id="149" name="Google Shape;288;p46" descr="Intro to Arduino (for absolute beginners) - klab.ca"/>
          <p:cNvPicPr/>
          <p:nvPr/>
        </p:nvPicPr>
        <p:blipFill>
          <a:blip r:embed="rId1"/>
          <a:stretch/>
        </p:blipFill>
        <p:spPr>
          <a:xfrm>
            <a:off x="923400" y="1412280"/>
            <a:ext cx="7297200" cy="498816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457200" y="205920"/>
            <a:ext cx="8229240" cy="857520"/>
          </a:xfrm>
          <a:prstGeom prst="rect">
            <a:avLst/>
          </a:prstGeom>
          <a:noFill/>
          <a:ln w="0">
            <a:noFill/>
          </a:ln>
        </p:spPr>
        <p:txBody>
          <a:bodyPr lIns="91440" rIns="91440" tIns="45720" bIns="45720" anchor="ctr">
            <a:normAutofit fontScale="95013"/>
          </a:bodyPr>
          <a:p>
            <a:pPr indent="0" algn="ctr">
              <a:lnSpc>
                <a:spcPct val="100000"/>
              </a:lnSpc>
              <a:buNone/>
              <a:tabLst>
                <a:tab algn="l" pos="0"/>
              </a:tabLst>
            </a:pPr>
            <a:r>
              <a:rPr b="0" lang="en-US" sz="4400" spc="-1" strike="noStrike">
                <a:solidFill>
                  <a:schemeClr val="dk1"/>
                </a:solidFill>
                <a:latin typeface="Calibri"/>
                <a:ea typeface="Calibri"/>
              </a:rPr>
              <a:t>Programmable Logic Controller (PLC)</a:t>
            </a:r>
            <a:endParaRPr b="0" lang="en-US" sz="4400" spc="-1" strike="noStrike">
              <a:solidFill>
                <a:srgbClr val="000000"/>
              </a:solidFill>
              <a:latin typeface="Arial"/>
            </a:endParaRPr>
          </a:p>
        </p:txBody>
      </p:sp>
      <p:pic>
        <p:nvPicPr>
          <p:cNvPr id="151" name="Google Shape;294;p47" descr=""/>
          <p:cNvPicPr/>
          <p:nvPr/>
        </p:nvPicPr>
        <p:blipFill>
          <a:blip r:embed="rId1"/>
          <a:stretch/>
        </p:blipFill>
        <p:spPr>
          <a:xfrm>
            <a:off x="4072320" y="1341000"/>
            <a:ext cx="4614120" cy="3131640"/>
          </a:xfrm>
          <a:prstGeom prst="rect">
            <a:avLst/>
          </a:prstGeom>
          <a:ln w="0">
            <a:noFill/>
          </a:ln>
        </p:spPr>
      </p:pic>
      <p:pic>
        <p:nvPicPr>
          <p:cNvPr id="152" name="Google Shape;295;p47" descr=""/>
          <p:cNvPicPr/>
          <p:nvPr/>
        </p:nvPicPr>
        <p:blipFill>
          <a:blip r:embed="rId2"/>
          <a:stretch/>
        </p:blipFill>
        <p:spPr>
          <a:xfrm>
            <a:off x="152280" y="1266840"/>
            <a:ext cx="3767040" cy="3578760"/>
          </a:xfrm>
          <a:prstGeom prst="rect">
            <a:avLst/>
          </a:prstGeom>
          <a:ln w="0">
            <a:noFill/>
          </a:ln>
        </p:spPr>
      </p:pic>
      <p:sp>
        <p:nvSpPr>
          <p:cNvPr id="153" name="Google Shape;296;p47"/>
          <p:cNvSpPr/>
          <p:nvPr/>
        </p:nvSpPr>
        <p:spPr>
          <a:xfrm>
            <a:off x="316440" y="5150520"/>
            <a:ext cx="8511120" cy="1097280"/>
          </a:xfrm>
          <a:prstGeom prst="rect">
            <a:avLst/>
          </a:prstGeom>
          <a:noFill/>
          <a:ln w="0">
            <a:noFill/>
          </a:ln>
        </p:spPr>
        <p:style>
          <a:lnRef idx="0"/>
          <a:fillRef idx="0"/>
          <a:effectRef idx="0"/>
          <a:fontRef idx="minor"/>
        </p:style>
        <p:txBody>
          <a:bodyPr tIns="91440" bIns="91440" anchor="t">
            <a:spAutoFit/>
          </a:bodyPr>
          <a:p>
            <a:pPr algn="just">
              <a:lnSpc>
                <a:spcPct val="100000"/>
              </a:lnSpc>
              <a:tabLst>
                <a:tab algn="l" pos="0"/>
              </a:tabLst>
            </a:pPr>
            <a:r>
              <a:rPr b="0" lang="en-US" sz="2000" spc="-1" strike="noStrike">
                <a:solidFill>
                  <a:srgbClr val="000000"/>
                </a:solidFill>
                <a:latin typeface="Times New Roman"/>
                <a:ea typeface="Times New Roman"/>
              </a:rPr>
              <a:t>A PLC is an industrial-grade controller designed for reliable and deterministic control. In robotics, PLCs are used in industrial automation, robotic arms, and assembly lines where robustness and real-time performance are critical</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457200" y="351000"/>
            <a:ext cx="8229240" cy="1142640"/>
          </a:xfrm>
          <a:prstGeom prst="rect">
            <a:avLst/>
          </a:prstGeom>
          <a:noFill/>
          <a:ln w="0">
            <a:noFill/>
          </a:ln>
        </p:spPr>
        <p:txBody>
          <a:bodyPr lIns="91440" rIns="91440" tIns="45720" bIns="45720" anchor="ctr">
            <a:normAutofit fontScale="96604" lnSpcReduction="20000"/>
          </a:bodyPr>
          <a:p>
            <a:pPr indent="0" algn="ctr">
              <a:lnSpc>
                <a:spcPct val="100000"/>
              </a:lnSpc>
              <a:buNone/>
              <a:tabLst>
                <a:tab algn="l" pos="0"/>
              </a:tabLst>
            </a:pPr>
            <a:r>
              <a:rPr b="0" lang="en-US" sz="4400" spc="-1" strike="noStrike">
                <a:solidFill>
                  <a:schemeClr val="dk1"/>
                </a:solidFill>
                <a:latin typeface="Calibri"/>
                <a:ea typeface="Calibri"/>
              </a:rPr>
              <a:t>Programmable Logic Controller (PLC)</a:t>
            </a:r>
            <a:endParaRPr b="0" lang="en-US" sz="4400" spc="-1" strike="noStrike">
              <a:solidFill>
                <a:srgbClr val="000000"/>
              </a:solidFill>
              <a:latin typeface="Arial"/>
            </a:endParaRPr>
          </a:p>
        </p:txBody>
      </p:sp>
      <p:pic>
        <p:nvPicPr>
          <p:cNvPr id="155" name="Google Shape;302;p48" descr=""/>
          <p:cNvPicPr/>
          <p:nvPr/>
        </p:nvPicPr>
        <p:blipFill>
          <a:blip r:embed="rId1"/>
          <a:stretch/>
        </p:blipFill>
        <p:spPr>
          <a:xfrm>
            <a:off x="228600" y="2286000"/>
            <a:ext cx="3207960" cy="3239280"/>
          </a:xfrm>
          <a:prstGeom prst="rect">
            <a:avLst/>
          </a:prstGeom>
          <a:ln w="0">
            <a:noFill/>
          </a:ln>
        </p:spPr>
      </p:pic>
      <p:pic>
        <p:nvPicPr>
          <p:cNvPr id="156" name="Google Shape;303;p48" descr=""/>
          <p:cNvPicPr/>
          <p:nvPr/>
        </p:nvPicPr>
        <p:blipFill>
          <a:blip r:embed="rId2"/>
          <a:stretch/>
        </p:blipFill>
        <p:spPr>
          <a:xfrm>
            <a:off x="3657600" y="1981080"/>
            <a:ext cx="5362560" cy="358092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457200" y="205920"/>
            <a:ext cx="8229240" cy="857520"/>
          </a:xfrm>
          <a:prstGeom prst="rect">
            <a:avLst/>
          </a:prstGeom>
          <a:noFill/>
          <a:ln w="0">
            <a:noFill/>
          </a:ln>
        </p:spPr>
        <p:txBody>
          <a:bodyPr lIns="91440" rIns="91440" tIns="45720" bIns="45720" anchor="ctr">
            <a:normAutofit/>
          </a:bodyPr>
          <a:p>
            <a:pPr indent="0" algn="ctr">
              <a:lnSpc>
                <a:spcPct val="100000"/>
              </a:lnSpc>
              <a:buNone/>
              <a:tabLst>
                <a:tab algn="l" pos="0"/>
              </a:tabLst>
            </a:pPr>
            <a:r>
              <a:rPr b="0" lang="en-US" sz="4400" spc="-1" strike="noStrike">
                <a:solidFill>
                  <a:schemeClr val="dk1"/>
                </a:solidFill>
                <a:latin typeface="Calibri"/>
                <a:ea typeface="Calibri"/>
              </a:rPr>
              <a:t>Single board Computer</a:t>
            </a:r>
            <a:endParaRPr b="0" lang="en-US" sz="4400" spc="-1" strike="noStrike">
              <a:solidFill>
                <a:srgbClr val="000000"/>
              </a:solidFill>
              <a:latin typeface="Arial"/>
            </a:endParaRPr>
          </a:p>
        </p:txBody>
      </p:sp>
      <p:pic>
        <p:nvPicPr>
          <p:cNvPr id="158" name="Google Shape;309;p49" descr=""/>
          <p:cNvPicPr/>
          <p:nvPr/>
        </p:nvPicPr>
        <p:blipFill>
          <a:blip r:embed="rId1"/>
          <a:stretch/>
        </p:blipFill>
        <p:spPr>
          <a:xfrm>
            <a:off x="457200" y="1846080"/>
            <a:ext cx="4038120" cy="2751120"/>
          </a:xfrm>
          <a:prstGeom prst="rect">
            <a:avLst/>
          </a:prstGeom>
          <a:ln w="0">
            <a:noFill/>
          </a:ln>
        </p:spPr>
      </p:pic>
      <p:pic>
        <p:nvPicPr>
          <p:cNvPr id="159" name="Google Shape;310;p49" descr=""/>
          <p:cNvPicPr/>
          <p:nvPr/>
        </p:nvPicPr>
        <p:blipFill>
          <a:blip r:embed="rId2"/>
          <a:stretch/>
        </p:blipFill>
        <p:spPr>
          <a:xfrm>
            <a:off x="4648320" y="1851840"/>
            <a:ext cx="4038120" cy="2739600"/>
          </a:xfrm>
          <a:prstGeom prst="rect">
            <a:avLst/>
          </a:prstGeom>
          <a:ln w="0">
            <a:noFill/>
          </a:ln>
        </p:spPr>
      </p:pic>
      <p:sp>
        <p:nvSpPr>
          <p:cNvPr id="160" name="Google Shape;311;p49"/>
          <p:cNvSpPr/>
          <p:nvPr/>
        </p:nvSpPr>
        <p:spPr>
          <a:xfrm>
            <a:off x="627480" y="4886280"/>
            <a:ext cx="7888320" cy="140220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US" sz="2000" spc="-1" strike="noStrike">
                <a:solidFill>
                  <a:srgbClr val="000000"/>
                </a:solidFill>
                <a:latin typeface="Times New Roman"/>
                <a:ea typeface="Times New Roman"/>
              </a:rPr>
              <a:t>An SBC is a complete computer built on a single board with an operating system. In robotics, SBCs are used for high-level tasks such as computer vision, AI inference, SLAM, and communication, often working alongside microcontrollers for low-level control.</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457200" y="205920"/>
            <a:ext cx="8229240" cy="857520"/>
          </a:xfrm>
          <a:prstGeom prst="rect">
            <a:avLst/>
          </a:prstGeom>
          <a:noFill/>
          <a:ln w="0">
            <a:noFill/>
          </a:ln>
        </p:spPr>
        <p:txBody>
          <a:bodyPr lIns="91440" rIns="91440" tIns="45720" bIns="45720" anchor="ctr">
            <a:normAutofit/>
          </a:bodyPr>
          <a:p>
            <a:pPr indent="0" algn="ctr">
              <a:lnSpc>
                <a:spcPct val="100000"/>
              </a:lnSpc>
              <a:buNone/>
              <a:tabLst>
                <a:tab algn="l" pos="0"/>
              </a:tabLst>
            </a:pPr>
            <a:r>
              <a:rPr b="0" lang="en-US" sz="4400" spc="-1" strike="noStrike">
                <a:solidFill>
                  <a:schemeClr val="dk1"/>
                </a:solidFill>
                <a:latin typeface="Calibri"/>
                <a:ea typeface="Calibri"/>
              </a:rPr>
              <a:t>Raspberry PI 4, Tinkerboard </a:t>
            </a:r>
            <a:endParaRPr b="0" lang="en-US" sz="4400" spc="-1" strike="noStrike">
              <a:solidFill>
                <a:srgbClr val="000000"/>
              </a:solidFill>
              <a:latin typeface="Arial"/>
            </a:endParaRPr>
          </a:p>
        </p:txBody>
      </p:sp>
      <p:pic>
        <p:nvPicPr>
          <p:cNvPr id="162" name="Google Shape;317;p50" descr="Amazon.com: Raspberry SC15184 Pi 4 Model B 2019 Quad Core 64 Bit WiFi  Bluetooth (2GB): Computers &amp; Accessories"/>
          <p:cNvPicPr/>
          <p:nvPr/>
        </p:nvPicPr>
        <p:blipFill>
          <a:blip r:embed="rId1"/>
          <a:stretch/>
        </p:blipFill>
        <p:spPr>
          <a:xfrm>
            <a:off x="730800" y="1393560"/>
            <a:ext cx="4038120" cy="3278160"/>
          </a:xfrm>
          <a:prstGeom prst="rect">
            <a:avLst/>
          </a:prstGeom>
          <a:ln w="0">
            <a:noFill/>
          </a:ln>
        </p:spPr>
      </p:pic>
      <p:pic>
        <p:nvPicPr>
          <p:cNvPr id="163" name="Google Shape;318;p50" descr="Buy Asus Tinker Board With Rockchip Quad-Core RK3288 processor product name  With Best Lowest Price in Dhaka,bangladesh.bd"/>
          <p:cNvPicPr/>
          <p:nvPr/>
        </p:nvPicPr>
        <p:blipFill>
          <a:blip r:embed="rId2"/>
          <a:stretch/>
        </p:blipFill>
        <p:spPr>
          <a:xfrm>
            <a:off x="5072760" y="1393560"/>
            <a:ext cx="3278160" cy="3278160"/>
          </a:xfrm>
          <a:prstGeom prst="rect">
            <a:avLst/>
          </a:prstGeom>
          <a:ln w="0">
            <a:noFill/>
          </a:ln>
        </p:spPr>
      </p:pic>
      <p:sp>
        <p:nvSpPr>
          <p:cNvPr id="164" name="Google Shape;319;p50"/>
          <p:cNvSpPr/>
          <p:nvPr/>
        </p:nvSpPr>
        <p:spPr>
          <a:xfrm>
            <a:off x="292320" y="4782600"/>
            <a:ext cx="8907120" cy="201204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US" sz="2000" spc="-1" strike="noStrike">
                <a:solidFill>
                  <a:schemeClr val="dk1"/>
                </a:solidFill>
                <a:latin typeface="Times New Roman"/>
                <a:ea typeface="Times New Roman"/>
              </a:rPr>
              <a:t>Raspberry Pi</a:t>
            </a:r>
            <a:r>
              <a:rPr b="0" lang="en-US" sz="2000" spc="-1" strike="noStrike">
                <a:solidFill>
                  <a:schemeClr val="dk1"/>
                </a:solidFill>
                <a:latin typeface="Times New Roman"/>
                <a:ea typeface="Times New Roman"/>
              </a:rPr>
              <a:t>: Use when you need </a:t>
            </a:r>
            <a:r>
              <a:rPr b="1" lang="en-US" sz="2000" spc="-1" strike="noStrike">
                <a:solidFill>
                  <a:schemeClr val="dk1"/>
                </a:solidFill>
                <a:latin typeface="Times New Roman"/>
                <a:ea typeface="Times New Roman"/>
              </a:rPr>
              <a:t>general-purpose computing</a:t>
            </a:r>
            <a:r>
              <a:rPr b="0" lang="en-US" sz="2000" spc="-1" strike="noStrike">
                <a:solidFill>
                  <a:schemeClr val="dk1"/>
                </a:solidFill>
                <a:latin typeface="Times New Roman"/>
                <a:ea typeface="Times New Roman"/>
              </a:rPr>
              <a:t> and moderate robotics tasks like control, networking, and basic vision.</a:t>
            </a:r>
            <a:endParaRPr b="0" lang="en-US" sz="2000" spc="-1" strike="noStrike">
              <a:solidFill>
                <a:srgbClr val="000000"/>
              </a:solidFill>
              <a:latin typeface="Arial"/>
            </a:endParaRPr>
          </a:p>
          <a:p>
            <a:pPr>
              <a:lnSpc>
                <a:spcPct val="100000"/>
              </a:lnSpc>
              <a:tabLst>
                <a:tab algn="l" pos="0"/>
              </a:tabLst>
            </a:pPr>
            <a:endParaRPr b="0" lang="en-US" sz="2000" spc="-1" strike="noStrike">
              <a:solidFill>
                <a:srgbClr val="000000"/>
              </a:solidFill>
              <a:latin typeface="Arial"/>
            </a:endParaRPr>
          </a:p>
          <a:p>
            <a:pPr>
              <a:lnSpc>
                <a:spcPct val="100000"/>
              </a:lnSpc>
              <a:tabLst>
                <a:tab algn="l" pos="0"/>
              </a:tabLst>
            </a:pPr>
            <a:r>
              <a:rPr b="1" lang="en-US" sz="2000" spc="-1" strike="noStrike">
                <a:solidFill>
                  <a:schemeClr val="dk1"/>
                </a:solidFill>
                <a:latin typeface="Times New Roman"/>
                <a:ea typeface="Times New Roman"/>
              </a:rPr>
              <a:t>ASUS Tinker Board</a:t>
            </a:r>
            <a:r>
              <a:rPr b="0" lang="en-US" sz="2000" spc="-1" strike="noStrike">
                <a:solidFill>
                  <a:schemeClr val="dk1"/>
                </a:solidFill>
                <a:latin typeface="Times New Roman"/>
                <a:ea typeface="Times New Roman"/>
              </a:rPr>
              <a:t>: Use when </a:t>
            </a:r>
            <a:r>
              <a:rPr b="1" lang="en-US" sz="2000" spc="-1" strike="noStrike">
                <a:solidFill>
                  <a:schemeClr val="dk1"/>
                </a:solidFill>
                <a:latin typeface="Times New Roman"/>
                <a:ea typeface="Times New Roman"/>
              </a:rPr>
              <a:t>higher CPU performance</a:t>
            </a:r>
            <a:r>
              <a:rPr b="0" lang="en-US" sz="2000" spc="-1" strike="noStrike">
                <a:solidFill>
                  <a:schemeClr val="dk1"/>
                </a:solidFill>
                <a:latin typeface="Times New Roman"/>
                <a:ea typeface="Times New Roman"/>
              </a:rPr>
              <a:t> and better multimedia handling than Raspberry Pi are needed.</a:t>
            </a:r>
            <a:br>
              <a:rPr sz="2000"/>
            </a:b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457200" y="205920"/>
            <a:ext cx="8229240" cy="857520"/>
          </a:xfrm>
          <a:prstGeom prst="rect">
            <a:avLst/>
          </a:prstGeom>
          <a:noFill/>
          <a:ln w="0">
            <a:noFill/>
          </a:ln>
        </p:spPr>
        <p:txBody>
          <a:bodyPr lIns="91440" rIns="91440" tIns="45720" bIns="45720" anchor="ctr">
            <a:normAutofit/>
          </a:bodyPr>
          <a:p>
            <a:pPr indent="0" algn="ctr">
              <a:lnSpc>
                <a:spcPct val="100000"/>
              </a:lnSpc>
              <a:buNone/>
              <a:tabLst>
                <a:tab algn="l" pos="0"/>
              </a:tabLst>
            </a:pPr>
            <a:r>
              <a:rPr b="0" lang="en-US" sz="4400" spc="-1" strike="noStrike">
                <a:solidFill>
                  <a:schemeClr val="dk1"/>
                </a:solidFill>
                <a:latin typeface="Calibri"/>
                <a:ea typeface="Calibri"/>
              </a:rPr>
              <a:t>Little Panda and Jetson nano</a:t>
            </a:r>
            <a:endParaRPr b="0" lang="en-US" sz="4400" spc="-1" strike="noStrike">
              <a:solidFill>
                <a:srgbClr val="000000"/>
              </a:solidFill>
              <a:latin typeface="Arial"/>
            </a:endParaRPr>
          </a:p>
        </p:txBody>
      </p:sp>
      <p:pic>
        <p:nvPicPr>
          <p:cNvPr id="166" name="Google Shape;325;p51" descr="Amazon.com: NVIDIA Jetson Nano Developer Kit: Computers &amp; Accessories"/>
          <p:cNvPicPr/>
          <p:nvPr/>
        </p:nvPicPr>
        <p:blipFill>
          <a:blip r:embed="rId1"/>
          <a:stretch/>
        </p:blipFill>
        <p:spPr>
          <a:xfrm>
            <a:off x="5173200" y="1325880"/>
            <a:ext cx="3626640" cy="3015000"/>
          </a:xfrm>
          <a:prstGeom prst="rect">
            <a:avLst/>
          </a:prstGeom>
          <a:ln w="0">
            <a:noFill/>
          </a:ln>
        </p:spPr>
      </p:pic>
      <p:pic>
        <p:nvPicPr>
          <p:cNvPr id="167" name="Google Shape;326;p51" descr="Top 12 Raspberry Pi alternatives (Best of 2018) | ZDNet"/>
          <p:cNvPicPr/>
          <p:nvPr/>
        </p:nvPicPr>
        <p:blipFill>
          <a:blip r:embed="rId2"/>
          <a:stretch/>
        </p:blipFill>
        <p:spPr>
          <a:xfrm>
            <a:off x="315720" y="1325880"/>
            <a:ext cx="4568040" cy="3015000"/>
          </a:xfrm>
          <a:prstGeom prst="rect">
            <a:avLst/>
          </a:prstGeom>
          <a:ln w="0">
            <a:noFill/>
          </a:ln>
        </p:spPr>
      </p:pic>
      <p:sp>
        <p:nvSpPr>
          <p:cNvPr id="168" name="Google Shape;327;p51"/>
          <p:cNvSpPr/>
          <p:nvPr/>
        </p:nvSpPr>
        <p:spPr>
          <a:xfrm>
            <a:off x="325800" y="4791960"/>
            <a:ext cx="8492040" cy="17071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n-US" sz="2000" spc="-1" strike="noStrike">
                <a:solidFill>
                  <a:schemeClr val="dk1"/>
                </a:solidFill>
                <a:latin typeface="Times New Roman"/>
                <a:ea typeface="Times New Roman"/>
              </a:rPr>
              <a:t>Jetson Nano</a:t>
            </a:r>
            <a:r>
              <a:rPr b="0" lang="en-US" sz="2000" spc="-1" strike="noStrike">
                <a:solidFill>
                  <a:schemeClr val="dk1"/>
                </a:solidFill>
                <a:latin typeface="Times New Roman"/>
                <a:ea typeface="Times New Roman"/>
              </a:rPr>
              <a:t>: Use when robotics applications require </a:t>
            </a:r>
            <a:r>
              <a:rPr b="1" lang="en-US" sz="2000" spc="-1" strike="noStrike">
                <a:solidFill>
                  <a:schemeClr val="dk1"/>
                </a:solidFill>
                <a:latin typeface="Times New Roman"/>
                <a:ea typeface="Times New Roman"/>
              </a:rPr>
              <a:t>GPU acceleration</a:t>
            </a:r>
            <a:r>
              <a:rPr b="0" lang="en-US" sz="2000" spc="-1" strike="noStrike">
                <a:solidFill>
                  <a:schemeClr val="dk1"/>
                </a:solidFill>
                <a:latin typeface="Times New Roman"/>
                <a:ea typeface="Times New Roman"/>
              </a:rPr>
              <a:t> for AI, deep learning, and real-time computer vision.</a:t>
            </a:r>
            <a:br>
              <a:rPr sz="2000"/>
            </a:br>
            <a:endParaRPr b="0" lang="en-US" sz="2000" spc="-1" strike="noStrike">
              <a:solidFill>
                <a:srgbClr val="000000"/>
              </a:solidFill>
              <a:latin typeface="Arial"/>
            </a:endParaRPr>
          </a:p>
          <a:p>
            <a:pPr>
              <a:lnSpc>
                <a:spcPct val="100000"/>
              </a:lnSpc>
              <a:tabLst>
                <a:tab algn="l" pos="0"/>
              </a:tabLst>
            </a:pPr>
            <a:r>
              <a:rPr b="1" lang="en-US" sz="2000" spc="-1" strike="noStrike">
                <a:solidFill>
                  <a:schemeClr val="dk1"/>
                </a:solidFill>
                <a:latin typeface="Times New Roman"/>
                <a:ea typeface="Times New Roman"/>
              </a:rPr>
              <a:t>Littlepanda</a:t>
            </a:r>
            <a:r>
              <a:rPr b="0" lang="en-US" sz="2000" spc="-1" strike="noStrike">
                <a:solidFill>
                  <a:schemeClr val="dk1"/>
                </a:solidFill>
                <a:latin typeface="Times New Roman"/>
                <a:ea typeface="Times New Roman"/>
              </a:rPr>
              <a:t>: Use when </a:t>
            </a:r>
            <a:r>
              <a:rPr b="1" lang="en-US" sz="2000" spc="-1" strike="noStrike">
                <a:solidFill>
                  <a:schemeClr val="dk1"/>
                </a:solidFill>
                <a:latin typeface="Times New Roman"/>
                <a:ea typeface="Times New Roman"/>
              </a:rPr>
              <a:t>compact size and basic SBC functionality</a:t>
            </a:r>
            <a:r>
              <a:rPr b="0" lang="en-US" sz="2000" spc="-1" strike="noStrike">
                <a:solidFill>
                  <a:schemeClr val="dk1"/>
                </a:solidFill>
                <a:latin typeface="Times New Roman"/>
                <a:ea typeface="Times New Roman"/>
              </a:rPr>
              <a:t> are sufficient for simple embedded or educational robotics projects.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69" name="Google Shape;332;p52"/>
          <p:cNvGraphicFramePr/>
          <p:nvPr/>
        </p:nvGraphicFramePr>
        <p:xfrm>
          <a:off x="480960" y="645480"/>
          <a:ext cx="8182080" cy="5592240"/>
        </p:xfrm>
        <a:graphic>
          <a:graphicData uri="http://schemas.openxmlformats.org/drawingml/2006/table">
            <a:tbl>
              <a:tblPr/>
              <a:tblGrid>
                <a:gridCol w="1925280"/>
                <a:gridCol w="3161160"/>
                <a:gridCol w="3095280"/>
              </a:tblGrid>
              <a:tr h="415440">
                <a:tc>
                  <a:txBody>
                    <a:bodyPr lIns="91080" rIns="91080" tIns="91080" bIns="91080" anchor="t">
                      <a:noAutofit/>
                    </a:bodyPr>
                    <a:p>
                      <a:pPr algn="ctr">
                        <a:lnSpc>
                          <a:spcPct val="115000"/>
                        </a:lnSpc>
                        <a:tabLst>
                          <a:tab algn="l" pos="0"/>
                        </a:tabLst>
                      </a:pPr>
                      <a:r>
                        <a:rPr b="1" lang="en-US" sz="1600" spc="-1" strike="noStrike">
                          <a:solidFill>
                            <a:srgbClr val="000000"/>
                          </a:solidFill>
                          <a:latin typeface="Arial"/>
                          <a:ea typeface="Arial"/>
                        </a:rPr>
                        <a:t>Feature</a:t>
                      </a:r>
                      <a:endParaRPr b="0" lang="en-US" sz="16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gn="ctr">
                        <a:lnSpc>
                          <a:spcPct val="115000"/>
                        </a:lnSpc>
                        <a:tabLst>
                          <a:tab algn="l" pos="0"/>
                        </a:tabLst>
                      </a:pPr>
                      <a:r>
                        <a:rPr b="1" lang="en-US" sz="1600" spc="-1" strike="noStrike">
                          <a:solidFill>
                            <a:srgbClr val="000000"/>
                          </a:solidFill>
                          <a:latin typeface="Arial"/>
                          <a:ea typeface="Arial"/>
                        </a:rPr>
                        <a:t>Microcontroller</a:t>
                      </a:r>
                      <a:endParaRPr b="0" lang="en-US" sz="16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gn="ctr">
                        <a:lnSpc>
                          <a:spcPct val="115000"/>
                        </a:lnSpc>
                        <a:tabLst>
                          <a:tab algn="l" pos="0"/>
                        </a:tabLst>
                      </a:pPr>
                      <a:r>
                        <a:rPr b="1" lang="en-US" sz="1600" spc="-1" strike="noStrike">
                          <a:solidFill>
                            <a:srgbClr val="000000"/>
                          </a:solidFill>
                          <a:latin typeface="Arial"/>
                          <a:ea typeface="Arial"/>
                        </a:rPr>
                        <a:t>Microprocessor</a:t>
                      </a:r>
                      <a:endParaRPr b="0" lang="en-US" sz="16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r h="897120">
                <a:tc>
                  <a:txBody>
                    <a:bodyPr lIns="91080" rIns="91080" tIns="91080" bIns="91080" anchor="t">
                      <a:noAutofit/>
                    </a:bodyPr>
                    <a:p>
                      <a:pPr>
                        <a:lnSpc>
                          <a:spcPct val="100000"/>
                        </a:lnSpc>
                        <a:tabLst>
                          <a:tab algn="l" pos="0"/>
                        </a:tabLst>
                      </a:pPr>
                      <a:r>
                        <a:rPr b="1" lang="en-US" sz="1400" spc="-1" strike="noStrike">
                          <a:solidFill>
                            <a:srgbClr val="000000"/>
                          </a:solidFill>
                          <a:latin typeface="Arial"/>
                          <a:ea typeface="Arial"/>
                        </a:rPr>
                        <a:t>Integration</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nSpc>
                          <a:spcPct val="100000"/>
                        </a:lnSpc>
                        <a:tabLst>
                          <a:tab algn="l" pos="0"/>
                        </a:tabLst>
                      </a:pPr>
                      <a:r>
                        <a:rPr b="0" lang="en-US" sz="1400" spc="-1" strike="noStrike">
                          <a:solidFill>
                            <a:srgbClr val="000000"/>
                          </a:solidFill>
                          <a:latin typeface="Arial"/>
                          <a:ea typeface="Arial"/>
                        </a:rPr>
                        <a:t>Includes CPU, memory (RAM/ROM), and peripherals on a single chip</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nSpc>
                          <a:spcPct val="100000"/>
                        </a:lnSpc>
                        <a:tabLst>
                          <a:tab algn="l" pos="0"/>
                        </a:tabLst>
                      </a:pPr>
                      <a:r>
                        <a:rPr b="0" lang="en-US" sz="1400" spc="-1" strike="noStrike">
                          <a:solidFill>
                            <a:srgbClr val="000000"/>
                          </a:solidFill>
                          <a:latin typeface="Arial"/>
                          <a:ea typeface="Arial"/>
                        </a:rPr>
                        <a:t>Consists mainly of CPU; external memory and peripherals are required</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r h="897120">
                <a:tc>
                  <a:txBody>
                    <a:bodyPr lIns="91080" rIns="91080" tIns="91080" bIns="91080" anchor="t">
                      <a:noAutofit/>
                    </a:bodyPr>
                    <a:p>
                      <a:pPr>
                        <a:lnSpc>
                          <a:spcPct val="100000"/>
                        </a:lnSpc>
                        <a:tabLst>
                          <a:tab algn="l" pos="0"/>
                        </a:tabLst>
                      </a:pPr>
                      <a:r>
                        <a:rPr b="1" lang="en-US" sz="1400" spc="-1" strike="noStrike">
                          <a:solidFill>
                            <a:srgbClr val="000000"/>
                          </a:solidFill>
                          <a:latin typeface="Arial"/>
                          <a:ea typeface="Arial"/>
                        </a:rPr>
                        <a:t>Cost</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nSpc>
                          <a:spcPct val="100000"/>
                        </a:lnSpc>
                        <a:tabLst>
                          <a:tab algn="l" pos="0"/>
                        </a:tabLst>
                      </a:pPr>
                      <a:r>
                        <a:rPr b="0" lang="en-US" sz="1400" spc="-1" strike="noStrike">
                          <a:solidFill>
                            <a:srgbClr val="000000"/>
                          </a:solidFill>
                          <a:latin typeface="Arial"/>
                          <a:ea typeface="Arial"/>
                        </a:rPr>
                        <a:t>Low cost due to high integration</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nSpc>
                          <a:spcPct val="100000"/>
                        </a:lnSpc>
                        <a:tabLst>
                          <a:tab algn="l" pos="0"/>
                        </a:tabLst>
                      </a:pPr>
                      <a:r>
                        <a:rPr b="0" lang="en-US" sz="1400" spc="-1" strike="noStrike">
                          <a:solidFill>
                            <a:srgbClr val="000000"/>
                          </a:solidFill>
                          <a:latin typeface="Arial"/>
                          <a:ea typeface="Arial"/>
                        </a:rPr>
                        <a:t>Higher cost because of additional external components</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r h="897120">
                <a:tc>
                  <a:txBody>
                    <a:bodyPr lIns="91080" rIns="91080" tIns="91080" bIns="91080" anchor="t">
                      <a:noAutofit/>
                    </a:bodyPr>
                    <a:p>
                      <a:pPr>
                        <a:lnSpc>
                          <a:spcPct val="100000"/>
                        </a:lnSpc>
                        <a:tabLst>
                          <a:tab algn="l" pos="0"/>
                        </a:tabLst>
                      </a:pPr>
                      <a:r>
                        <a:rPr b="1" lang="en-US" sz="1400" spc="-1" strike="noStrike">
                          <a:solidFill>
                            <a:srgbClr val="000000"/>
                          </a:solidFill>
                          <a:latin typeface="Arial"/>
                          <a:ea typeface="Arial"/>
                        </a:rPr>
                        <a:t>Power Consumption</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nSpc>
                          <a:spcPct val="100000"/>
                        </a:lnSpc>
                        <a:tabLst>
                          <a:tab algn="l" pos="0"/>
                        </a:tabLst>
                      </a:pPr>
                      <a:r>
                        <a:rPr b="0" lang="en-US" sz="1400" spc="-1" strike="noStrike">
                          <a:solidFill>
                            <a:srgbClr val="000000"/>
                          </a:solidFill>
                          <a:latin typeface="Arial"/>
                          <a:ea typeface="Arial"/>
                        </a:rPr>
                        <a:t>Low power consumption, suitable for embedded systems</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nSpc>
                          <a:spcPct val="100000"/>
                        </a:lnSpc>
                        <a:tabLst>
                          <a:tab algn="l" pos="0"/>
                        </a:tabLst>
                      </a:pPr>
                      <a:r>
                        <a:rPr b="0" lang="en-US" sz="1400" spc="-1" strike="noStrike">
                          <a:solidFill>
                            <a:srgbClr val="000000"/>
                          </a:solidFill>
                          <a:latin typeface="Arial"/>
                          <a:ea typeface="Arial"/>
                        </a:rPr>
                        <a:t>Higher power consumption</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r h="897120">
                <a:tc>
                  <a:txBody>
                    <a:bodyPr lIns="91080" rIns="91080" tIns="91080" bIns="91080" anchor="t">
                      <a:noAutofit/>
                    </a:bodyPr>
                    <a:p>
                      <a:pPr>
                        <a:lnSpc>
                          <a:spcPct val="100000"/>
                        </a:lnSpc>
                        <a:tabLst>
                          <a:tab algn="l" pos="0"/>
                        </a:tabLst>
                      </a:pPr>
                      <a:r>
                        <a:rPr b="1" lang="en-US" sz="1400" spc="-1" strike="noStrike">
                          <a:solidFill>
                            <a:srgbClr val="000000"/>
                          </a:solidFill>
                          <a:latin typeface="Arial"/>
                          <a:ea typeface="Arial"/>
                        </a:rPr>
                        <a:t>Application</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nSpc>
                          <a:spcPct val="100000"/>
                        </a:lnSpc>
                        <a:tabLst>
                          <a:tab algn="l" pos="0"/>
                        </a:tabLst>
                      </a:pPr>
                      <a:r>
                        <a:rPr b="0" lang="en-US" sz="1400" spc="-1" strike="noStrike">
                          <a:solidFill>
                            <a:srgbClr val="000000"/>
                          </a:solidFill>
                          <a:latin typeface="Arial"/>
                          <a:ea typeface="Arial"/>
                        </a:rPr>
                        <a:t>Used in dedicated control-oriented applications (e.g., appliances, IoT)</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nSpc>
                          <a:spcPct val="100000"/>
                        </a:lnSpc>
                        <a:tabLst>
                          <a:tab algn="l" pos="0"/>
                        </a:tabLst>
                      </a:pPr>
                      <a:r>
                        <a:rPr b="0" lang="en-US" sz="1400" spc="-1" strike="noStrike">
                          <a:solidFill>
                            <a:srgbClr val="000000"/>
                          </a:solidFill>
                          <a:latin typeface="Arial"/>
                          <a:ea typeface="Arial"/>
                        </a:rPr>
                        <a:t>Used in general-purpose computing (e.g., PCs, laptops)</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r h="664560">
                <a:tc>
                  <a:txBody>
                    <a:bodyPr lIns="91080" rIns="91080" tIns="91080" bIns="91080" anchor="t">
                      <a:noAutofit/>
                    </a:bodyPr>
                    <a:p>
                      <a:pPr>
                        <a:lnSpc>
                          <a:spcPct val="100000"/>
                        </a:lnSpc>
                        <a:tabLst>
                          <a:tab algn="l" pos="0"/>
                        </a:tabLst>
                      </a:pPr>
                      <a:r>
                        <a:rPr b="1" lang="en-US" sz="1400" spc="-1" strike="noStrike">
                          <a:solidFill>
                            <a:srgbClr val="000000"/>
                          </a:solidFill>
                          <a:latin typeface="Arial"/>
                          <a:ea typeface="Arial"/>
                        </a:rPr>
                        <a:t>Complexity</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nSpc>
                          <a:spcPct val="100000"/>
                        </a:lnSpc>
                        <a:tabLst>
                          <a:tab algn="l" pos="0"/>
                        </a:tabLst>
                      </a:pPr>
                      <a:r>
                        <a:rPr b="0" lang="en-US" sz="1400" spc="-1" strike="noStrike">
                          <a:solidFill>
                            <a:srgbClr val="000000"/>
                          </a:solidFill>
                          <a:latin typeface="Arial"/>
                          <a:ea typeface="Arial"/>
                        </a:rPr>
                        <a:t>Simple hardware and software design</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nSpc>
                          <a:spcPct val="100000"/>
                        </a:lnSpc>
                        <a:tabLst>
                          <a:tab algn="l" pos="0"/>
                        </a:tabLst>
                      </a:pPr>
                      <a:r>
                        <a:rPr b="0" lang="en-US" sz="1400" spc="-1" strike="noStrike">
                          <a:solidFill>
                            <a:srgbClr val="000000"/>
                          </a:solidFill>
                          <a:latin typeface="Arial"/>
                          <a:ea typeface="Arial"/>
                        </a:rPr>
                        <a:t>More complex system design</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r h="897120">
                <a:tc>
                  <a:txBody>
                    <a:bodyPr lIns="91080" rIns="91080" tIns="91080" bIns="91080" anchor="t">
                      <a:noAutofit/>
                    </a:bodyPr>
                    <a:p>
                      <a:pPr>
                        <a:lnSpc>
                          <a:spcPct val="100000"/>
                        </a:lnSpc>
                        <a:tabLst>
                          <a:tab algn="l" pos="0"/>
                        </a:tabLst>
                      </a:pPr>
                      <a:r>
                        <a:rPr b="1" lang="en-US" sz="1400" spc="-1" strike="noStrike">
                          <a:solidFill>
                            <a:srgbClr val="000000"/>
                          </a:solidFill>
                          <a:latin typeface="Arial"/>
                          <a:ea typeface="Arial"/>
                        </a:rPr>
                        <a:t>Real-time Control</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nSpc>
                          <a:spcPct val="100000"/>
                        </a:lnSpc>
                        <a:tabLst>
                          <a:tab algn="l" pos="0"/>
                        </a:tabLst>
                      </a:pPr>
                      <a:r>
                        <a:rPr b="0" lang="en-US" sz="1400" spc="-1" strike="noStrike">
                          <a:solidFill>
                            <a:srgbClr val="000000"/>
                          </a:solidFill>
                          <a:latin typeface="Arial"/>
                          <a:ea typeface="Arial"/>
                        </a:rPr>
                        <a:t>Well suited for real-time and deterministic tasks</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t">
                      <a:noAutofit/>
                    </a:bodyPr>
                    <a:p>
                      <a:pPr>
                        <a:lnSpc>
                          <a:spcPct val="100000"/>
                        </a:lnSpc>
                        <a:tabLst>
                          <a:tab algn="l" pos="0"/>
                        </a:tabLst>
                      </a:pPr>
                      <a:r>
                        <a:rPr b="0" lang="en-US" sz="1400" spc="-1" strike="noStrike">
                          <a:solidFill>
                            <a:srgbClr val="000000"/>
                          </a:solidFill>
                          <a:latin typeface="Arial"/>
                          <a:ea typeface="Arial"/>
                        </a:rPr>
                        <a:t>Less suitable for real-time control without additional hardware</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457200" y="2802960"/>
            <a:ext cx="8229240" cy="1142640"/>
          </a:xfrm>
          <a:prstGeom prst="rect">
            <a:avLst/>
          </a:prstGeom>
          <a:noFill/>
          <a:ln w="0">
            <a:noFill/>
          </a:ln>
        </p:spPr>
        <p:txBody>
          <a:bodyPr lIns="91440" rIns="91440" tIns="45720" bIns="45720" anchor="ctr">
            <a:normAutofit/>
          </a:bodyPr>
          <a:p>
            <a:pPr indent="0" algn="ctr">
              <a:lnSpc>
                <a:spcPct val="100000"/>
              </a:lnSpc>
              <a:buNone/>
              <a:tabLst>
                <a:tab algn="l" pos="0"/>
              </a:tabLst>
            </a:pPr>
            <a:r>
              <a:rPr b="0" lang="en-US" sz="4400" spc="-1" strike="noStrike">
                <a:solidFill>
                  <a:schemeClr val="dk1"/>
                </a:solidFill>
                <a:latin typeface="Calibri"/>
                <a:ea typeface="Calibri"/>
              </a:rPr>
              <a:t>Thank You</a:t>
            </a:r>
            <a:endParaRPr b="0" lang="en-U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2026-02-19T00:25:11Z</dcterms:modified>
  <cp:revision>1</cp:revision>
  <dc:subject/>
  <dc:title/>
</cp:coreProperties>
</file>