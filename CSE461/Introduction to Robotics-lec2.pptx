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14.png" ContentType="image/png"/>
  <Override PartName="/ppt/media/image30.png" ContentType="image/png"/>
  <Override PartName="/ppt/media/image8.jpeg" ContentType="image/jpeg"/>
  <Override PartName="/ppt/media/image6.png" ContentType="image/png"/>
  <Override PartName="/ppt/media/image15.png" ContentType="image/png"/>
  <Override PartName="/ppt/media/image5.png" ContentType="image/png"/>
  <Override PartName="/ppt/media/image22.jpeg" ContentType="image/jpeg"/>
  <Override PartName="/ppt/media/image7.jpeg" ContentType="image/jpeg"/>
  <Override PartName="/ppt/media/image28.jpeg" ContentType="image/jpeg"/>
  <Override PartName="/ppt/media/image18.png" ContentType="image/png"/>
  <Override PartName="/ppt/media/image12.png" ContentType="image/png"/>
  <Override PartName="/ppt/media/image3.png" ContentType="image/png"/>
  <Override PartName="/ppt/media/image4.png" ContentType="image/png"/>
  <Override PartName="/ppt/media/image13.png" ContentType="image/png"/>
  <Override PartName="/ppt/media/image31.png" ContentType="image/png"/>
  <Override PartName="/ppt/media/image11.png" ContentType="image/png"/>
  <Override PartName="/ppt/media/image9.jpeg" ContentType="image/jpeg"/>
  <Override PartName="/ppt/media/image2.jpeg" ContentType="image/jpeg"/>
  <Override PartName="/ppt/media/image16.jpeg" ContentType="image/jpeg"/>
  <Override PartName="/ppt/media/image1.png" ContentType="image/png"/>
  <Override PartName="/ppt/media/image17.jpeg" ContentType="image/jpeg"/>
  <Override PartName="/ppt/media/image19.jpeg" ContentType="image/jpeg"/>
  <Override PartName="/ppt/media/image20.jpeg" ContentType="image/jpeg"/>
  <Override PartName="/ppt/media/image26.png" ContentType="image/png"/>
  <Override PartName="/ppt/media/image10.png" ContentType="image/png"/>
  <Override PartName="/ppt/media/image23.jpeg" ContentType="image/jpeg"/>
  <Override PartName="/ppt/media/image24.png" ContentType="image/png"/>
  <Override PartName="/ppt/media/image25.png" ContentType="image/png"/>
  <Override PartName="/ppt/media/image21.jpeg" ContentType="image/jpeg"/>
  <Override PartName="/ppt/media/image2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2867760"/>
            <a:ext cx="8520120" cy="112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468B67-143F-4405-B216-2023F8029F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7AD6F7-84F3-42D7-A33E-256399F38B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42DDA57-8FD4-4A44-80D9-0FB7CD4736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464425-CDC1-4252-931D-1348A80C85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9F21C17-E69F-41AA-80A5-A766A20629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C6248D5-A722-4CBA-B22A-113974ED95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2867760"/>
            <a:ext cx="8520120" cy="112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B742D51-B9B7-4F2A-A7C3-07A094E8A7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2867760"/>
            <a:ext cx="8520120" cy="112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C1138BC-EEB3-4867-BD3B-792C36DE82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11760" y="2867760"/>
            <a:ext cx="8520120" cy="112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1710BEB1-20A0-4C9D-88CD-43C6D79E2FE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70CA7BEC-C75F-4DD0-A41C-0AB7E3ED35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E05EEC5-8CCC-4F49-8830-53E334723E32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A533C73-2ECA-47F7-A0A7-A1B300B4BD91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2867760"/>
            <a:ext cx="8520120" cy="112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6F0CDDB-C386-45A4-BE71-E80D21F2A5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CCAC3A52-2D44-405E-BC80-BB074CE5F4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0AAE1E-6948-44F5-9577-A7E5375A60B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FE913E-5E84-4145-83FA-D6484DC3CEC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647C21-102B-42B0-A896-88958A52D34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2298D3-7C6B-4E2B-B763-64A2EA71F54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9D7095-B343-4490-BF32-DD1682ED3DF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D77D83-76F3-49C5-870D-6EDEC6D7A98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E82487-C1E7-4D60-B5E2-6E99B284740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855EBC-E403-4C71-80C8-EFE8E662654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2012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8649"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11760" y="1536480"/>
            <a:ext cx="8520120" cy="455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5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550760-80DF-4F7A-BE28-6DFAF96822B3}" type="slidenum">
              <a:rPr b="0" lang="en-U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B808AC-9E89-44AF-AA0F-24CBAE32BEE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2867760"/>
            <a:ext cx="8520120" cy="112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29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14265E-3298-4A46-8D50-0C50543AA385}" type="slidenum">
              <a:rPr b="0" lang="en-U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body"/>
          </p:nvPr>
        </p:nvSpPr>
        <p:spPr>
          <a:xfrm>
            <a:off x="311760" y="5640840"/>
            <a:ext cx="5998320" cy="80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6249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0"/>
          </p:nvPr>
        </p:nvSpPr>
        <p:spPr>
          <a:xfrm>
            <a:off x="8472600" y="621756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75527F-5961-4F09-AA7F-EAA0183DC8CC}" type="slidenum">
              <a:rPr b="0" lang="en-U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B0D83D-7086-4990-87AE-480EF264F46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8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91541C-8B07-410D-9D6E-62C95EFE28D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0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fn3KWM1kuAw" TargetMode="External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Introduction to Robotics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CSE461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BRAC University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100;g38c21cebfdb_0_6" descr=""/>
          <p:cNvPicPr/>
          <p:nvPr/>
        </p:nvPicPr>
        <p:blipFill>
          <a:blip r:embed="rId1"/>
          <a:stretch/>
        </p:blipFill>
        <p:spPr>
          <a:xfrm>
            <a:off x="0" y="575280"/>
            <a:ext cx="9143640" cy="570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105;p34" descr="E:\Arif\Summer2020\CSE461\Lectures\intro pics\Robotics and Embedded Systems-27.jpg"/>
          <p:cNvPicPr/>
          <p:nvPr/>
        </p:nvPicPr>
        <p:blipFill>
          <a:blip r:embed="rId1"/>
          <a:srcRect l="3465" t="23363" r="6040" b="22373"/>
          <a:stretch/>
        </p:blipFill>
        <p:spPr>
          <a:xfrm>
            <a:off x="515880" y="2009880"/>
            <a:ext cx="8274600" cy="3720600"/>
          </a:xfrm>
          <a:prstGeom prst="rect">
            <a:avLst/>
          </a:prstGeom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Three primitives of robotics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Google Shape;112;g38c21cebfdb_0_12" descr=""/>
          <p:cNvPicPr/>
          <p:nvPr/>
        </p:nvPicPr>
        <p:blipFill>
          <a:blip r:embed="rId1"/>
          <a:stretch/>
        </p:blipFill>
        <p:spPr>
          <a:xfrm>
            <a:off x="257760" y="1995480"/>
            <a:ext cx="8628120" cy="286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Num" idx="3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a8cdf6"/>
                </a:solidFill>
                <a:latin typeface="Times New Roman"/>
                <a:ea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2E39039-12B0-4C17-BABD-CFA7B1A20C9B}" type="slidenum">
              <a:rPr b="0" lang="en-US" sz="1400" spc="-1" strike="noStrike">
                <a:solidFill>
                  <a:srgbClr val="a8cdf6"/>
                </a:solidFill>
                <a:latin typeface="Times New Roman"/>
                <a:ea typeface="Times New Roman"/>
              </a:rPr>
              <a:t>4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AI Primitives within an Agent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19;p145"/>
          <p:cNvSpPr/>
          <p:nvPr/>
        </p:nvSpPr>
        <p:spPr>
          <a:xfrm>
            <a:off x="914400" y="1828800"/>
            <a:ext cx="1828440" cy="129492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  <a:ea typeface="Arial"/>
              </a:rPr>
              <a:t>SENSE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20;p145"/>
          <p:cNvSpPr/>
          <p:nvPr/>
        </p:nvSpPr>
        <p:spPr>
          <a:xfrm>
            <a:off x="3657600" y="1828800"/>
            <a:ext cx="1828440" cy="129492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  <a:ea typeface="Arial"/>
              </a:rPr>
              <a:t>PLAN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21;p145"/>
          <p:cNvSpPr/>
          <p:nvPr/>
        </p:nvSpPr>
        <p:spPr>
          <a:xfrm>
            <a:off x="6400800" y="1828800"/>
            <a:ext cx="1828440" cy="129492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  <a:ea typeface="Arial"/>
              </a:rPr>
              <a:t>ACT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22;p145"/>
          <p:cNvSpPr/>
          <p:nvPr/>
        </p:nvSpPr>
        <p:spPr>
          <a:xfrm>
            <a:off x="3657600" y="4191120"/>
            <a:ext cx="1828440" cy="1294920"/>
          </a:xfrm>
          <a:prstGeom prst="rect">
            <a:avLst/>
          </a:prstGeom>
          <a:solidFill>
            <a:srgbClr val="0070c0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  <a:ea typeface="Arial"/>
              </a:rPr>
              <a:t>LEARN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127;g38c21cebfdb_0_32" descr=""/>
          <p:cNvPicPr/>
          <p:nvPr/>
        </p:nvPicPr>
        <p:blipFill>
          <a:blip r:embed="rId1"/>
          <a:stretch/>
        </p:blipFill>
        <p:spPr>
          <a:xfrm>
            <a:off x="2387520" y="152280"/>
            <a:ext cx="4368600" cy="655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What is Paradigm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5568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A paradigm is a set of ideas, methods, and assumptions that guide how problems are understood and solved in a particular discipline.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0" algn="just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[Example] In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Science: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Newtonian Mechanics, Quantum Mechanics</a:t>
            </a:r>
            <a:br>
              <a:rPr sz="2000"/>
            </a:b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Each offers a different way to understand the physical world.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0" algn="just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When a paradigm changes, the way we think and build systems changes with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Classical / Hierarchical Paradigm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899360"/>
            <a:ext cx="8017560" cy="261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10000"/>
          </a:bodyPr>
          <a:p>
            <a:pPr marL="457200" indent="-325800" algn="just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56000"/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Also called Deliberative Paradigm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25800" algn="just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56000"/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Focus on automated reasoning and knowledge representation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0" algn="just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25800" algn="just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56000"/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STRIPS (Stanford Research Institute Problem Solver): Perfect world model, closed world assumption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Classical / Hierarchical Paradigm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Google Shape;145;g3bc32104be3_0_16" descr=""/>
          <p:cNvPicPr/>
          <p:nvPr/>
        </p:nvPicPr>
        <p:blipFill>
          <a:blip r:embed="rId1"/>
          <a:stretch/>
        </p:blipFill>
        <p:spPr>
          <a:xfrm>
            <a:off x="0" y="1323720"/>
            <a:ext cx="9143640" cy="233244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46;g3bc32104be3_0_16" descr=""/>
          <p:cNvPicPr/>
          <p:nvPr/>
        </p:nvPicPr>
        <p:blipFill>
          <a:blip r:embed="rId2"/>
          <a:stretch/>
        </p:blipFill>
        <p:spPr>
          <a:xfrm>
            <a:off x="396000" y="3864600"/>
            <a:ext cx="5643360" cy="2821680"/>
          </a:xfrm>
          <a:prstGeom prst="rect">
            <a:avLst/>
          </a:prstGeom>
          <a:ln w="0">
            <a:noFill/>
          </a:ln>
        </p:spPr>
      </p:pic>
      <p:sp>
        <p:nvSpPr>
          <p:cNvPr id="101" name="Google Shape;147;g3bc32104be3_0_16"/>
          <p:cNvSpPr/>
          <p:nvPr/>
        </p:nvSpPr>
        <p:spPr>
          <a:xfrm>
            <a:off x="6039720" y="5024520"/>
            <a:ext cx="308880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Developed by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Stanford AI Laboratory / CMU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(Hans Moravec)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9400" y="141768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682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Take nine images of the environment, identify interesting points in one image, and use other images to obtain depth estimates.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Integrate information into global world model.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Correlate images with previous image set to estimate robot motion.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On basis of desired motion, estimated motion, and current estimate of environment, determine direction in which to move.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Execute the motion.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Google Shape;154;g3bc32104be3_0_26" descr=""/>
          <p:cNvPicPr/>
          <p:nvPr/>
        </p:nvPicPr>
        <p:blipFill>
          <a:blip r:embed="rId1"/>
          <a:stretch/>
        </p:blipFill>
        <p:spPr>
          <a:xfrm>
            <a:off x="4222800" y="4551120"/>
            <a:ext cx="4345560" cy="217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59;g38c21cebfdb_0_184" descr=""/>
          <p:cNvPicPr/>
          <p:nvPr/>
        </p:nvPicPr>
        <p:blipFill>
          <a:blip r:embed="rId1"/>
          <a:stretch/>
        </p:blipFill>
        <p:spPr>
          <a:xfrm>
            <a:off x="282600" y="0"/>
            <a:ext cx="8578440" cy="643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64;g38c21cebfdb_0_26" descr=""/>
          <p:cNvPicPr/>
          <p:nvPr/>
        </p:nvPicPr>
        <p:blipFill>
          <a:blip r:embed="rId1"/>
          <a:stretch/>
        </p:blipFill>
        <p:spPr>
          <a:xfrm>
            <a:off x="2039040" y="51840"/>
            <a:ext cx="5065200" cy="675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69;g38c21cebfdb_0_120" descr=""/>
          <p:cNvPicPr/>
          <p:nvPr/>
        </p:nvPicPr>
        <p:blipFill>
          <a:blip r:embed="rId1"/>
          <a:stretch/>
        </p:blipFill>
        <p:spPr>
          <a:xfrm>
            <a:off x="2127240" y="169200"/>
            <a:ext cx="4889160" cy="651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Reactive Paradigm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Google Shape;175;g3bc32104be3_0_36" descr=""/>
          <p:cNvPicPr/>
          <p:nvPr/>
        </p:nvPicPr>
        <p:blipFill>
          <a:blip r:embed="rId1"/>
          <a:stretch/>
        </p:blipFill>
        <p:spPr>
          <a:xfrm>
            <a:off x="373320" y="1511640"/>
            <a:ext cx="8397360" cy="2142000"/>
          </a:xfrm>
          <a:prstGeom prst="rect">
            <a:avLst/>
          </a:prstGeom>
          <a:ln w="0">
            <a:noFill/>
          </a:ln>
        </p:spPr>
      </p:pic>
      <p:sp>
        <p:nvSpPr>
          <p:cNvPr id="110" name="Google Shape;176;g3bc32104be3_0_36"/>
          <p:cNvSpPr/>
          <p:nvPr/>
        </p:nvSpPr>
        <p:spPr>
          <a:xfrm>
            <a:off x="925560" y="3654000"/>
            <a:ext cx="726696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Calibri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No models: The world is its own, best model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Calibri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Easy successes, but also limitations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Calibri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Investigate biological systems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Characteristics of Reactive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Paradigm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682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No memory, controlled by what is happening in the world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Tight coupling between perception and action via behaviors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A direct mapping of sensory inputs to a pattern of motor actions that are then used to achieve a task.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Calibri"/>
              </a:rPr>
              <a:t>Only local, behavior-specific sensing is permitted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Google Shape;183;g3bc32104be3_0_49" descr=""/>
          <p:cNvPicPr/>
          <p:nvPr/>
        </p:nvPicPr>
        <p:blipFill>
          <a:blip r:embed="rId1"/>
          <a:stretch/>
        </p:blipFill>
        <p:spPr>
          <a:xfrm>
            <a:off x="457200" y="3429000"/>
            <a:ext cx="3994200" cy="3320640"/>
          </a:xfrm>
          <a:prstGeom prst="rect">
            <a:avLst/>
          </a:prstGeom>
          <a:ln w="0">
            <a:noFill/>
          </a:ln>
        </p:spPr>
      </p:pic>
      <p:sp>
        <p:nvSpPr>
          <p:cNvPr id="114" name="Google Shape;184;g3bc32104be3_0_49"/>
          <p:cNvSpPr/>
          <p:nvPr/>
        </p:nvSpPr>
        <p:spPr>
          <a:xfrm>
            <a:off x="4802400" y="3584880"/>
            <a:ext cx="4185360" cy="23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There is no memory, no global path, no map of the room. The robot only looks at the </a:t>
            </a:r>
            <a:r>
              <a:rPr b="0" i="1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current sensor values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 and immediately responds.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So the behavior becomes: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Wall appears → sensor triggers → robot turns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Path clears → robot moves forward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Another object appears → robot turns again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Limitations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68644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Suffer from local minima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Backtracking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Random motion to escape local minimum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Google Shape;191;g3bc32104be3_0_63" descr=""/>
          <p:cNvPicPr/>
          <p:nvPr/>
        </p:nvPicPr>
        <p:blipFill>
          <a:blip r:embed="rId1"/>
          <a:stretch/>
        </p:blipFill>
        <p:spPr>
          <a:xfrm>
            <a:off x="1962000" y="2195640"/>
            <a:ext cx="4301280" cy="203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Hybrid Deliberative/Reactive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Paradigm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Google Shape;337;g3bc32104be3_0_72" descr=""/>
          <p:cNvPicPr/>
          <p:nvPr/>
        </p:nvPicPr>
        <p:blipFill>
          <a:blip r:embed="rId1"/>
          <a:stretch/>
        </p:blipFill>
        <p:spPr>
          <a:xfrm>
            <a:off x="1047600" y="1492200"/>
            <a:ext cx="6569640" cy="3284640"/>
          </a:xfrm>
          <a:prstGeom prst="rect">
            <a:avLst/>
          </a:prstGeom>
          <a:ln w="0">
            <a:noFill/>
          </a:ln>
        </p:spPr>
      </p:pic>
      <p:sp>
        <p:nvSpPr>
          <p:cNvPr id="120" name="Google Shape;338;g3bc32104be3_0_72"/>
          <p:cNvSpPr/>
          <p:nvPr/>
        </p:nvSpPr>
        <p:spPr>
          <a:xfrm>
            <a:off x="457200" y="4597920"/>
            <a:ext cx="679032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Combines advantages of previous paradigms: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World model used for planning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Closed loop, reactive control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Google Shape;344;g3bc32104be3_0_84" descr=""/>
          <p:cNvPicPr/>
          <p:nvPr/>
        </p:nvPicPr>
        <p:blipFill>
          <a:blip r:embed="rId1"/>
          <a:stretch/>
        </p:blipFill>
        <p:spPr>
          <a:xfrm>
            <a:off x="5026680" y="3313080"/>
            <a:ext cx="4116960" cy="3034080"/>
          </a:xfrm>
          <a:prstGeom prst="rect">
            <a:avLst/>
          </a:prstGeom>
          <a:ln w="0">
            <a:noFill/>
          </a:ln>
        </p:spPr>
      </p:pic>
      <p:sp>
        <p:nvSpPr>
          <p:cNvPr id="123" name="Google Shape;345;g3bc32104be3_0_84"/>
          <p:cNvSpPr/>
          <p:nvPr/>
        </p:nvSpPr>
        <p:spPr>
          <a:xfrm>
            <a:off x="5026680" y="6347520"/>
            <a:ext cx="411732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38088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Go from the lab to the office.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346;g3bc32104be3_0_84"/>
          <p:cNvSpPr/>
          <p:nvPr/>
        </p:nvSpPr>
        <p:spPr>
          <a:xfrm>
            <a:off x="0" y="3429000"/>
            <a:ext cx="5981040" cy="34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So the behavior looks like this: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Planner says: “Move toward the office.”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Sensors detect a chair blocking the way.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Reactive layer says: “Turn right now.”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After avoiding the chair, control goes back to the planner.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The robot continues toward the office.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This is why it is called </a:t>
            </a:r>
            <a:r>
              <a:rPr b="1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hybrid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80880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i="1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Think globally, act locally.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The </a:t>
            </a:r>
            <a:r>
              <a:rPr b="1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planner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 gives direction and purpose.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The </a:t>
            </a:r>
            <a:r>
              <a:rPr b="1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reactive system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 handles real-time safety and obstacles.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347;g3bc32104be3_0_84"/>
          <p:cNvSpPr/>
          <p:nvPr/>
        </p:nvSpPr>
        <p:spPr>
          <a:xfrm>
            <a:off x="0" y="1120320"/>
            <a:ext cx="4571640" cy="24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How it works: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Reactive Layer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○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While moving, the robot continuously reads its sensors.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○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If a person suddenly walks in front of it, it does not stop and re-plan the whole route.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○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It immediately slows down, turns slightly, and avoids the person.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348;g3bc32104be3_0_84"/>
          <p:cNvSpPr/>
          <p:nvPr/>
        </p:nvSpPr>
        <p:spPr>
          <a:xfrm>
            <a:off x="4481280" y="1549440"/>
            <a:ext cx="495468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2.</a:t>
            </a:r>
            <a:r>
              <a:rPr b="1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  Planning Layer (Deliberative)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Calibri"/>
              <a:buChar char="○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The robot has a map of the building.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○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It computes a path: Lab → Corridor → Stair → Office.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24000">
              <a:lnSpc>
                <a:spcPct val="115000"/>
              </a:lnSpc>
              <a:buClr>
                <a:srgbClr val="000000"/>
              </a:buClr>
              <a:buFont typeface="Calibri"/>
              <a:buChar char="○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This layer answers </a:t>
            </a:r>
            <a:r>
              <a:rPr b="0" i="1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where to go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Local and Global Model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865"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Reactive for Local control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Deliberative for Global control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However; Robot behavioral management requires to know its current mission, state and environment beside path-planning, map-making,  monitoring etc. So, both local and global models are required to be considered for a robot performance.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ROBOTIC PARADIGMS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Hierarchical/deliberative paradigm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The reactive paradigm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Hybrid deliberative/reactive paradigm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A fourth category, not always listed, is “Behavior-Based Control”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361;p146"/>
          <p:cNvSpPr/>
          <p:nvPr/>
        </p:nvSpPr>
        <p:spPr>
          <a:xfrm>
            <a:off x="2357640" y="5475960"/>
            <a:ext cx="41518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https://www.youtube.com/watch?v=dnidauuaWYU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366;g3bd3e8100fd_1_0"/>
          <p:cNvGraphicFramePr/>
          <p:nvPr/>
        </p:nvGraphicFramePr>
        <p:xfrm>
          <a:off x="311760" y="518040"/>
          <a:ext cx="8520120" cy="5808240"/>
        </p:xfrm>
        <a:graphic>
          <a:graphicData uri="http://schemas.openxmlformats.org/drawingml/2006/table">
            <a:tbl>
              <a:tblPr/>
              <a:tblGrid>
                <a:gridCol w="2169000"/>
                <a:gridCol w="1967400"/>
                <a:gridCol w="2370600"/>
                <a:gridCol w="2012760"/>
              </a:tblGrid>
              <a:tr h="500040">
                <a:tc gridSpan="4"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Comparison of Robotic Paradigms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613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Aspect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Hierarchical 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Reactive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Hybrid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Core Philosophy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Think first, then act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 immediately based on sensors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Think globally, act locally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S-P-A Coupling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Long planning phase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Direct mapping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Planner + Reactive loops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World Model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Explicit global model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No world model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Global + local models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Memory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Required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None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Partial (task &amp; map memory)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Planning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Centralized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No planning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High-level planning only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Reaction to dynamic changes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Very poor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Excellent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Excellent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Speed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Slow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Very fast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Balanced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Robustness to noise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Low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Medium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High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Local Obstacle Avoidance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Weak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Strong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Strong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Goal-Driven Behavior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Strong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Weak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Strong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Failure Mode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Freezes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Gets stuck in local minima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Graceful degradation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Real World Usability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Low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Medium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High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2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Examples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Early stage robots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Wall following robots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Autonomous cars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76160" y="2840760"/>
            <a:ext cx="7591320" cy="11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Let’s know, How robots work?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400;g38c21cebfdb_0_0" descr=""/>
          <p:cNvPicPr/>
          <p:nvPr/>
        </p:nvPicPr>
        <p:blipFill>
          <a:blip r:embed="rId1"/>
          <a:stretch/>
        </p:blipFill>
        <p:spPr>
          <a:xfrm>
            <a:off x="2552040" y="308880"/>
            <a:ext cx="4159440" cy="623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Sub-Systems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Sense/Perception/ Recognition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Plan/Control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Act/Motor Action/Motion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Power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Communication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411;g38c21cebfdb_0_22" descr="E:\Arif\Summer2020\CSE461\Lectures\intro pics\Robotics and Embedded Systems-28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416;g38c21cebfdb_0_487" descr="E:\Arif\Summer2020\CSE461\Lectures\intro pics\Robotics and Embedded Systems-39.jpg"/>
          <p:cNvPicPr/>
          <p:nvPr/>
        </p:nvPicPr>
        <p:blipFill>
          <a:blip r:embed="rId1"/>
          <a:stretch/>
        </p:blipFill>
        <p:spPr>
          <a:xfrm>
            <a:off x="0" y="0"/>
            <a:ext cx="9088560" cy="681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311760" y="489240"/>
            <a:ext cx="8520120" cy="101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  <a:ea typeface="Calibri"/>
              </a:rPr>
              <a:t>Sensor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368640" y="1463400"/>
            <a:ext cx="8406720" cy="255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A sensor is a device that detects or measures physical, chemical, or biological properties of the environment or a system and converts them into a signal that can be processed or analyzed.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Google Shape;423;g38c21cebfdb_0_491" descr=""/>
          <p:cNvPicPr/>
          <p:nvPr/>
        </p:nvPicPr>
        <p:blipFill>
          <a:blip r:embed="rId1"/>
          <a:stretch/>
        </p:blipFill>
        <p:spPr>
          <a:xfrm>
            <a:off x="1435680" y="3902040"/>
            <a:ext cx="6038640" cy="2619000"/>
          </a:xfrm>
          <a:prstGeom prst="rect">
            <a:avLst/>
          </a:prstGeom>
          <a:ln w="0">
            <a:noFill/>
          </a:ln>
        </p:spPr>
      </p:pic>
      <p:sp>
        <p:nvSpPr>
          <p:cNvPr id="142" name="Google Shape;424;g38c21cebfdb_0_491"/>
          <p:cNvSpPr/>
          <p:nvPr/>
        </p:nvSpPr>
        <p:spPr>
          <a:xfrm>
            <a:off x="6308280" y="5897520"/>
            <a:ext cx="1530720" cy="727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429;g38c21cebfdb_0_498" descr="E:\Arif\Summer2020\CSE461\Lectures\intro pics\Robotics and Embedded Systems-41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434;g38c21cebfdb_0_502" descr="E:\Arif\Summer2020\CSE461\Lectures\intro pics\Robotics and Embedded Systems-42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439;g38c21cebfdb_0_506" descr=""/>
          <p:cNvPicPr/>
          <p:nvPr/>
        </p:nvPicPr>
        <p:blipFill>
          <a:blip r:embed="rId1"/>
          <a:stretch/>
        </p:blipFill>
        <p:spPr>
          <a:xfrm>
            <a:off x="-19440" y="365760"/>
            <a:ext cx="9182520" cy="612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444;p59" descr="E:\Arif\Summer2020\CSE461\Lectures\intro pics\Robotics and Embedded Systems-43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449;p60" descr="E:\Arif\Summer2020\CSE461\Lectures\intro pics\Robotics and Embedded Systems-44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454;g38c21cebfdb_0_513" descr=""/>
          <p:cNvPicPr/>
          <p:nvPr/>
        </p:nvPicPr>
        <p:blipFill>
          <a:blip r:embed="rId1"/>
          <a:stretch/>
        </p:blipFill>
        <p:spPr>
          <a:xfrm>
            <a:off x="28800" y="397800"/>
            <a:ext cx="9086400" cy="542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/>
          </p:nvPr>
        </p:nvSpPr>
        <p:spPr>
          <a:xfrm>
            <a:off x="311760" y="7521120"/>
            <a:ext cx="5998320" cy="107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50" name="Google Shape;460;g38c21cebfdb_0_724" descr=""/>
          <p:cNvPicPr/>
          <p:nvPr/>
        </p:nvPicPr>
        <p:blipFill>
          <a:blip r:embed="rId1"/>
          <a:stretch/>
        </p:blipFill>
        <p:spPr>
          <a:xfrm>
            <a:off x="147240" y="469800"/>
            <a:ext cx="8849520" cy="517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465;g38c21cebfdb_0_523" descr=""/>
          <p:cNvPicPr/>
          <p:nvPr/>
        </p:nvPicPr>
        <p:blipFill>
          <a:blip r:embed="rId1"/>
          <a:stretch/>
        </p:blipFill>
        <p:spPr>
          <a:xfrm>
            <a:off x="19440" y="600480"/>
            <a:ext cx="9104760" cy="501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470;g38c21cebfdb_0_528" descr=""/>
          <p:cNvPicPr/>
          <p:nvPr/>
        </p:nvPicPr>
        <p:blipFill>
          <a:blip r:embed="rId1"/>
          <a:stretch/>
        </p:blipFill>
        <p:spPr>
          <a:xfrm>
            <a:off x="307440" y="826560"/>
            <a:ext cx="8528400" cy="520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/>
          </p:nvPr>
        </p:nvSpPr>
        <p:spPr>
          <a:xfrm>
            <a:off x="598680" y="330840"/>
            <a:ext cx="5998320" cy="80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Lidar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Google Shape;476;g38c21cebfdb_0_533" descr="YDLIDAR X4 2D LiDAR Sensor"/>
          <p:cNvPicPr/>
          <p:nvPr/>
        </p:nvPicPr>
        <p:blipFill>
          <a:blip r:embed="rId1"/>
          <a:stretch/>
        </p:blipFill>
        <p:spPr>
          <a:xfrm>
            <a:off x="291600" y="1553760"/>
            <a:ext cx="4795920" cy="3750480"/>
          </a:xfrm>
          <a:prstGeom prst="rect">
            <a:avLst/>
          </a:prstGeom>
          <a:ln w="0">
            <a:noFill/>
          </a:ln>
        </p:spPr>
      </p:pic>
      <p:pic>
        <p:nvPicPr>
          <p:cNvPr id="155" name="Google Shape;477;g38c21cebfdb_0_533" descr=""/>
          <p:cNvPicPr/>
          <p:nvPr/>
        </p:nvPicPr>
        <p:blipFill>
          <a:blip r:embed="rId2"/>
          <a:stretch/>
        </p:blipFill>
        <p:spPr>
          <a:xfrm>
            <a:off x="4496400" y="1660680"/>
            <a:ext cx="4647240" cy="353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482;g38c21cebfdb_0_789" descr=""/>
          <p:cNvPicPr/>
          <p:nvPr/>
        </p:nvPicPr>
        <p:blipFill>
          <a:blip r:embed="rId1"/>
          <a:stretch/>
        </p:blipFill>
        <p:spPr>
          <a:xfrm>
            <a:off x="76320" y="979560"/>
            <a:ext cx="8991360" cy="493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311760" y="2867760"/>
            <a:ext cx="8520120" cy="112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Let’s talk about a dream !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488;g38c21cebfdb_0_585"/>
          <p:cNvSpPr/>
          <p:nvPr/>
        </p:nvSpPr>
        <p:spPr>
          <a:xfrm>
            <a:off x="2369160" y="4299840"/>
            <a:ext cx="45172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1"/>
              </a:rPr>
              <a:t>https://www.youtube.com/watch?v=fn3KWM1kuAw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Google Shape;489;g38c21cebfdb_0_585" descr=""/>
          <p:cNvPicPr/>
          <p:nvPr/>
        </p:nvPicPr>
        <p:blipFill>
          <a:blip r:embed="rId2"/>
          <a:stretch/>
        </p:blipFill>
        <p:spPr>
          <a:xfrm>
            <a:off x="2754360" y="788760"/>
            <a:ext cx="3634920" cy="184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311760" y="2867760"/>
            <a:ext cx="8520120" cy="112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  <a:ea typeface="Calibri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  <dc:description/>
  <dc:language>en-US</dc:language>
  <cp:lastModifiedBy/>
  <dcterms:modified xsi:type="dcterms:W3CDTF">2026-02-19T00:25:48Z</dcterms:modified>
  <cp:revision>1</cp:revision>
  <dc:subject/>
  <dc:title/>
</cp:coreProperties>
</file>