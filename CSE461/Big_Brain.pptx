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6858000" cx="12192000"/>
  <p:notesSz cx="12192000" cy="6858000"/>
  <p:embeddedFontLst>
    <p:embeddedFont>
      <p:font typeface="Nunit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68" roundtripDataSignature="AMtx7mi41Q9gmi2dPRVAvejIIsDWj1tb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2E20F5-33A7-4E8F-BF9D-8D781D2472DF}">
  <a:tblStyle styleId="{D72E20F5-33A7-4E8F-BF9D-8D781D2472D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Nunito-regular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Nunito-italic.fntdata"/><Relationship Id="rId21" Type="http://schemas.openxmlformats.org/officeDocument/2006/relationships/slide" Target="slides/slide15.xml"/><Relationship Id="rId65" Type="http://schemas.openxmlformats.org/officeDocument/2006/relationships/font" Target="fonts/Nunito-bold.fntdata"/><Relationship Id="rId24" Type="http://schemas.openxmlformats.org/officeDocument/2006/relationships/slide" Target="slides/slide18.xml"/><Relationship Id="rId68" Type="http://customschemas.google.com/relationships/presentationmetadata" Target="metadata"/><Relationship Id="rId23" Type="http://schemas.openxmlformats.org/officeDocument/2006/relationships/slide" Target="slides/slide17.xml"/><Relationship Id="rId67" Type="http://schemas.openxmlformats.org/officeDocument/2006/relationships/font" Target="fonts/Nunito-bold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/>
          <p:nvPr>
            <p:ph idx="2" type="sldImg"/>
          </p:nvPr>
        </p:nvSpPr>
        <p:spPr>
          <a:xfrm>
            <a:off x="3810000" y="514350"/>
            <a:ext cx="4573588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arenR"/>
            </a:pPr>
            <a:r>
              <a:rPr i="1" lang="en-US">
                <a:solidFill>
                  <a:schemeClr val="dk1"/>
                </a:solidFill>
              </a:rPr>
              <a:t>How Does a Robot Think?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arenR"/>
            </a:pPr>
            <a:r>
              <a:rPr i="1" lang="en-US">
                <a:solidFill>
                  <a:schemeClr val="dk1"/>
                </a:solidFill>
              </a:rPr>
              <a:t>How can a robot make decisions like humans?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3810000" y="514350"/>
            <a:ext cx="4573588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65bd92dcd_0_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44" name="Google Shape;44;g3e65bd92dcd_0_3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65bd92dcd_0_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60" name="Google Shape;60;g3e65bd92dcd_0_3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65bd92dcd_0_6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79" name="Google Shape;79;g3e65bd92dcd_0_62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6ad5a7781_1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6ad5a7781_1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65bd92dcd_0_8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94" name="Google Shape;94;g3e65bd92dcd_0_8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5bd92dcd_0_9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05" name="Google Shape;105;g3e65bd92dcd_0_93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5bd92dcd_0_10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15" name="Google Shape;115;g3e65bd92dcd_0_109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65bd92dcd_0_1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23" name="Google Shape;123;g3e65bd92dcd_0_123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65bd92dcd_0_14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42" name="Google Shape;142;g3e65bd92dcd_0_141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65bd92dcd_1_29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65bd92dcd_1_29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65bd92dcd_1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Manually impossible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Need automatic learning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63" name="Google Shape;163;g3e65bd92dcd_1_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65bd92dcd_1_2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65bd92dcd_1_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65bd92dcd_1_4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65bd92dcd_1_4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5bd92dcd_1_4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65bd92dcd_1_4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65bd92dcd_1_6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65bd92dcd_1_6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65bd92dcd_1_8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65bd92dcd_1_8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65bd92dcd_1_10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65bd92dcd_1_10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65bd92dcd_1_11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65bd92dcd_1_1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65bd92dcd_1_12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65bd92dcd_1_1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65bd92dcd_1_13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65bd92dcd_1_13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65bd92dcd_1_16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65bd92dcd_1_16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65bd92dcd_1_18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65bd92dcd_1_18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our focus will be in supervised and unsupervised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65bd92dcd_1_23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65bd92dcd_1_23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65bd92dcd_1_25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e65bd92dcd_1_25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65bd92dcd_1_25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e65bd92dcd_1_25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65bd92dcd_1_26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65bd92dcd_1_26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65bd92dcd_1_27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65bd92dcd_1_27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65bd92dcd_1_27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65bd92dcd_1_27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65bd92dcd_1_28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65bd92dcd_1_28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65bd92dcd_1_30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65bd92dcd_1_30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65bd92dcd_1_31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65bd92dcd_1_3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65bd92dcd_1_32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65bd92dcd_1_3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6ad5a7781_1_1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e6ad5a7781_1_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65bd92dcd_1_32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e65bd92dcd_1_3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6ad5a7781_1_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6ad5a7781_1_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65bd92dcd_1_33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e65bd92dcd_1_3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65bd92dcd_1_34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e65bd92dcd_1_34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65bd92dcd_1_35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e65bd92dcd_1_35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65bd92dcd_1_36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e65bd92dcd_1_36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65bd92dcd_1_37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e65bd92dcd_1_37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65bd92dcd_1_37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e65bd92dcd_1_37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65bd92dcd_1_38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e65bd92dcd_1_38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65bd92dcd_1_38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e65bd92dcd_1_38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65bd92dcd_1_39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e65bd92dcd_1_3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65bd92dcd_1_40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e65bd92dcd_1_40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65bd92dcd_1_42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e65bd92dcd_1_4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65bd92dcd_1_43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e65bd92dcd_1_4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683e9e0c0_1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e683e9e0c0_1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683e9e0c0_1_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e683e9e0c0_1_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65bd92dcd_1_40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e65bd92dcd_1_40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65bd92dcd_1_41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e65bd92dcd_1_4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65bd92dcd_1_41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65bd92dcd_1_4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e65bd92dcd_1_44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e65bd92dcd_1_44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65bd92dcd_1_45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65bd92dcd_1_4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p3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11296610" y="6217622"/>
            <a:ext cx="73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917257" y="1422463"/>
            <a:ext cx="8268300" cy="4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0" type="dt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2" type="sldNum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12119" y="137160"/>
            <a:ext cx="1163320" cy="10642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3"/>
          <p:cNvSpPr txBox="1"/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" type="body"/>
          </p:nvPr>
        </p:nvSpPr>
        <p:spPr>
          <a:xfrm>
            <a:off x="917257" y="1422463"/>
            <a:ext cx="8268300" cy="4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0" type="dt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2" type="sldNum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.gif"/><Relationship Id="rId4" Type="http://schemas.openxmlformats.org/officeDocument/2006/relationships/image" Target="../media/image24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209361" y="859259"/>
            <a:ext cx="113607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Big Brain of Robot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415600" y="3729567"/>
            <a:ext cx="11360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Robot with Brain</a:t>
            </a:r>
            <a:endParaRPr/>
          </a:p>
        </p:txBody>
      </p:sp>
      <p:sp>
        <p:nvSpPr>
          <p:cNvPr id="39" name="Google Shape;39;p2"/>
          <p:cNvSpPr txBox="1"/>
          <p:nvPr>
            <p:ph idx="10" type="dt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40" name="Google Shape;40;p2"/>
          <p:cNvSpPr txBox="1"/>
          <p:nvPr>
            <p:ph idx="12" type="sldNum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000" y="1232353"/>
            <a:ext cx="6773998" cy="508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e65bd92dcd_0_3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Inspired by the Human Brain</a:t>
            </a:r>
            <a:endParaRPr/>
          </a:p>
        </p:txBody>
      </p:sp>
      <p:sp>
        <p:nvSpPr>
          <p:cNvPr id="47" name="Google Shape;47;g3e65bd92dcd_0_3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48" name="Google Shape;48;g3e65bd92dcd_0_3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g3e65bd92dcd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651" y="2904353"/>
            <a:ext cx="2585721" cy="173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g3e65bd92dcd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9364" y="2904353"/>
            <a:ext cx="2585721" cy="173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e65bd92dcd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1284" y="2904352"/>
            <a:ext cx="2585721" cy="17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e65bd92dcd_0_3"/>
          <p:cNvSpPr txBox="1"/>
          <p:nvPr/>
        </p:nvSpPr>
        <p:spPr>
          <a:xfrm>
            <a:off x="245275" y="3557327"/>
            <a:ext cx="23595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825" lIns="120825" spcFirstLastPara="1" rIns="120825" wrap="square" tIns="1208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11"/>
              <a:buFont typeface="Arial"/>
              <a:buNone/>
            </a:pPr>
            <a:r>
              <a:rPr b="0" i="0" lang="en-US" sz="25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Informations</a:t>
            </a:r>
            <a:endParaRPr b="0" i="0" sz="25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e65bd92dcd_0_3"/>
          <p:cNvSpPr txBox="1"/>
          <p:nvPr/>
        </p:nvSpPr>
        <p:spPr>
          <a:xfrm>
            <a:off x="10028227" y="3305985"/>
            <a:ext cx="19185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825" lIns="120825" spcFirstLastPara="1" rIns="120825" wrap="square" tIns="1208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11"/>
              <a:buFont typeface="Arial"/>
              <a:buNone/>
            </a:pPr>
            <a:r>
              <a:rPr b="0" i="0" lang="en-US" sz="25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25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e65bd92dcd_0_3"/>
          <p:cNvSpPr/>
          <p:nvPr/>
        </p:nvSpPr>
        <p:spPr>
          <a:xfrm>
            <a:off x="560742" y="3305985"/>
            <a:ext cx="1374000" cy="25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825" lIns="120825" spcFirstLastPara="1" rIns="120825" wrap="square" tIns="12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e65bd92dcd_0_3"/>
          <p:cNvSpPr/>
          <p:nvPr/>
        </p:nvSpPr>
        <p:spPr>
          <a:xfrm>
            <a:off x="10016994" y="3113019"/>
            <a:ext cx="1374000" cy="25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825" lIns="120825" spcFirstLastPara="1" rIns="120825" wrap="square" tIns="12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e65bd92dcd_0_3"/>
          <p:cNvSpPr txBox="1"/>
          <p:nvPr/>
        </p:nvSpPr>
        <p:spPr>
          <a:xfrm>
            <a:off x="4495325" y="4923950"/>
            <a:ext cx="334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N</a:t>
            </a:r>
            <a:r>
              <a:rPr lang="en-US" sz="1600"/>
              <a:t>eurons process signals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Connections = learning</a:t>
            </a:r>
            <a:endParaRPr sz="1600"/>
          </a:p>
        </p:txBody>
      </p:sp>
      <p:sp>
        <p:nvSpPr>
          <p:cNvPr id="57" name="Google Shape;57;g3e65bd92dcd_0_3"/>
          <p:cNvSpPr txBox="1"/>
          <p:nvPr/>
        </p:nvSpPr>
        <p:spPr>
          <a:xfrm>
            <a:off x="4019375" y="5833050"/>
            <a:ext cx="450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Reference: </a:t>
            </a:r>
            <a:r>
              <a:rPr lang="en-US"/>
              <a:t>McCulloch &amp; Pitts (1943 neuron model)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65bd92dcd_0_30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Neuron</a:t>
            </a:r>
            <a:endParaRPr/>
          </a:p>
        </p:txBody>
      </p:sp>
      <p:sp>
        <p:nvSpPr>
          <p:cNvPr id="63" name="Google Shape;63;g3e65bd92dcd_0_30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64" name="Google Shape;64;g3e65bd92dcd_0_30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g3e65bd92dcd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2425" y="1704050"/>
            <a:ext cx="9027125" cy="45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e65bd92dcd_0_30"/>
          <p:cNvSpPr/>
          <p:nvPr/>
        </p:nvSpPr>
        <p:spPr>
          <a:xfrm>
            <a:off x="5048500" y="2550900"/>
            <a:ext cx="1871400" cy="1756200"/>
          </a:xfrm>
          <a:prstGeom prst="ellipse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e65bd92dcd_0_30"/>
          <p:cNvSpPr/>
          <p:nvPr/>
        </p:nvSpPr>
        <p:spPr>
          <a:xfrm>
            <a:off x="8995775" y="2885375"/>
            <a:ext cx="1239000" cy="109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e65bd92dcd_0_30"/>
          <p:cNvSpPr/>
          <p:nvPr/>
        </p:nvSpPr>
        <p:spPr>
          <a:xfrm>
            <a:off x="1965475" y="1704050"/>
            <a:ext cx="1051500" cy="10512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e65bd92dcd_0_30"/>
          <p:cNvSpPr/>
          <p:nvPr/>
        </p:nvSpPr>
        <p:spPr>
          <a:xfrm>
            <a:off x="1965400" y="2975050"/>
            <a:ext cx="1051500" cy="10512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e65bd92dcd_0_30"/>
          <p:cNvSpPr/>
          <p:nvPr/>
        </p:nvSpPr>
        <p:spPr>
          <a:xfrm>
            <a:off x="1965475" y="4307100"/>
            <a:ext cx="1051500" cy="10512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65bd92dcd_0_30"/>
          <p:cNvSpPr/>
          <p:nvPr/>
        </p:nvSpPr>
        <p:spPr>
          <a:xfrm rot="1747986">
            <a:off x="3478845" y="2184774"/>
            <a:ext cx="616835" cy="365982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e65bd92dcd_0_30"/>
          <p:cNvSpPr/>
          <p:nvPr/>
        </p:nvSpPr>
        <p:spPr>
          <a:xfrm rot="-2703548">
            <a:off x="3390873" y="4532607"/>
            <a:ext cx="616668" cy="36614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e65bd92dcd_0_30"/>
          <p:cNvSpPr/>
          <p:nvPr/>
        </p:nvSpPr>
        <p:spPr>
          <a:xfrm rot="-1672">
            <a:off x="3390811" y="3087272"/>
            <a:ext cx="616800" cy="36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65bd92dcd_0_30"/>
          <p:cNvSpPr/>
          <p:nvPr/>
        </p:nvSpPr>
        <p:spPr>
          <a:xfrm rot="-1805">
            <a:off x="1400856" y="5727511"/>
            <a:ext cx="1714500" cy="42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e65bd92dcd_0_30"/>
          <p:cNvSpPr/>
          <p:nvPr/>
        </p:nvSpPr>
        <p:spPr>
          <a:xfrm rot="-1805">
            <a:off x="5238706" y="5778511"/>
            <a:ext cx="1714500" cy="42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e65bd92dcd_0_30"/>
          <p:cNvSpPr/>
          <p:nvPr/>
        </p:nvSpPr>
        <p:spPr>
          <a:xfrm rot="-1805">
            <a:off x="8758031" y="5727511"/>
            <a:ext cx="1714500" cy="42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65bd92dcd_0_62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Neuron</a:t>
            </a:r>
            <a:endParaRPr/>
          </a:p>
        </p:txBody>
      </p:sp>
      <p:sp>
        <p:nvSpPr>
          <p:cNvPr id="82" name="Google Shape;82;g3e65bd92dcd_0_62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83" name="Google Shape;83;g3e65bd92dcd_0_62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" name="Google Shape;84;g3e65bd92dcd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2425" y="1704050"/>
            <a:ext cx="9027125" cy="45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e6ad5a7781_1_0"/>
          <p:cNvPicPr preferRelativeResize="0"/>
          <p:nvPr/>
        </p:nvPicPr>
        <p:blipFill rotWithShape="1">
          <a:blip r:embed="rId3">
            <a:alphaModFix/>
          </a:blip>
          <a:srcRect b="18242" l="0" r="0" t="13717"/>
          <a:stretch/>
        </p:blipFill>
        <p:spPr>
          <a:xfrm>
            <a:off x="3272250" y="3993052"/>
            <a:ext cx="5893800" cy="2673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e6ad5a7781_1_0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</a:t>
            </a:r>
            <a:endParaRPr/>
          </a:p>
        </p:txBody>
      </p:sp>
      <p:sp>
        <p:nvSpPr>
          <p:cNvPr id="91" name="Google Shape;91;g3e6ad5a7781_1_0"/>
          <p:cNvSpPr txBox="1"/>
          <p:nvPr>
            <p:ph idx="1" type="body"/>
          </p:nvPr>
        </p:nvSpPr>
        <p:spPr>
          <a:xfrm>
            <a:off x="917248" y="1422475"/>
            <a:ext cx="10603800" cy="3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Machine learning is the scientific study of algorithms and statistical models that computer systems use to perform tasks without explicit instructions. </a:t>
            </a:r>
            <a:br>
              <a:rPr lang="en-US" sz="3000"/>
            </a:br>
            <a:br>
              <a:rPr lang="en-US" sz="3000"/>
            </a:br>
            <a:r>
              <a:rPr lang="en-US" sz="3000"/>
              <a:t>It is broadly defined as the capability of a machine to imitate intelligent human behavior.</a:t>
            </a:r>
            <a:endParaRPr sz="3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65bd92dcd_0_80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97" name="Google Shape;97;g3e65bd92dcd_0_80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g3e65bd92dcd_0_80"/>
          <p:cNvSpPr txBox="1"/>
          <p:nvPr/>
        </p:nvSpPr>
        <p:spPr>
          <a:xfrm>
            <a:off x="2147275" y="1903125"/>
            <a:ext cx="7442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g3e65bd92dcd_0_80"/>
          <p:cNvSpPr txBox="1"/>
          <p:nvPr/>
        </p:nvSpPr>
        <p:spPr>
          <a:xfrm>
            <a:off x="2075400" y="2933675"/>
            <a:ext cx="7442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So there are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3 inputs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3 corresponding weights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g3e65bd92dcd_0_80"/>
          <p:cNvSpPr txBox="1"/>
          <p:nvPr/>
        </p:nvSpPr>
        <p:spPr>
          <a:xfrm>
            <a:off x="2147275" y="4351050"/>
            <a:ext cx="7442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If the</a:t>
            </a: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 input number is </a:t>
            </a: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n.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How many weights will be there?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g3e65bd92dcd_0_80"/>
          <p:cNvSpPr txBox="1"/>
          <p:nvPr/>
        </p:nvSpPr>
        <p:spPr>
          <a:xfrm>
            <a:off x="2147275" y="5387950"/>
            <a:ext cx="7442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9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="1"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g3e65bd92dcd_0_80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Mother Law of Machine Learning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65bd92dcd_0_93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08" name="Google Shape;108;g3e65bd92dcd_0_93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e65bd92dcd_0_93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Mother Law of Machine Learning</a:t>
            </a:r>
            <a:endParaRPr/>
          </a:p>
        </p:txBody>
      </p:sp>
      <p:sp>
        <p:nvSpPr>
          <p:cNvPr id="110" name="Google Shape;110;g3e65bd92dcd_0_93"/>
          <p:cNvSpPr txBox="1"/>
          <p:nvPr/>
        </p:nvSpPr>
        <p:spPr>
          <a:xfrm>
            <a:off x="3085150" y="1766775"/>
            <a:ext cx="602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Output = ∑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aseline="-25000"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i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65bd92dcd_0_93"/>
          <p:cNvSpPr txBox="1"/>
          <p:nvPr/>
        </p:nvSpPr>
        <p:spPr>
          <a:xfrm>
            <a:off x="480900" y="2906300"/>
            <a:ext cx="4735800" cy="3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Good to Know:</a:t>
            </a:r>
            <a:r>
              <a:rPr lang="en-US" sz="1300">
                <a:solidFill>
                  <a:schemeClr val="dk1"/>
                </a:solidFill>
              </a:rPr>
              <a:t> In practice, neural networks include two additional components.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 (i) </a:t>
            </a:r>
            <a:r>
              <a:rPr b="1" lang="en-US" sz="1300">
                <a:solidFill>
                  <a:schemeClr val="dk1"/>
                </a:solidFill>
              </a:rPr>
              <a:t>Bias:</a:t>
            </a:r>
            <a:r>
              <a:rPr lang="en-US" sz="1300">
                <a:solidFill>
                  <a:schemeClr val="dk1"/>
                </a:solidFill>
              </a:rPr>
              <a:t> an extra input with a fixed value </a:t>
            </a:r>
            <a:r>
              <a:rPr b="1" i="1" lang="en-US" sz="1300">
                <a:solidFill>
                  <a:schemeClr val="dk1"/>
                </a:solidFill>
              </a:rPr>
              <a:t>x</a:t>
            </a:r>
            <a:r>
              <a:rPr b="1" baseline="-25000" i="1" lang="en-US" sz="1300">
                <a:solidFill>
                  <a:schemeClr val="dk1"/>
                </a:solidFill>
              </a:rPr>
              <a:t>0</a:t>
            </a:r>
            <a:r>
              <a:rPr b="1" i="1" lang="en-US" sz="1300">
                <a:solidFill>
                  <a:schemeClr val="dk1"/>
                </a:solidFill>
              </a:rPr>
              <a:t>= 1,</a:t>
            </a:r>
            <a:r>
              <a:rPr lang="en-US" sz="1300">
                <a:solidFill>
                  <a:schemeClr val="dk1"/>
                </a:solidFill>
              </a:rPr>
              <a:t> which has its own weight </a:t>
            </a:r>
            <a:r>
              <a:rPr i="1" lang="en-US" sz="1300">
                <a:solidFill>
                  <a:schemeClr val="dk1"/>
                </a:solidFill>
              </a:rPr>
              <a:t>w</a:t>
            </a:r>
            <a:r>
              <a:rPr baseline="-25000" i="1" lang="en-US" sz="1300">
                <a:solidFill>
                  <a:schemeClr val="dk1"/>
                </a:solidFill>
              </a:rPr>
              <a:t>0</a:t>
            </a:r>
            <a:r>
              <a:rPr lang="en-US" sz="1300">
                <a:solidFill>
                  <a:schemeClr val="dk1"/>
                </a:solidFill>
              </a:rPr>
              <a:t>​. This allows the neuron output to shift (acts like a threshold).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 (ii) </a:t>
            </a:r>
            <a:r>
              <a:rPr b="1" lang="en-US" sz="1300">
                <a:solidFill>
                  <a:schemeClr val="dk1"/>
                </a:solidFill>
              </a:rPr>
              <a:t>Activation Function:</a:t>
            </a:r>
            <a:r>
              <a:rPr lang="en-US" sz="1300">
                <a:solidFill>
                  <a:schemeClr val="dk1"/>
                </a:solidFill>
              </a:rPr>
              <a:t> the neuron output is passed through a function </a:t>
            </a:r>
            <a:r>
              <a:rPr b="1" i="1" lang="en-US" sz="1300">
                <a:solidFill>
                  <a:schemeClr val="dk1"/>
                </a:solidFill>
              </a:rPr>
              <a:t>f(⋅) </a:t>
            </a:r>
            <a:r>
              <a:rPr lang="en-US" sz="1300">
                <a:solidFill>
                  <a:schemeClr val="dk1"/>
                </a:solidFill>
              </a:rPr>
              <a:t>(e.g., ReLU, sigmoid) to introduce non-linearity.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For simplicity, in this course we will </a:t>
            </a:r>
            <a:r>
              <a:rPr b="1" lang="en-US" sz="1300">
                <a:solidFill>
                  <a:schemeClr val="dk1"/>
                </a:solidFill>
              </a:rPr>
              <a:t>ignore both bias and activation functions</a:t>
            </a:r>
            <a:r>
              <a:rPr lang="en-US" sz="1300">
                <a:solidFill>
                  <a:schemeClr val="dk1"/>
                </a:solidFill>
              </a:rPr>
              <a:t> and focus only on the linear model. The right figure shows the neurons that are implemented practically.</a:t>
            </a:r>
            <a:endParaRPr sz="24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g3e65bd92dcd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2800" y="2845750"/>
            <a:ext cx="5705575" cy="32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65bd92dcd_0_109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Neuron Connections</a:t>
            </a:r>
            <a:endParaRPr/>
          </a:p>
        </p:txBody>
      </p:sp>
      <p:sp>
        <p:nvSpPr>
          <p:cNvPr id="118" name="Google Shape;118;g3e65bd92dcd_0_109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19" name="Google Shape;119;g3e65bd92dcd_0_109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0" name="Google Shape;120;g3e65bd92dcd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7050" y="1190375"/>
            <a:ext cx="7405400" cy="44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65bd92dcd_0_123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Fun: Neuron Connections</a:t>
            </a:r>
            <a:endParaRPr/>
          </a:p>
        </p:txBody>
      </p:sp>
      <p:sp>
        <p:nvSpPr>
          <p:cNvPr id="126" name="Google Shape;126;g3e65bd92dcd_0_123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27" name="Google Shape;127;g3e65bd92dcd_0_123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" name="Google Shape;128;g3e65bd92dcd_0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724" y="1635012"/>
            <a:ext cx="6254977" cy="378171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e65bd92dcd_0_123"/>
          <p:cNvSpPr txBox="1"/>
          <p:nvPr/>
        </p:nvSpPr>
        <p:spPr>
          <a:xfrm>
            <a:off x="7704800" y="1728300"/>
            <a:ext cx="42339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How many hidden layers are there? 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How many weights are in the network?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65bd92dcd_0_123"/>
          <p:cNvSpPr txBox="1"/>
          <p:nvPr/>
        </p:nvSpPr>
        <p:spPr>
          <a:xfrm>
            <a:off x="7857200" y="3542950"/>
            <a:ext cx="4345200" cy="3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Two Hidden layers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From input to first hidder layer : 4 + 4 + 4 = 4 * 3 = 12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From 1st hidden layer to second hidden layer: 4 + 4 + 4 + 4 = 4 * 4 = 16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From 2nd hidden layer to output layer: 1 + 1 + 1 + 1 = 4 * 1 = 4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g3e65bd92dcd_0_123"/>
          <p:cNvCxnSpPr/>
          <p:nvPr/>
        </p:nvCxnSpPr>
        <p:spPr>
          <a:xfrm>
            <a:off x="1547225" y="5416725"/>
            <a:ext cx="1432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stealth"/>
          </a:ln>
        </p:spPr>
      </p:cxnSp>
      <p:cxnSp>
        <p:nvCxnSpPr>
          <p:cNvPr id="132" name="Google Shape;132;g3e65bd92dcd_0_123"/>
          <p:cNvCxnSpPr/>
          <p:nvPr/>
        </p:nvCxnSpPr>
        <p:spPr>
          <a:xfrm>
            <a:off x="3518675" y="5416725"/>
            <a:ext cx="1432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stealth"/>
          </a:ln>
        </p:spPr>
      </p:cxnSp>
      <p:cxnSp>
        <p:nvCxnSpPr>
          <p:cNvPr id="133" name="Google Shape;133;g3e65bd92dcd_0_123"/>
          <p:cNvCxnSpPr/>
          <p:nvPr/>
        </p:nvCxnSpPr>
        <p:spPr>
          <a:xfrm>
            <a:off x="5228750" y="5416725"/>
            <a:ext cx="1432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stealth"/>
          </a:ln>
        </p:spPr>
      </p:cxnSp>
      <p:sp>
        <p:nvSpPr>
          <p:cNvPr id="134" name="Google Shape;134;g3e65bd92dcd_0_123"/>
          <p:cNvSpPr txBox="1"/>
          <p:nvPr/>
        </p:nvSpPr>
        <p:spPr>
          <a:xfrm>
            <a:off x="1871325" y="5494550"/>
            <a:ext cx="9303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3 * 4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65bd92dcd_0_123"/>
          <p:cNvSpPr txBox="1"/>
          <p:nvPr/>
        </p:nvSpPr>
        <p:spPr>
          <a:xfrm>
            <a:off x="3853250" y="5494550"/>
            <a:ext cx="9303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 * 4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65bd92dcd_0_123"/>
          <p:cNvSpPr txBox="1"/>
          <p:nvPr/>
        </p:nvSpPr>
        <p:spPr>
          <a:xfrm>
            <a:off x="5479700" y="5494550"/>
            <a:ext cx="9303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4 * 1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e65bd92dcd_0_123"/>
          <p:cNvSpPr txBox="1"/>
          <p:nvPr/>
        </p:nvSpPr>
        <p:spPr>
          <a:xfrm>
            <a:off x="2801625" y="5445200"/>
            <a:ext cx="810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65bd92dcd_0_123"/>
          <p:cNvSpPr txBox="1"/>
          <p:nvPr/>
        </p:nvSpPr>
        <p:spPr>
          <a:xfrm>
            <a:off x="4668800" y="5445200"/>
            <a:ext cx="810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65bd92dcd_0_123"/>
          <p:cNvSpPr txBox="1"/>
          <p:nvPr/>
        </p:nvSpPr>
        <p:spPr>
          <a:xfrm>
            <a:off x="6332500" y="5494550"/>
            <a:ext cx="14322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=   32</a:t>
            </a:r>
            <a:endParaRPr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65bd92dcd_0_141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45" name="Google Shape;145;g3e65bd92dcd_0_141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g3e65bd92dcd_0_141"/>
          <p:cNvSpPr txBox="1"/>
          <p:nvPr/>
        </p:nvSpPr>
        <p:spPr>
          <a:xfrm>
            <a:off x="0" y="1000875"/>
            <a:ext cx="116439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925" lIns="124925" spcFirstLastPara="1" rIns="124925" wrap="square" tIns="124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0"/>
              <a:t>Robot’s</a:t>
            </a:r>
            <a:r>
              <a:rPr lang="en-US" sz="4920">
                <a:solidFill>
                  <a:srgbClr val="000000"/>
                </a:solidFill>
              </a:rPr>
              <a:t> Brain</a:t>
            </a:r>
            <a:endParaRPr sz="4920">
              <a:solidFill>
                <a:srgbClr val="000000"/>
              </a:solidFill>
            </a:endParaRPr>
          </a:p>
        </p:txBody>
      </p:sp>
      <p:sp>
        <p:nvSpPr>
          <p:cNvPr id="147" name="Google Shape;147;g3e65bd92dcd_0_141"/>
          <p:cNvSpPr txBox="1"/>
          <p:nvPr/>
        </p:nvSpPr>
        <p:spPr>
          <a:xfrm>
            <a:off x="91694" y="3792691"/>
            <a:ext cx="2439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4925" lIns="124925" spcFirstLastPara="1" rIns="124925" wrap="square" tIns="12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6"/>
              <a:buFont typeface="Arial"/>
              <a:buNone/>
            </a:pPr>
            <a:r>
              <a:rPr b="0" i="0" lang="en-US" sz="25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Informations</a:t>
            </a:r>
            <a:endParaRPr b="0" i="0" sz="259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e65bd92dcd_0_141"/>
          <p:cNvSpPr txBox="1"/>
          <p:nvPr/>
        </p:nvSpPr>
        <p:spPr>
          <a:xfrm>
            <a:off x="10208234" y="3532777"/>
            <a:ext cx="1983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4925" lIns="124925" spcFirstLastPara="1" rIns="124925" wrap="square" tIns="124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6"/>
              <a:buFont typeface="Arial"/>
              <a:buNone/>
            </a:pPr>
            <a:r>
              <a:rPr b="0" i="0" lang="en-US" sz="25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259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e65bd92dcd_0_141"/>
          <p:cNvSpPr/>
          <p:nvPr/>
        </p:nvSpPr>
        <p:spPr>
          <a:xfrm>
            <a:off x="417918" y="3532777"/>
            <a:ext cx="1420800" cy="26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30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925" lIns="124925" spcFirstLastPara="1" rIns="124925" wrap="square" tIns="124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3"/>
              <a:buFont typeface="Arial"/>
              <a:buNone/>
            </a:pPr>
            <a:r>
              <a:t/>
            </a:r>
            <a:endParaRPr b="0" i="0" sz="19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e65bd92dcd_0_141"/>
          <p:cNvSpPr/>
          <p:nvPr/>
        </p:nvSpPr>
        <p:spPr>
          <a:xfrm>
            <a:off x="10196619" y="3333230"/>
            <a:ext cx="1420800" cy="26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30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925" lIns="124925" spcFirstLastPara="1" rIns="124925" wrap="square" tIns="124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3"/>
              <a:buFont typeface="Arial"/>
              <a:buNone/>
            </a:pPr>
            <a:r>
              <a:t/>
            </a:r>
            <a:endParaRPr b="0" i="0" sz="19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e65bd92dcd_0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3887" y="2151218"/>
            <a:ext cx="6078961" cy="3675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65bd92dcd_1_290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Neural Network with Real World</a:t>
            </a:r>
            <a:endParaRPr/>
          </a:p>
        </p:txBody>
      </p:sp>
      <p:pic>
        <p:nvPicPr>
          <p:cNvPr id="157" name="Google Shape;157;g3e65bd92dcd_1_290" title="Screenshot from 2026-04-27 00-36-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0799"/>
            <a:ext cx="4012400" cy="31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e65bd92dcd_1_2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0202" y="1931699"/>
            <a:ext cx="4966530" cy="30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e65bd92dcd_1_290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11</a:t>
            </a:r>
            <a:endParaRPr/>
          </a:p>
        </p:txBody>
      </p:sp>
      <p:pic>
        <p:nvPicPr>
          <p:cNvPr id="160" name="Google Shape;160;g3e65bd92dcd_1_290" title="Screenshot from 2026-04-27 00-40-3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6732" y="2045838"/>
            <a:ext cx="2746043" cy="277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65bd92dcd_1_0"/>
          <p:cNvSpPr txBox="1"/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Problem: How to Find Weights?</a:t>
            </a:r>
            <a:endParaRPr/>
          </a:p>
        </p:txBody>
      </p:sp>
      <p:sp>
        <p:nvSpPr>
          <p:cNvPr id="166" name="Google Shape;166;g3e65bd92dcd_1_0"/>
          <p:cNvSpPr txBox="1"/>
          <p:nvPr>
            <p:ph idx="10" type="dt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67" name="Google Shape;167;g3e65bd92dcd_1_0"/>
          <p:cNvSpPr txBox="1"/>
          <p:nvPr>
            <p:ph idx="12" type="sldNum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g3e65bd92dcd_1_0"/>
          <p:cNvSpPr txBox="1"/>
          <p:nvPr/>
        </p:nvSpPr>
        <p:spPr>
          <a:xfrm>
            <a:off x="961800" y="1651775"/>
            <a:ext cx="107574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Manually Impossible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an </a:t>
            </a:r>
            <a:r>
              <a:rPr b="1"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Automatics Process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find all weight values.</a:t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e65bd92dcd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650" y="2912375"/>
            <a:ext cx="5667462" cy="340047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e65bd92dcd_1_0"/>
          <p:cNvSpPr txBox="1"/>
          <p:nvPr/>
        </p:nvSpPr>
        <p:spPr>
          <a:xfrm>
            <a:off x="7568900" y="3115375"/>
            <a:ext cx="3387300" cy="28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learn: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Excercise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robotics we named this process:</a:t>
            </a: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2200" u="sng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1" i="1" sz="2200" u="sng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65bd92dcd_1_0"/>
          <p:cNvSpPr txBox="1"/>
          <p:nvPr/>
        </p:nvSpPr>
        <p:spPr>
          <a:xfrm>
            <a:off x="972300" y="2373125"/>
            <a:ext cx="107364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Automatics Process is named 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65bd92dcd_1_25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Learning</a:t>
            </a:r>
            <a:endParaRPr/>
          </a:p>
        </p:txBody>
      </p:sp>
      <p:sp>
        <p:nvSpPr>
          <p:cNvPr id="177" name="Google Shape;177;g3e65bd92dcd_1_25"/>
          <p:cNvSpPr txBox="1"/>
          <p:nvPr>
            <p:ph idx="1" type="body"/>
          </p:nvPr>
        </p:nvSpPr>
        <p:spPr>
          <a:xfrm>
            <a:off x="917250" y="1422650"/>
            <a:ext cx="11199300" cy="20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-US" u="sng">
                <a:solidFill>
                  <a:schemeClr val="dk1"/>
                </a:solidFill>
              </a:rPr>
              <a:t>Supervised</a:t>
            </a:r>
            <a:r>
              <a:rPr lang="en-US">
                <a:solidFill>
                  <a:schemeClr val="dk1"/>
                </a:solidFill>
              </a:rPr>
              <a:t>: Learns a mapping from inputs to outputs using labeled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-US" u="sng">
                <a:solidFill>
                  <a:schemeClr val="dk1"/>
                </a:solidFill>
              </a:rPr>
              <a:t>Unsupervised</a:t>
            </a:r>
            <a:r>
              <a:rPr lang="en-US">
                <a:solidFill>
                  <a:schemeClr val="dk1"/>
                </a:solidFill>
              </a:rPr>
              <a:t>: Finds patterns or structure in data without any labels.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-US" u="sng">
                <a:solidFill>
                  <a:schemeClr val="dk1"/>
                </a:solidFill>
              </a:rPr>
              <a:t>Semi-supervised:</a:t>
            </a:r>
            <a:r>
              <a:rPr lang="en-US">
                <a:solidFill>
                  <a:schemeClr val="dk1"/>
                </a:solidFill>
              </a:rPr>
              <a:t> Uses a small amount of labeled data along with a large amount of unlabeled data to learn.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en-US" u="sng">
                <a:solidFill>
                  <a:schemeClr val="dk1"/>
                </a:solidFill>
              </a:rPr>
              <a:t>Reinforcement Learning</a:t>
            </a:r>
            <a:r>
              <a:rPr lang="en-US">
                <a:solidFill>
                  <a:schemeClr val="dk1"/>
                </a:solidFill>
              </a:rPr>
              <a:t>: Learns actions by interacting with an environment to maximize cumulative reward.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g3e65bd92dcd_1_25"/>
          <p:cNvSpPr txBox="1"/>
          <p:nvPr/>
        </p:nvSpPr>
        <p:spPr>
          <a:xfrm>
            <a:off x="917250" y="4287300"/>
            <a:ext cx="1068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our focus will be in supervised learning</a:t>
            </a:r>
            <a:endParaRPr sz="25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65bd92dcd_1_41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graphicFrame>
        <p:nvGraphicFramePr>
          <p:cNvPr id="184" name="Google Shape;184;g3e65bd92dcd_1_41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4748575"/>
                <a:gridCol w="4748575"/>
              </a:tblGrid>
              <a:tr h="6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65bd92dcd_1_48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graphicFrame>
        <p:nvGraphicFramePr>
          <p:cNvPr id="190" name="Google Shape;190;g3e65bd92dcd_1_48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4549925"/>
                <a:gridCol w="4549925"/>
              </a:tblGrid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91" name="Google Shape;191;g3e65bd92dcd_1_48"/>
          <p:cNvCxnSpPr/>
          <p:nvPr/>
        </p:nvCxnSpPr>
        <p:spPr>
          <a:xfrm flipH="1" rot="10800000">
            <a:off x="2972900" y="5758825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92" name="Google Shape;192;g3e65bd92dcd_1_48"/>
          <p:cNvSpPr/>
          <p:nvPr/>
        </p:nvSpPr>
        <p:spPr>
          <a:xfrm>
            <a:off x="3341875" y="5658175"/>
            <a:ext cx="246000" cy="234900"/>
          </a:xfrm>
          <a:prstGeom prst="ellipse">
            <a:avLst/>
          </a:prstGeom>
          <a:solidFill>
            <a:srgbClr val="21212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e65bd92dcd_1_48"/>
          <p:cNvSpPr/>
          <p:nvPr/>
        </p:nvSpPr>
        <p:spPr>
          <a:xfrm>
            <a:off x="376677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65bd92dcd_1_48"/>
          <p:cNvSpPr/>
          <p:nvPr/>
        </p:nvSpPr>
        <p:spPr>
          <a:xfrm>
            <a:off x="503027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e65bd92dcd_1_48"/>
          <p:cNvSpPr/>
          <p:nvPr/>
        </p:nvSpPr>
        <p:spPr>
          <a:xfrm>
            <a:off x="736722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65bd92dcd_1_65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cxnSp>
        <p:nvCxnSpPr>
          <p:cNvPr id="201" name="Google Shape;201;g3e65bd92dcd_1_65"/>
          <p:cNvCxnSpPr/>
          <p:nvPr/>
        </p:nvCxnSpPr>
        <p:spPr>
          <a:xfrm flipH="1" rot="10800000">
            <a:off x="2972900" y="5758825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2" name="Google Shape;202;g3e65bd92dcd_1_65"/>
          <p:cNvSpPr/>
          <p:nvPr/>
        </p:nvSpPr>
        <p:spPr>
          <a:xfrm>
            <a:off x="3341875" y="5658175"/>
            <a:ext cx="246000" cy="234900"/>
          </a:xfrm>
          <a:prstGeom prst="ellipse">
            <a:avLst/>
          </a:prstGeom>
          <a:solidFill>
            <a:srgbClr val="21212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e65bd92dcd_1_65"/>
          <p:cNvSpPr/>
          <p:nvPr/>
        </p:nvSpPr>
        <p:spPr>
          <a:xfrm>
            <a:off x="376677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e65bd92dcd_1_65"/>
          <p:cNvSpPr/>
          <p:nvPr/>
        </p:nvSpPr>
        <p:spPr>
          <a:xfrm>
            <a:off x="503027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e65bd92dcd_1_65"/>
          <p:cNvSpPr/>
          <p:nvPr/>
        </p:nvSpPr>
        <p:spPr>
          <a:xfrm>
            <a:off x="736722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g3e65bd92dcd_1_65"/>
          <p:cNvCxnSpPr/>
          <p:nvPr/>
        </p:nvCxnSpPr>
        <p:spPr>
          <a:xfrm flipH="1" rot="10800000">
            <a:off x="2972900" y="5758825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7" name="Google Shape;207;g3e65bd92dcd_1_65"/>
          <p:cNvSpPr/>
          <p:nvPr/>
        </p:nvSpPr>
        <p:spPr>
          <a:xfrm>
            <a:off x="3341875" y="5658175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e65bd92dcd_1_65"/>
          <p:cNvSpPr/>
          <p:nvPr/>
        </p:nvSpPr>
        <p:spPr>
          <a:xfrm>
            <a:off x="3766775" y="5658175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e65bd92dcd_1_65"/>
          <p:cNvSpPr/>
          <p:nvPr/>
        </p:nvSpPr>
        <p:spPr>
          <a:xfrm>
            <a:off x="5030275" y="5658175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65bd92dcd_1_65"/>
          <p:cNvSpPr/>
          <p:nvPr/>
        </p:nvSpPr>
        <p:spPr>
          <a:xfrm>
            <a:off x="7367225" y="5658175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g3e65bd92dcd_1_6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4549925"/>
                <a:gridCol w="4549925"/>
              </a:tblGrid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65bd92dcd_1_82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cxnSp>
        <p:nvCxnSpPr>
          <p:cNvPr id="217" name="Google Shape;217;g3e65bd92dcd_1_82"/>
          <p:cNvCxnSpPr/>
          <p:nvPr/>
        </p:nvCxnSpPr>
        <p:spPr>
          <a:xfrm flipH="1" rot="10800000">
            <a:off x="2972900" y="5758825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18" name="Google Shape;218;g3e65bd92dcd_1_82"/>
          <p:cNvSpPr/>
          <p:nvPr/>
        </p:nvSpPr>
        <p:spPr>
          <a:xfrm>
            <a:off x="3341875" y="5658175"/>
            <a:ext cx="246000" cy="234900"/>
          </a:xfrm>
          <a:prstGeom prst="ellipse">
            <a:avLst/>
          </a:prstGeom>
          <a:solidFill>
            <a:srgbClr val="21212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e65bd92dcd_1_82"/>
          <p:cNvSpPr/>
          <p:nvPr/>
        </p:nvSpPr>
        <p:spPr>
          <a:xfrm>
            <a:off x="376677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65bd92dcd_1_82"/>
          <p:cNvSpPr/>
          <p:nvPr/>
        </p:nvSpPr>
        <p:spPr>
          <a:xfrm>
            <a:off x="503027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e65bd92dcd_1_82"/>
          <p:cNvSpPr/>
          <p:nvPr/>
        </p:nvSpPr>
        <p:spPr>
          <a:xfrm>
            <a:off x="7367225" y="5658175"/>
            <a:ext cx="246000" cy="234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g3e65bd92dcd_1_82"/>
          <p:cNvCxnSpPr/>
          <p:nvPr/>
        </p:nvCxnSpPr>
        <p:spPr>
          <a:xfrm flipH="1" rot="10800000">
            <a:off x="2972900" y="5758825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23" name="Google Shape;223;g3e65bd92dcd_1_82"/>
          <p:cNvSpPr/>
          <p:nvPr/>
        </p:nvSpPr>
        <p:spPr>
          <a:xfrm>
            <a:off x="3341875" y="5658175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e65bd92dcd_1_82"/>
          <p:cNvSpPr/>
          <p:nvPr/>
        </p:nvSpPr>
        <p:spPr>
          <a:xfrm>
            <a:off x="3766775" y="5658175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e65bd92dcd_1_82"/>
          <p:cNvSpPr/>
          <p:nvPr/>
        </p:nvSpPr>
        <p:spPr>
          <a:xfrm>
            <a:off x="5030275" y="5658175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e65bd92dcd_1_82"/>
          <p:cNvSpPr/>
          <p:nvPr/>
        </p:nvSpPr>
        <p:spPr>
          <a:xfrm>
            <a:off x="7367225" y="5658175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7" name="Google Shape;227;g3e65bd92dcd_1_82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4549925"/>
                <a:gridCol w="4549925"/>
              </a:tblGrid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5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28" name="Google Shape;228;g3e65bd92dcd_1_82"/>
          <p:cNvCxnSpPr/>
          <p:nvPr/>
        </p:nvCxnSpPr>
        <p:spPr>
          <a:xfrm>
            <a:off x="4458575" y="5490475"/>
            <a:ext cx="0" cy="5703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g3e65bd92dcd_1_82"/>
          <p:cNvSpPr txBox="1"/>
          <p:nvPr/>
        </p:nvSpPr>
        <p:spPr>
          <a:xfrm>
            <a:off x="4201325" y="6060775"/>
            <a:ext cx="51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65bd92dcd_1_100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(Cont.)</a:t>
            </a:r>
            <a:endParaRPr/>
          </a:p>
        </p:txBody>
      </p:sp>
      <p:graphicFrame>
        <p:nvGraphicFramePr>
          <p:cNvPr id="235" name="Google Shape;235;g3e65bd92dcd_1_100"/>
          <p:cNvGraphicFramePr/>
          <p:nvPr/>
        </p:nvGraphicFramePr>
        <p:xfrm>
          <a:off x="806800" y="170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1615575"/>
                <a:gridCol w="1615575"/>
                <a:gridCol w="1615575"/>
              </a:tblGrid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36" name="Google Shape;236;g3e65bd92dcd_1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150" y="1613975"/>
            <a:ext cx="5489276" cy="403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65bd92dcd_1_119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(Cont.)</a:t>
            </a:r>
            <a:endParaRPr/>
          </a:p>
        </p:txBody>
      </p:sp>
      <p:graphicFrame>
        <p:nvGraphicFramePr>
          <p:cNvPr id="242" name="Google Shape;242;g3e65bd92dcd_1_119"/>
          <p:cNvGraphicFramePr/>
          <p:nvPr/>
        </p:nvGraphicFramePr>
        <p:xfrm>
          <a:off x="806800" y="170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1615575"/>
                <a:gridCol w="1615575"/>
                <a:gridCol w="1615575"/>
              </a:tblGrid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43" name="Google Shape;243;g3e65bd92dcd_1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150" y="1613975"/>
            <a:ext cx="5489276" cy="403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e65bd92dcd_1_119"/>
          <p:cNvSpPr txBox="1"/>
          <p:nvPr/>
        </p:nvSpPr>
        <p:spPr>
          <a:xfrm>
            <a:off x="806800" y="5003025"/>
            <a:ext cx="4890900" cy="120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65bd92dcd_1_126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(Cont.)</a:t>
            </a:r>
            <a:endParaRPr/>
          </a:p>
        </p:txBody>
      </p:sp>
      <p:graphicFrame>
        <p:nvGraphicFramePr>
          <p:cNvPr id="250" name="Google Shape;250;g3e65bd92dcd_1_126"/>
          <p:cNvGraphicFramePr/>
          <p:nvPr/>
        </p:nvGraphicFramePr>
        <p:xfrm>
          <a:off x="806800" y="170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1615575"/>
                <a:gridCol w="1615575"/>
                <a:gridCol w="1615575"/>
              </a:tblGrid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51" name="Google Shape;251;g3e65bd92dcd_1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150" y="1613975"/>
            <a:ext cx="5489276" cy="403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e65bd92dcd_1_126"/>
          <p:cNvSpPr txBox="1"/>
          <p:nvPr/>
        </p:nvSpPr>
        <p:spPr>
          <a:xfrm>
            <a:off x="806800" y="4976225"/>
            <a:ext cx="4846800" cy="187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0.9*2 + 0.1*30 = 1.8 + 3 = 4.8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 + 0.1*45 = 0.9 + 4.5 = 5.4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0.9*5 + 0.1*40 = 4.5 + 4 = 8.5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65bd92dcd_1_134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(Cont.)</a:t>
            </a:r>
            <a:endParaRPr/>
          </a:p>
        </p:txBody>
      </p:sp>
      <p:graphicFrame>
        <p:nvGraphicFramePr>
          <p:cNvPr id="258" name="Google Shape;258;g3e65bd92dcd_1_134"/>
          <p:cNvGraphicFramePr/>
          <p:nvPr/>
        </p:nvGraphicFramePr>
        <p:xfrm>
          <a:off x="806800" y="170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1615575"/>
                <a:gridCol w="1615575"/>
                <a:gridCol w="1615575"/>
              </a:tblGrid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59" name="Google Shape;259;g3e65bd92dcd_1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150" y="1613975"/>
            <a:ext cx="5489276" cy="403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e65bd92dcd_1_134"/>
          <p:cNvSpPr txBox="1"/>
          <p:nvPr/>
        </p:nvSpPr>
        <p:spPr>
          <a:xfrm>
            <a:off x="806800" y="4976225"/>
            <a:ext cx="4846800" cy="187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0.9*2 + 0.1*30 = 1.8 + 3 = 4.8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 + 0.1*45 = 0.9 + 4.5 = 5.4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0.9*5 + 0.1*40 = 4.5 + 4 = 8.5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1" name="Google Shape;261;g3e65bd92dcd_1_134"/>
          <p:cNvCxnSpPr/>
          <p:nvPr/>
        </p:nvCxnSpPr>
        <p:spPr>
          <a:xfrm flipH="1" rot="10800000">
            <a:off x="6926550" y="6094024"/>
            <a:ext cx="4395600" cy="31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62" name="Google Shape;262;g3e65bd92dcd_1_134"/>
          <p:cNvSpPr/>
          <p:nvPr/>
        </p:nvSpPr>
        <p:spPr>
          <a:xfrm>
            <a:off x="7829616" y="5980588"/>
            <a:ext cx="165600" cy="2175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e65bd92dcd_1_134"/>
          <p:cNvSpPr/>
          <p:nvPr/>
        </p:nvSpPr>
        <p:spPr>
          <a:xfrm>
            <a:off x="8272312" y="5980588"/>
            <a:ext cx="165600" cy="2175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e65bd92dcd_1_134"/>
          <p:cNvSpPr/>
          <p:nvPr/>
        </p:nvSpPr>
        <p:spPr>
          <a:xfrm>
            <a:off x="9369670" y="6001353"/>
            <a:ext cx="165600" cy="2175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65bd92dcd_1_134"/>
          <p:cNvSpPr/>
          <p:nvPr/>
        </p:nvSpPr>
        <p:spPr>
          <a:xfrm>
            <a:off x="9884286" y="6001229"/>
            <a:ext cx="165600" cy="2175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g3e65bd92dcd_1_134"/>
          <p:cNvCxnSpPr/>
          <p:nvPr/>
        </p:nvCxnSpPr>
        <p:spPr>
          <a:xfrm>
            <a:off x="9020725" y="5791651"/>
            <a:ext cx="0" cy="5268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g3e65bd92dcd_1_134"/>
          <p:cNvSpPr txBox="1"/>
          <p:nvPr/>
        </p:nvSpPr>
        <p:spPr>
          <a:xfrm>
            <a:off x="8621203" y="6318523"/>
            <a:ext cx="79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65bd92dcd_1_162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(Cont.)</a:t>
            </a:r>
            <a:endParaRPr/>
          </a:p>
        </p:txBody>
      </p:sp>
      <p:graphicFrame>
        <p:nvGraphicFramePr>
          <p:cNvPr id="273" name="Google Shape;273;g3e65bd92dcd_1_162"/>
          <p:cNvGraphicFramePr/>
          <p:nvPr/>
        </p:nvGraphicFramePr>
        <p:xfrm>
          <a:off x="806800" y="170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1615575"/>
                <a:gridCol w="1615575"/>
                <a:gridCol w="1615575"/>
              </a:tblGrid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74" name="Google Shape;274;g3e65bd92dcd_1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150" y="1613975"/>
            <a:ext cx="5489276" cy="403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g3e65bd92dcd_1_162"/>
          <p:cNvCxnSpPr/>
          <p:nvPr/>
        </p:nvCxnSpPr>
        <p:spPr>
          <a:xfrm flipH="1" rot="10800000">
            <a:off x="6926550" y="6094024"/>
            <a:ext cx="4395600" cy="31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76" name="Google Shape;276;g3e65bd92dcd_1_162"/>
          <p:cNvSpPr/>
          <p:nvPr/>
        </p:nvSpPr>
        <p:spPr>
          <a:xfrm>
            <a:off x="7829616" y="5980588"/>
            <a:ext cx="165600" cy="2175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65bd92dcd_1_162"/>
          <p:cNvSpPr/>
          <p:nvPr/>
        </p:nvSpPr>
        <p:spPr>
          <a:xfrm>
            <a:off x="8272312" y="5980588"/>
            <a:ext cx="165600" cy="2175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e65bd92dcd_1_162"/>
          <p:cNvSpPr/>
          <p:nvPr/>
        </p:nvSpPr>
        <p:spPr>
          <a:xfrm>
            <a:off x="9369670" y="6001353"/>
            <a:ext cx="165600" cy="2175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65bd92dcd_1_162"/>
          <p:cNvSpPr/>
          <p:nvPr/>
        </p:nvSpPr>
        <p:spPr>
          <a:xfrm>
            <a:off x="9884286" y="6001229"/>
            <a:ext cx="165600" cy="2175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g3e65bd92dcd_1_162"/>
          <p:cNvCxnSpPr/>
          <p:nvPr/>
        </p:nvCxnSpPr>
        <p:spPr>
          <a:xfrm>
            <a:off x="9020725" y="5791651"/>
            <a:ext cx="0" cy="5268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g3e65bd92dcd_1_162"/>
          <p:cNvSpPr txBox="1"/>
          <p:nvPr/>
        </p:nvSpPr>
        <p:spPr>
          <a:xfrm>
            <a:off x="8621203" y="6318523"/>
            <a:ext cx="79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g3e65bd92dcd_1_162"/>
          <p:cNvSpPr/>
          <p:nvPr/>
        </p:nvSpPr>
        <p:spPr>
          <a:xfrm>
            <a:off x="9301575" y="2850950"/>
            <a:ext cx="301800" cy="324300"/>
          </a:xfrm>
          <a:prstGeom prst="donut">
            <a:avLst>
              <a:gd fmla="val 25000" name="adj"/>
            </a:avLst>
          </a:prstGeom>
          <a:solidFill>
            <a:srgbClr val="0097A7"/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e65bd92dcd_1_162"/>
          <p:cNvSpPr txBox="1"/>
          <p:nvPr/>
        </p:nvSpPr>
        <p:spPr>
          <a:xfrm>
            <a:off x="917250" y="5052750"/>
            <a:ext cx="3442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Size = 9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= 42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g3e65bd92dcd_1_162"/>
          <p:cNvSpPr txBox="1"/>
          <p:nvPr/>
        </p:nvSpPr>
        <p:spPr>
          <a:xfrm>
            <a:off x="806800" y="5887725"/>
            <a:ext cx="4189500" cy="86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0.9*9 + 0.1*42 = 8.1 + 4.2 = 12.3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g3e65bd92dcd_1_181"/>
          <p:cNvGraphicFramePr/>
          <p:nvPr/>
        </p:nvGraphicFramePr>
        <p:xfrm>
          <a:off x="311025" y="115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0" name="Google Shape;290;g3e65bd92dcd_1_181"/>
          <p:cNvSpPr txBox="1"/>
          <p:nvPr/>
        </p:nvSpPr>
        <p:spPr>
          <a:xfrm>
            <a:off x="5579850" y="1815300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g3e65bd92dcd_1_181"/>
          <p:cNvSpPr txBox="1"/>
          <p:nvPr/>
        </p:nvSpPr>
        <p:spPr>
          <a:xfrm>
            <a:off x="534825" y="6796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g3e65bd92dcd_1_181"/>
          <p:cNvSpPr txBox="1"/>
          <p:nvPr/>
        </p:nvSpPr>
        <p:spPr>
          <a:xfrm>
            <a:off x="1670175" y="6796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g3e65bd92dcd_1_181"/>
          <p:cNvSpPr txBox="1"/>
          <p:nvPr/>
        </p:nvSpPr>
        <p:spPr>
          <a:xfrm>
            <a:off x="2805525" y="6796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g3e65bd92dcd_1_181"/>
          <p:cNvSpPr txBox="1"/>
          <p:nvPr/>
        </p:nvSpPr>
        <p:spPr>
          <a:xfrm>
            <a:off x="780800" y="3410700"/>
            <a:ext cx="424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x1, x2, ....., xn = Features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3e65bd92dcd_1_181"/>
          <p:cNvSpPr txBox="1"/>
          <p:nvPr/>
        </p:nvSpPr>
        <p:spPr>
          <a:xfrm>
            <a:off x="780800" y="4041900"/>
            <a:ext cx="424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w1, w2, ....., wn = Weights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3e65bd92dcd_1_181"/>
          <p:cNvSpPr txBox="1"/>
          <p:nvPr/>
        </p:nvSpPr>
        <p:spPr>
          <a:xfrm>
            <a:off x="5409925" y="3712575"/>
            <a:ext cx="298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output/ target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g3e65bd92dcd_1_181"/>
          <p:cNvSpPr txBox="1"/>
          <p:nvPr/>
        </p:nvSpPr>
        <p:spPr>
          <a:xfrm>
            <a:off x="2693450" y="5055425"/>
            <a:ext cx="579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Weights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are giving the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importance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to a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feature</a:t>
            </a:r>
            <a:endParaRPr b="1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65bd92dcd_1_232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Type of Example</a:t>
            </a:r>
            <a:endParaRPr/>
          </a:p>
        </p:txBody>
      </p:sp>
      <p:graphicFrame>
        <p:nvGraphicFramePr>
          <p:cNvPr id="303" name="Google Shape;303;g3e65bd92dcd_1_232"/>
          <p:cNvGraphicFramePr/>
          <p:nvPr/>
        </p:nvGraphicFramePr>
        <p:xfrm>
          <a:off x="677600" y="190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{D72E20F5-33A7-4E8F-BF9D-8D781D2472DF}</a:tableStyleId>
              </a:tblPr>
              <a:tblGrid>
                <a:gridCol w="1655325"/>
                <a:gridCol w="1655325"/>
                <a:gridCol w="1655325"/>
                <a:gridCol w="1655325"/>
                <a:gridCol w="1655325"/>
                <a:gridCol w="1655325"/>
              </a:tblGrid>
              <a:tr h="70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Size(sq-feet)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Bedroom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Kitchen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road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Balcony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Price(dollar)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0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4" name="Google Shape;304;g3e65bd92dcd_1_232"/>
          <p:cNvSpPr txBox="1"/>
          <p:nvPr/>
        </p:nvSpPr>
        <p:spPr>
          <a:xfrm>
            <a:off x="677600" y="5687125"/>
            <a:ext cx="8854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Here </a:t>
            </a: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 are the features and output?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Can you say, intituvelty which one has maximum weight among the features 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65bd92dcd_1_250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of Problems</a:t>
            </a:r>
            <a:endParaRPr/>
          </a:p>
        </p:txBody>
      </p:sp>
      <p:sp>
        <p:nvSpPr>
          <p:cNvPr id="310" name="Google Shape;310;g3e65bd92dcd_1_250"/>
          <p:cNvSpPr txBox="1"/>
          <p:nvPr/>
        </p:nvSpPr>
        <p:spPr>
          <a:xfrm>
            <a:off x="1045425" y="5091250"/>
            <a:ext cx="109665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type was we were classifying a type of output (Discrete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Output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arenR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 Example we were predicting a value (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Output):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3e65bd92dcd_1_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50" y="1254525"/>
            <a:ext cx="10887948" cy="371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65bd92dcd_1_258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of Problems</a:t>
            </a:r>
            <a:endParaRPr/>
          </a:p>
        </p:txBody>
      </p:sp>
      <p:pic>
        <p:nvPicPr>
          <p:cNvPr id="317" name="Google Shape;317;g3e65bd92dcd_1_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50" y="1464525"/>
            <a:ext cx="11230599" cy="43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65bd92dcd_1_265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Input: Image</a:t>
            </a:r>
            <a:endParaRPr/>
          </a:p>
        </p:txBody>
      </p:sp>
      <p:pic>
        <p:nvPicPr>
          <p:cNvPr id="323" name="Google Shape;323;g3e65bd92dcd_1_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175" y="1209303"/>
            <a:ext cx="8228771" cy="5485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65bd92dcd_1_271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Input: Image</a:t>
            </a:r>
            <a:endParaRPr/>
          </a:p>
        </p:txBody>
      </p:sp>
      <p:pic>
        <p:nvPicPr>
          <p:cNvPr id="329" name="Google Shape;329;g3e65bd92dcd_1_271" title="Screenshot from 2026-04-27 00-26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0" y="1282474"/>
            <a:ext cx="11044125" cy="50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65bd92dcd_1_277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Input: Image</a:t>
            </a:r>
            <a:endParaRPr/>
          </a:p>
        </p:txBody>
      </p:sp>
      <p:pic>
        <p:nvPicPr>
          <p:cNvPr id="335" name="Google Shape;335;g3e65bd92dcd_1_277" title="Screenshot from 2026-04-27 00-26-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50" y="1251099"/>
            <a:ext cx="11102001" cy="45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65bd92dcd_1_283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Flattening</a:t>
            </a:r>
            <a:endParaRPr/>
          </a:p>
        </p:txBody>
      </p:sp>
      <p:pic>
        <p:nvPicPr>
          <p:cNvPr id="341" name="Google Shape;341;g3e65bd92dcd_1_283" title="Screenshot from 2026-04-27 00-26-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50" y="1226175"/>
            <a:ext cx="9287800" cy="48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e65bd92dcd_1_283"/>
          <p:cNvSpPr txBox="1"/>
          <p:nvPr/>
        </p:nvSpPr>
        <p:spPr>
          <a:xfrm>
            <a:off x="1703450" y="6157550"/>
            <a:ext cx="771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Converting a 2D matrix into the single vector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65bd92dcd_1_306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Pixels as Features</a:t>
            </a:r>
            <a:endParaRPr/>
          </a:p>
        </p:txBody>
      </p:sp>
      <p:pic>
        <p:nvPicPr>
          <p:cNvPr id="348" name="Google Shape;348;g3e65bd92dcd_1_306" title="Screenshot from 2026-04-27 00-27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50" y="1376549"/>
            <a:ext cx="10488351" cy="52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65bd92dcd_1_313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with “Pixels as features”</a:t>
            </a:r>
            <a:endParaRPr/>
          </a:p>
        </p:txBody>
      </p:sp>
      <p:pic>
        <p:nvPicPr>
          <p:cNvPr id="354" name="Google Shape;354;g3e65bd92dcd_1_313" title="Screenshot from 2026-04-27 00-27-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50" y="1324300"/>
            <a:ext cx="8223900" cy="4534987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e65bd92dcd_1_313"/>
          <p:cNvSpPr txBox="1"/>
          <p:nvPr/>
        </p:nvSpPr>
        <p:spPr>
          <a:xfrm>
            <a:off x="3627300" y="6116225"/>
            <a:ext cx="493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Too many features → huge computation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65bd92dcd_1_321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with “Pixels as features”</a:t>
            </a:r>
            <a:endParaRPr/>
          </a:p>
        </p:txBody>
      </p:sp>
      <p:pic>
        <p:nvPicPr>
          <p:cNvPr id="361" name="Google Shape;361;g3e65bd92dcd_1_321" title="Screenshot from 2026-04-27 00-28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38" y="1163750"/>
            <a:ext cx="7848425" cy="432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e65bd92dcd_1_321"/>
          <p:cNvSpPr txBox="1"/>
          <p:nvPr/>
        </p:nvSpPr>
        <p:spPr>
          <a:xfrm>
            <a:off x="2501250" y="6021175"/>
            <a:ext cx="718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Loses spatial structure and nearby pixels relationship ignored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g3e6ad5a7781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430075"/>
            <a:ext cx="7620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e6ad5a7781_1_18"/>
          <p:cNvSpPr txBox="1"/>
          <p:nvPr/>
        </p:nvSpPr>
        <p:spPr>
          <a:xfrm>
            <a:off x="3095850" y="649525"/>
            <a:ext cx="6000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This is BAD for robots trying to understand images. </a:t>
            </a:r>
            <a:endParaRPr sz="17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65bd92dcd_1_328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Solver: Convolution</a:t>
            </a:r>
            <a:r>
              <a:rPr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 </a:t>
            </a:r>
            <a:endParaRPr/>
          </a:p>
        </p:txBody>
      </p:sp>
      <p:pic>
        <p:nvPicPr>
          <p:cNvPr id="374" name="Google Shape;374;g3e65bd92dcd_1_3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8425" y="4845050"/>
            <a:ext cx="5219425" cy="20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e65bd92dcd_1_3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8925" y="1229199"/>
            <a:ext cx="4418427" cy="361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e65bd92dcd_1_3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250" y="1459175"/>
            <a:ext cx="6021175" cy="4645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6ad5a7781_1_27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</a:t>
            </a:r>
            <a:endParaRPr/>
          </a:p>
        </p:txBody>
      </p:sp>
      <p:sp>
        <p:nvSpPr>
          <p:cNvPr id="382" name="Google Shape;382;g3e6ad5a7781_1_27"/>
          <p:cNvSpPr txBox="1"/>
          <p:nvPr>
            <p:ph idx="1" type="body"/>
          </p:nvPr>
        </p:nvSpPr>
        <p:spPr>
          <a:xfrm>
            <a:off x="917257" y="1422463"/>
            <a:ext cx="8268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Instead of looking at the whole image at once, we look at small regions</a:t>
            </a:r>
            <a:endParaRPr/>
          </a:p>
        </p:txBody>
      </p:sp>
      <p:sp>
        <p:nvSpPr>
          <p:cNvPr id="383" name="Google Shape;383;g3e6ad5a7781_1_27"/>
          <p:cNvSpPr txBox="1"/>
          <p:nvPr/>
        </p:nvSpPr>
        <p:spPr>
          <a:xfrm>
            <a:off x="917250" y="2116300"/>
            <a:ext cx="59136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S</a:t>
            </a:r>
            <a:r>
              <a:rPr b="1" lang="en-US" sz="2100">
                <a:solidFill>
                  <a:schemeClr val="dk1"/>
                </a:solidFill>
              </a:rPr>
              <a:t>tep-by-step operation: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Use a small filter (kernel)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Slide it across the image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Extract features like: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edges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textures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shapes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This mimics how humans process vision.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384" name="Google Shape;384;g3e6ad5a7781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5063" y="2050775"/>
            <a:ext cx="4211975" cy="20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e6ad5a7781_1_27"/>
          <p:cNvSpPr txBox="1"/>
          <p:nvPr/>
        </p:nvSpPr>
        <p:spPr>
          <a:xfrm>
            <a:off x="6944925" y="4241200"/>
            <a:ext cx="4441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Benefits: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Preserves spatial relationships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Reduces parameters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Extracts meaningful features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65bd92dcd_1_336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391" name="Google Shape;391;g3e65bd92dcd_1_336" title="Screenshot from 2026-04-27 01-01-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963" y="1209303"/>
            <a:ext cx="8982075" cy="49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65bd92dcd_1_346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397" name="Google Shape;397;g3e65bd92dcd_1_346" title="Screenshot from 2026-04-27 01-01-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65bd92dcd_1_352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403" name="Google Shape;403;g3e65bd92dcd_1_352" title="Screenshot from 2026-04-27 01-01-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65bd92dcd_1_365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409" name="Google Shape;409;g3e65bd92dcd_1_365" title="Screenshot from 2026-04-27 01-01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65bd92dcd_1_371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415" name="Google Shape;415;g3e65bd92dcd_1_371" title="Screenshot from 2026-04-27 01-01-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65bd92dcd_1_377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421" name="Google Shape;421;g3e65bd92dcd_1_377" title="Screenshot from 2026-04-27 01-02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65bd92dcd_1_383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427" name="Google Shape;427;g3e65bd92dcd_1_383" title="Screenshot from 2026-04-27 01-02-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65bd92dcd_1_389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433" name="Google Shape;433;g3e65bd92dcd_1_389" title="Screenshot from 2026-04-27 01-02-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65bd92dcd_1_395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439" name="Google Shape;439;g3e65bd92dcd_1_395" title="Screenshot from 2026-04-27 01-02-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65bd92dcd_1_401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Operation</a:t>
            </a:r>
            <a:endParaRPr/>
          </a:p>
        </p:txBody>
      </p:sp>
      <p:pic>
        <p:nvPicPr>
          <p:cNvPr id="445" name="Google Shape;445;g3e65bd92dcd_1_401" title="Screenshot from 2026-04-27 01-02-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53"/>
            <a:ext cx="11887199" cy="391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65bd92dcd_1_423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Pooling Operation</a:t>
            </a:r>
            <a:endParaRPr/>
          </a:p>
        </p:txBody>
      </p:sp>
      <p:sp>
        <p:nvSpPr>
          <p:cNvPr id="451" name="Google Shape;451;g3e65bd92dcd_1_423"/>
          <p:cNvSpPr txBox="1"/>
          <p:nvPr/>
        </p:nvSpPr>
        <p:spPr>
          <a:xfrm>
            <a:off x="961800" y="1317250"/>
            <a:ext cx="4432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Used for reducing the number of parameters in case of large images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Also called Subsampling or Down sampling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Retains major information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Max pooling and average pooling are two types of pooling that are used</a:t>
            </a:r>
            <a:endParaRPr sz="2000"/>
          </a:p>
        </p:txBody>
      </p:sp>
      <p:pic>
        <p:nvPicPr>
          <p:cNvPr id="452" name="Google Shape;452;g3e65bd92dcd_1_423" title="Screenshot from 2026-04-27 01-08-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100" y="1470648"/>
            <a:ext cx="4166425" cy="36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65bd92dcd_1_433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 Dimension after Operations</a:t>
            </a:r>
            <a:endParaRPr/>
          </a:p>
        </p:txBody>
      </p:sp>
      <p:pic>
        <p:nvPicPr>
          <p:cNvPr id="458" name="Google Shape;458;g3e65bd92dcd_1_4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400" y="1690203"/>
            <a:ext cx="564832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e65bd92dcd_1_433"/>
          <p:cNvSpPr txBox="1"/>
          <p:nvPr/>
        </p:nvSpPr>
        <p:spPr>
          <a:xfrm>
            <a:off x="0" y="6334800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https://towardsdatascience.com/convolutional-neural-networks-explained-9cc5188c4939/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65bd92dcd_1_433"/>
          <p:cNvSpPr txBox="1"/>
          <p:nvPr/>
        </p:nvSpPr>
        <p:spPr>
          <a:xfrm>
            <a:off x="3085200" y="3711250"/>
            <a:ext cx="6021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= Width of the image (any direction)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Filter Size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= Padding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Stride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g3e683e9e0c0_1_0" title="11RpnAf-_FGLDIVCBvHnDWA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013" y="2688700"/>
            <a:ext cx="3439975" cy="376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e683e9e0c0_1_0" title="14bCXXrouAItprbIos11OZA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2375" y="2495938"/>
            <a:ext cx="5041875" cy="415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e683e9e0c0_1_0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Stride</a:t>
            </a:r>
            <a:endParaRPr/>
          </a:p>
        </p:txBody>
      </p:sp>
      <p:sp>
        <p:nvSpPr>
          <p:cNvPr id="468" name="Google Shape;468;g3e683e9e0c0_1_0"/>
          <p:cNvSpPr txBox="1"/>
          <p:nvPr/>
        </p:nvSpPr>
        <p:spPr>
          <a:xfrm>
            <a:off x="1013500" y="1387475"/>
            <a:ext cx="10562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A hyperparameter that defines the number of pixels by which the convolutional filter (kernel) moves across the input image after each operation. 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Default is (1, 1) - moves 1 pixel at a time. 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g3e683e9e0c0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4525" y="3603874"/>
            <a:ext cx="7442945" cy="32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e683e9e0c0_1_7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Padding</a:t>
            </a:r>
            <a:endParaRPr/>
          </a:p>
        </p:txBody>
      </p:sp>
      <p:sp>
        <p:nvSpPr>
          <p:cNvPr id="475" name="Google Shape;475;g3e683e9e0c0_1_7"/>
          <p:cNvSpPr txBox="1"/>
          <p:nvPr/>
        </p:nvSpPr>
        <p:spPr>
          <a:xfrm>
            <a:off x="1013500" y="1287950"/>
            <a:ext cx="10562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The process of adding extra pixels, typically zeros, around the border of an input image or feature map before applying a convolution operation.  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Primarily used to 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control the spatial dimensions of the output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preserve information at the edges that would otherwise be lost due to the filter sliding over the input boundaries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65bd92dcd_1_407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Neural Network (CNN)</a:t>
            </a:r>
            <a:endParaRPr/>
          </a:p>
        </p:txBody>
      </p:sp>
      <p:pic>
        <p:nvPicPr>
          <p:cNvPr id="481" name="Google Shape;481;g3e65bd92dcd_1_407" title="archi.png"/>
          <p:cNvPicPr preferRelativeResize="0"/>
          <p:nvPr/>
        </p:nvPicPr>
        <p:blipFill rotWithShape="1">
          <a:blip r:embed="rId3">
            <a:alphaModFix/>
          </a:blip>
          <a:srcRect b="-1256" l="0" r="87087" t="0"/>
          <a:stretch/>
        </p:blipFill>
        <p:spPr>
          <a:xfrm>
            <a:off x="152400" y="1219750"/>
            <a:ext cx="1520277" cy="55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65bd92dcd_1_413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Neural Network (CNN)</a:t>
            </a:r>
            <a:endParaRPr/>
          </a:p>
        </p:txBody>
      </p:sp>
      <p:pic>
        <p:nvPicPr>
          <p:cNvPr id="487" name="Google Shape;487;g3e65bd92dcd_1_413" title="archi.png"/>
          <p:cNvPicPr preferRelativeResize="0"/>
          <p:nvPr/>
        </p:nvPicPr>
        <p:blipFill rotWithShape="1">
          <a:blip r:embed="rId3">
            <a:alphaModFix/>
          </a:blip>
          <a:srcRect b="-1256" l="0" r="34870" t="0"/>
          <a:stretch/>
        </p:blipFill>
        <p:spPr>
          <a:xfrm>
            <a:off x="152400" y="1219750"/>
            <a:ext cx="7667402" cy="55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e65bd92dcd_1_418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 Neural Network (CNN)</a:t>
            </a:r>
            <a:endParaRPr/>
          </a:p>
        </p:txBody>
      </p:sp>
      <p:pic>
        <p:nvPicPr>
          <p:cNvPr id="493" name="Google Shape;493;g3e65bd92dcd_1_418" title="archi.png"/>
          <p:cNvPicPr preferRelativeResize="0"/>
          <p:nvPr/>
        </p:nvPicPr>
        <p:blipFill rotWithShape="1">
          <a:blip r:embed="rId3">
            <a:alphaModFix/>
          </a:blip>
          <a:srcRect b="-1256" l="0" r="0" t="0"/>
          <a:stretch/>
        </p:blipFill>
        <p:spPr>
          <a:xfrm>
            <a:off x="152400" y="1219750"/>
            <a:ext cx="11772526" cy="55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65bd92dcd_1_448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 Application</a:t>
            </a:r>
            <a:endParaRPr/>
          </a:p>
        </p:txBody>
      </p:sp>
      <p:pic>
        <p:nvPicPr>
          <p:cNvPr id="499" name="Google Shape;499;g3e65bd92dcd_1_448" title="Screenshot from 2026-04-27 01-16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50" y="1397473"/>
            <a:ext cx="11084250" cy="52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65bd92dcd_1_454"/>
          <p:cNvSpPr txBox="1"/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Types Summary</a:t>
            </a:r>
            <a:endParaRPr/>
          </a:p>
        </p:txBody>
      </p:sp>
      <p:pic>
        <p:nvPicPr>
          <p:cNvPr id="505" name="Google Shape;505;g3e65bd92dcd_1_454" title="Screenshot from 2026-04-27 01-23-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50" y="1543849"/>
            <a:ext cx="8127175" cy="3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3e65bd92dcd_1_454"/>
          <p:cNvSpPr txBox="1"/>
          <p:nvPr/>
        </p:nvSpPr>
        <p:spPr>
          <a:xfrm>
            <a:off x="917250" y="5070325"/>
            <a:ext cx="1095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And So many….., as the time is evolving, you can find more advanced networks.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 an example, the LLM’s(GPT) are type of Transformer Networks.</a:t>
            </a:r>
            <a:endParaRPr sz="22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050" y="1032175"/>
            <a:ext cx="7217875" cy="47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</cp:coreProperties>
</file>