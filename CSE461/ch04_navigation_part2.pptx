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6" r:id="rId19"/>
  </p:sldIdLst>
  <p:sldSz cx="12192000" cy="6858000"/>
  <p:notesSz cx="12192000" cy="6858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Noto Sans Symbols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21dd1387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21dd138711_0_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21dd138711_0_6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221dd13871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1dd13871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21dd138711_0_7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1dd13871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21dd138711_0_6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5de0e93b6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5de0e93b64_0_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917257" y="1422463"/>
            <a:ext cx="8268300" cy="45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4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4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12119" y="137160"/>
            <a:ext cx="1163320" cy="10642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917257" y="1422463"/>
            <a:ext cx="8268300" cy="45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ctrTitle"/>
          </p:nvPr>
        </p:nvSpPr>
        <p:spPr>
          <a:xfrm>
            <a:off x="217987" y="2567289"/>
            <a:ext cx="11360700" cy="2123658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/>
          <a:p>
            <a:pPr lvl="0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Robot Navigation (Mapping, Exploration)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Robots Navigation</a:t>
            </a:r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917257" y="1349733"/>
            <a:ext cx="8415600" cy="27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100" rIns="0" bIns="0" anchor="t" anchorCtr="0">
            <a:spAutoFit/>
          </a:bodyPr>
          <a:lstStyle/>
          <a:p>
            <a:pPr marL="2413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Path Planning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How to I get to my Goal?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540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77923B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77923B"/>
                </a:solidFill>
                <a:latin typeface="Calibri"/>
                <a:ea typeface="Calibri"/>
                <a:cs typeface="Calibri"/>
                <a:sym typeface="Calibri"/>
              </a:rPr>
              <a:t>Localization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Where am I?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54000" algn="l" rtl="0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E36C09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Where have I been?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540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0859C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30859C"/>
                </a:solidFill>
                <a:latin typeface="Calibri"/>
                <a:ea typeface="Calibri"/>
                <a:cs typeface="Calibri"/>
                <a:sym typeface="Calibri"/>
              </a:rPr>
              <a:t>Exploration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Where haven’t I been?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Robots Navigation</a:t>
            </a:r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917248" y="1349725"/>
            <a:ext cx="10942500" cy="28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100" rIns="0" bIns="0" anchor="t" anchorCtr="0">
            <a:spAutoFit/>
          </a:bodyPr>
          <a:lstStyle/>
          <a:p>
            <a:pPr marL="24130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3300"/>
              <a:buFont typeface="Arial"/>
              <a:buChar char="•"/>
            </a:pPr>
            <a:r>
              <a:rPr lang="en-US" sz="33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Path Planning</a:t>
            </a: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: How to I get to my Goal?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095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77923B"/>
              </a:buClr>
              <a:buSzPts val="3300"/>
              <a:buFont typeface="Arial"/>
              <a:buChar char="•"/>
            </a:pPr>
            <a:r>
              <a:rPr lang="en-US" sz="3300">
                <a:solidFill>
                  <a:srgbClr val="77923B"/>
                </a:solidFill>
                <a:latin typeface="Calibri"/>
                <a:ea typeface="Calibri"/>
                <a:cs typeface="Calibri"/>
                <a:sym typeface="Calibri"/>
              </a:rPr>
              <a:t>Localization</a:t>
            </a: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: Where am I?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311150" algn="l" rtl="0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E36C09"/>
              </a:buClr>
              <a:buSzPts val="4900"/>
              <a:buFont typeface="Arial"/>
              <a:buChar char="•"/>
            </a:pPr>
            <a:r>
              <a:rPr lang="en-US" sz="4900">
                <a:solidFill>
                  <a:srgbClr val="E36C09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Mapping</a:t>
            </a:r>
            <a:r>
              <a:rPr lang="en-US" sz="49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: Where have I been?</a:t>
            </a:r>
            <a:endParaRPr sz="49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3111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0859C"/>
              </a:buClr>
              <a:buSzPts val="4900"/>
              <a:buFont typeface="Arial"/>
              <a:buChar char="•"/>
            </a:pPr>
            <a:r>
              <a:rPr lang="en-US" sz="4900">
                <a:solidFill>
                  <a:srgbClr val="30859C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Exploration</a:t>
            </a:r>
            <a:r>
              <a:rPr lang="en-US" sz="49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: Where haven’t I been?</a:t>
            </a:r>
            <a:endParaRPr sz="49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13563"/>
            <a:ext cx="11425718" cy="479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738" y="1761163"/>
            <a:ext cx="6446533" cy="479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Mapping and Exploration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7250" y="1417250"/>
            <a:ext cx="9446400" cy="41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lvl="0" indent="-228600" algn="l" rtl="0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600"/>
              <a:buFont typeface="Arial"/>
              <a:buChar char="•"/>
            </a:pPr>
            <a:r>
              <a:rPr lang="en-US" sz="2600" b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You are roaming around in an unknown space, what can you learn about it?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19615"/>
              </a:lnSpc>
              <a:spcBef>
                <a:spcPts val="36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Two parts of the problem: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697865" marR="100965" lvl="1" indent="-228600" algn="l" rtl="0">
              <a:lnSpc>
                <a:spcPct val="96363"/>
              </a:lnSpc>
              <a:spcBef>
                <a:spcPts val="495"/>
              </a:spcBef>
              <a:spcAft>
                <a:spcPts val="0"/>
              </a:spcAft>
              <a:buClr>
                <a:srgbClr val="00804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8040"/>
                </a:solidFill>
                <a:latin typeface="Calibri"/>
                <a:ea typeface="Calibri"/>
                <a:cs typeface="Calibri"/>
                <a:sym typeface="Calibri"/>
              </a:rPr>
              <a:t>Mapping: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As you roam around the world, how do you build a memory of the shape of the space you have moved through?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7727"/>
              </a:lnSpc>
              <a:spcBef>
                <a:spcPts val="0"/>
              </a:spcBef>
              <a:spcAft>
                <a:spcPts val="0"/>
              </a:spcAft>
              <a:buClr>
                <a:srgbClr val="52890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Exploration: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Given that you don’t know the shape or size of the environment,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0" algn="l" rtl="0">
              <a:lnSpc>
                <a:spcPct val="107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how to make sure you covered all of it?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19615"/>
              </a:lnSpc>
              <a:spcBef>
                <a:spcPts val="360"/>
              </a:spcBef>
              <a:spcAft>
                <a:spcPts val="0"/>
              </a:spcAft>
              <a:buClr>
                <a:srgbClr val="008040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8040"/>
                </a:solidFill>
                <a:latin typeface="Calibri"/>
                <a:ea typeface="Calibri"/>
                <a:cs typeface="Calibri"/>
                <a:sym typeface="Calibri"/>
              </a:rPr>
              <a:t>Mapping and Exploration are also “collections of algorithms”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52890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We will focus on </a:t>
            </a:r>
            <a:r>
              <a:rPr lang="en-US" sz="2200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“Occupancy Grid” </a:t>
            </a:r>
            <a:r>
              <a:rPr lang="en-US" sz="22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algorithms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an Occupancy Grid?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17257" y="1468056"/>
            <a:ext cx="98298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0665" lvl="0" indent="-227965" algn="l" rtl="0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A6A6A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🡽</a:t>
            </a:r>
            <a:r>
              <a:rPr lang="en-US" sz="1800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 way of representing a map as a gridded world where each cell is either “occupied” or “empty” or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0" algn="l" rtl="0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“unknown”.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1399" y="2455991"/>
            <a:ext cx="5108551" cy="3438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5599" y="2582333"/>
            <a:ext cx="5503333" cy="390313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4920824" y="5173134"/>
            <a:ext cx="362374" cy="379307"/>
            <a:chOff x="8270240" y="4531360"/>
            <a:chExt cx="325120" cy="355600"/>
          </a:xfrm>
        </p:grpSpPr>
        <p:sp>
          <p:nvSpPr>
            <p:cNvPr id="10" name="Flowchart: Summing Junction 9"/>
            <p:cNvSpPr/>
            <p:nvPr/>
          </p:nvSpPr>
          <p:spPr>
            <a:xfrm>
              <a:off x="8270240" y="4531360"/>
              <a:ext cx="325120" cy="355600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10" idx="2"/>
              <a:endCxn id="10" idx="6"/>
            </p:cNvCxnSpPr>
            <p:nvPr/>
          </p:nvCxnSpPr>
          <p:spPr>
            <a:xfrm>
              <a:off x="8270240" y="4709160"/>
              <a:ext cx="32512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260" y="1558792"/>
            <a:ext cx="5654212" cy="219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3825240"/>
            <a:ext cx="3830321" cy="209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8179" y="3825240"/>
            <a:ext cx="3987800" cy="2418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Sensor Model?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917257" y="1408799"/>
            <a:ext cx="9034200" cy="31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350" rIns="0" bIns="0" anchor="t" anchorCtr="0">
            <a:spAutoFit/>
          </a:bodyPr>
          <a:lstStyle/>
          <a:p>
            <a:pPr marL="2413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890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Constructing a Sensor Model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 sensor measures </a:t>
            </a:r>
            <a:r>
              <a:rPr lang="en-US" sz="2800" i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raw values </a:t>
            </a: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in an environment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You have to map that into a Grid Cell Value.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Robots can have very different sensors and configurations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697865" marR="5259705" lvl="1" indent="-228600" algn="l" rtl="0">
              <a:lnSpc>
                <a:spcPct val="107857"/>
              </a:lnSpc>
              <a:spcBef>
                <a:spcPts val="565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Examples: LIDAR/Depth Camera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0" algn="l" rtl="0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Vs. a 360 degree vision/ranging system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Constructing a Sensor Model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917257" y="1465516"/>
            <a:ext cx="4942800" cy="4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0665" lvl="0" indent="-227965" algn="l" rtl="0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Example: Depth Sensor Model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R = maximum range, B = maximum angle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0" algn="l" rtl="0">
              <a:lnSpc>
                <a:spcPct val="10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Let say the sensor at point p returns 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distance = “r”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41300" marR="393700" lvl="0" indent="0" algn="l" rtl="0">
              <a:lnSpc>
                <a:spcPct val="941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Region 1 (</a:t>
            </a:r>
            <a:r>
              <a:rPr lang="en-US" sz="1800" dirty="0" err="1">
                <a:latin typeface="Calibri"/>
                <a:ea typeface="Calibri"/>
                <a:cs typeface="Calibri"/>
                <a:sym typeface="Calibri"/>
              </a:rPr>
              <a:t>dist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&lt; r, grid cell probably empty) Region 2 (</a:t>
            </a:r>
            <a:r>
              <a:rPr lang="en-US" sz="1800" dirty="0" err="1">
                <a:latin typeface="Calibri"/>
                <a:ea typeface="Calibri"/>
                <a:cs typeface="Calibri"/>
                <a:sym typeface="Calibri"/>
              </a:rPr>
              <a:t>dist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= r, grid cell probably obstacle) Region 3 (</a:t>
            </a:r>
            <a:r>
              <a:rPr lang="en-US" sz="1800" dirty="0" err="1">
                <a:latin typeface="Calibri"/>
                <a:ea typeface="Calibri"/>
                <a:cs typeface="Calibri"/>
                <a:sym typeface="Calibri"/>
              </a:rPr>
              <a:t>dist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&gt; r, grid cell unknown/obscured)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240665" lvl="0" indent="-227965" algn="l" rtl="0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Simplest Sensor Model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0" algn="l" rtl="0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Where I stand is Empty (white)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2450" dirty="0">
              <a:latin typeface="Calibri"/>
              <a:ea typeface="Calibri"/>
              <a:cs typeface="Calibri"/>
              <a:sym typeface="Calibri"/>
            </a:endParaRPr>
          </a:p>
          <a:p>
            <a:pPr marL="240665" lvl="0" indent="-227965" algn="l" rtl="0">
              <a:lnSpc>
                <a:spcPct val="113888"/>
              </a:lnSpc>
              <a:spcBef>
                <a:spcPts val="5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A Better Model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41300" marR="1181100" lvl="0" indent="0" algn="l" rtl="0">
              <a:lnSpc>
                <a:spcPct val="107722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Set Region 1 cells as Empty (white) Set Region 2 cells as Occupied (black).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0" algn="l" rtl="0">
              <a:lnSpc>
                <a:spcPct val="105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Pick a max range/angle where data is reliable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0" algn="l" rtl="0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Rest is still Unknown (gray)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9215" y="1586578"/>
            <a:ext cx="2741470" cy="400503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8322732" y="4698999"/>
            <a:ext cx="1024467" cy="160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8263467" y="2497667"/>
            <a:ext cx="1032933" cy="33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8322733" y="2590800"/>
            <a:ext cx="948267" cy="1439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7713133" y="2286000"/>
            <a:ext cx="1591736" cy="1862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525640" y="2072846"/>
            <a:ext cx="3674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Calibri"/>
                <a:ea typeface="Calibri"/>
                <a:cs typeface="Calibri"/>
                <a:sym typeface="Calibri"/>
              </a:rPr>
              <a:t>10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8534107" y="4028646"/>
            <a:ext cx="2760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Calibri"/>
                <a:ea typeface="Calibri"/>
                <a:cs typeface="Calibri"/>
                <a:sym typeface="Calibri"/>
              </a:rPr>
              <a:t>7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28483" y="4549476"/>
            <a:ext cx="1024467" cy="16086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98279" y="4359694"/>
            <a:ext cx="1546045" cy="16054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342408" y="4399950"/>
            <a:ext cx="473493" cy="456721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Simple OG Mapping Algorithm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1"/>
          </p:nvPr>
        </p:nvSpPr>
        <p:spPr>
          <a:xfrm>
            <a:off x="917257" y="1422463"/>
            <a:ext cx="8268300" cy="45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69265" lvl="0" indent="-457200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AutoNum type="arabicPeriod"/>
            </a:pPr>
            <a:r>
              <a:rPr lang="en-US"/>
              <a:t>Initialize a Grid</a:t>
            </a:r>
            <a:endParaRPr/>
          </a:p>
          <a:p>
            <a:pPr marL="697865" lvl="1" indent="-229234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Set all locations as “unknown”, pick a start location and orientation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69265" lvl="0" indent="-457200" algn="l" rtl="0">
              <a:lnSpc>
                <a:spcPct val="119545"/>
              </a:lnSpc>
              <a:spcBef>
                <a:spcPts val="459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AutoNum type="arabicPeriod"/>
            </a:pPr>
            <a:r>
              <a:rPr lang="en-US"/>
              <a:t>Update the Grid</a:t>
            </a:r>
            <a:endParaRPr/>
          </a:p>
          <a:p>
            <a:pPr marL="697865" lvl="1" indent="-229234" algn="l" rtl="0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Arial"/>
              <a:buChar char="•"/>
            </a:pPr>
            <a:r>
              <a:rPr lang="en-US" sz="2200" i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Mark your current grid position as “empty”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Using your better sensor model,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Arial"/>
              <a:buChar char="•"/>
            </a:pPr>
            <a:r>
              <a:rPr lang="en-US" sz="2200" i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Mark all visible grid locations as “empty” or “occupied”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69265" lvl="0" indent="-457200" algn="l" rtl="0">
              <a:lnSpc>
                <a:spcPct val="119090"/>
              </a:lnSpc>
              <a:spcBef>
                <a:spcPts val="484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AutoNum type="arabicPeriod"/>
            </a:pPr>
            <a:r>
              <a:rPr lang="en-US"/>
              <a:t>Pick a Next Move</a:t>
            </a:r>
            <a:endParaRPr/>
          </a:p>
          <a:p>
            <a:pPr marL="697865" lvl="1" indent="-229234" algn="l" rtl="0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Look at neighboring grid positions in your map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Pick a neighboring grid location that is empty (randomly)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Move to it and update your current position in the Grid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469265" lvl="0" indent="-457200" algn="l" rtl="0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Calibri"/>
              <a:buAutoNum type="arabicPeriod"/>
            </a:pPr>
            <a:r>
              <a:rPr lang="en-US"/>
              <a:t>Loop forever</a:t>
            </a:r>
            <a:endParaRPr/>
          </a:p>
          <a:p>
            <a:pPr marL="697865" lvl="1" indent="-229234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Keep moving and updating the grid (unless you are “done”)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Exploration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4/28/2021</a:t>
            </a: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917257" y="1435163"/>
            <a:ext cx="9063900" cy="18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850" rIns="0" bIns="0" anchor="t" anchorCtr="0">
            <a:spAutoFit/>
          </a:bodyPr>
          <a:lstStyle/>
          <a:p>
            <a:pPr marL="241300" marR="5080" lvl="0" indent="-228600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Basic Concept in Robotics: Navigating a GRID Graph is different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DFS works, but will still make a robot retrace steps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Better choice: Frontier Based Exploration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917248" y="389950"/>
            <a:ext cx="75735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Exploration in Grid Worlds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4/28/2021</a:t>
            </a: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917257" y="1404944"/>
            <a:ext cx="10070400" cy="4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spAutoFit/>
          </a:bodyPr>
          <a:lstStyle/>
          <a:p>
            <a:pPr marL="2413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3000"/>
              <a:buFont typeface="Arial"/>
              <a:buChar char="•"/>
            </a:pPr>
            <a:r>
              <a:rPr lang="en-US" sz="3000" b="1" dirty="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Frontier Based Exploration</a:t>
            </a:r>
            <a:endParaRPr sz="3000" dirty="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252525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 common technique for building maps</a:t>
            </a:r>
            <a:endParaRPr sz="2600" dirty="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990000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Key Idea:</a:t>
            </a:r>
            <a:endParaRPr sz="2600" dirty="0">
              <a:latin typeface="Calibri"/>
              <a:ea typeface="Calibri"/>
              <a:cs typeface="Calibri"/>
              <a:sym typeface="Calibri"/>
            </a:endParaRPr>
          </a:p>
          <a:p>
            <a:pPr marL="1155065" lvl="2" indent="-229234" algn="l" rtl="0">
              <a:lnSpc>
                <a:spcPct val="113636"/>
              </a:lnSpc>
              <a:spcBef>
                <a:spcPts val="265"/>
              </a:spcBef>
              <a:spcAft>
                <a:spcPts val="0"/>
              </a:spcAft>
              <a:buClr>
                <a:srgbClr val="3366FF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Identify the “frontiers” between known and unknown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1155065" lvl="0" indent="0" algn="l" rtl="0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1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Frontier cell = a unknown cell with at least one empty cell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1155065" marR="4952365" lvl="2" indent="-228600" algn="l" rtl="0">
              <a:lnSpc>
                <a:spcPct val="108181"/>
              </a:lnSpc>
              <a:spcBef>
                <a:spcPts val="535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Pick a frontier cell (e.g. the closest) </a:t>
            </a:r>
            <a:r>
              <a:rPr lang="en-US" sz="2200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Plan a path </a:t>
            </a:r>
            <a:r>
              <a:rPr lang="en-US" sz="2200" dirty="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to go explore it.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4230"/>
              </a:lnSpc>
              <a:spcBef>
                <a:spcPts val="125"/>
              </a:spcBef>
              <a:spcAft>
                <a:spcPts val="0"/>
              </a:spcAft>
              <a:buClr>
                <a:srgbClr val="990000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Done Condition:</a:t>
            </a:r>
            <a:endParaRPr sz="2600" dirty="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0" algn="l" rtl="0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No more frontier nodes left =&gt; your map is Complete!</a:t>
            </a:r>
            <a:endParaRPr sz="2600" dirty="0">
              <a:latin typeface="Calibri"/>
              <a:ea typeface="Calibri"/>
              <a:cs typeface="Calibri"/>
              <a:sym typeface="Calibri"/>
            </a:endParaRPr>
          </a:p>
          <a:p>
            <a:pPr marL="697865" marR="5080" lvl="0" indent="0" algn="l" rtl="0">
              <a:lnSpc>
                <a:spcPct val="107692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600" i="1" dirty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If finite world, then any algorithm that systematically explores frontier nodes is guaranteed to cover the whole world.</a:t>
            </a:r>
            <a:endParaRPr sz="26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2666" y="1567209"/>
            <a:ext cx="5064573" cy="455061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Frontier Based Exploration</a:t>
            </a:r>
          </a:p>
        </p:txBody>
      </p:sp>
      <p:sp>
        <p:nvSpPr>
          <p:cNvPr id="164" name="Google Shape;164;p2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4/28/2021</a:t>
            </a:r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6" name="Google Shape;13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894" y="1584480"/>
            <a:ext cx="6385538" cy="4550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799" y="101600"/>
            <a:ext cx="9033933" cy="675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4/28/2021</a:t>
            </a:r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pic>
        <p:nvPicPr>
          <p:cNvPr id="180" name="Google Shape;18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8560" y="1537198"/>
            <a:ext cx="9834878" cy="453253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4/28/2021</a:t>
            </a:r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pic>
        <p:nvPicPr>
          <p:cNvPr id="189" name="Google Shape;18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3473" y="1896536"/>
            <a:ext cx="8441559" cy="402415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1533778" y="5818504"/>
            <a:ext cx="38106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alibri"/>
                <a:ea typeface="Calibri"/>
                <a:cs typeface="Calibri"/>
                <a:sym typeface="Calibri"/>
              </a:rPr>
              <a:t>Simultaneous Localization And Mapping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4/28/2021</a:t>
            </a:r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4300" y="1317300"/>
            <a:ext cx="4223400" cy="42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 txBox="1"/>
          <p:nvPr/>
        </p:nvSpPr>
        <p:spPr>
          <a:xfrm>
            <a:off x="3174100" y="294325"/>
            <a:ext cx="6023400" cy="15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8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37269</TotalTime>
  <Words>661</Words>
  <Application>Microsoft Office PowerPoint</Application>
  <PresentationFormat>Widescreen</PresentationFormat>
  <Paragraphs>113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Times New Roman</vt:lpstr>
      <vt:lpstr>Calibri</vt:lpstr>
      <vt:lpstr>Noto Sans Symbols</vt:lpstr>
      <vt:lpstr>Arial</vt:lpstr>
      <vt:lpstr>Office Theme</vt:lpstr>
      <vt:lpstr>Robot Navigation (Mapping, Exploration)</vt:lpstr>
      <vt:lpstr>Robots Navigation</vt:lpstr>
      <vt:lpstr>Robots Navigation</vt:lpstr>
      <vt:lpstr>PowerPoint Presentation</vt:lpstr>
      <vt:lpstr>PowerPoint Presentation</vt:lpstr>
      <vt:lpstr>Mapping and Exploration</vt:lpstr>
      <vt:lpstr>What is an Occupancy Grid?</vt:lpstr>
      <vt:lpstr>Examples</vt:lpstr>
      <vt:lpstr>What is a Sensor Model?</vt:lpstr>
      <vt:lpstr>Constructing a Sensor Model</vt:lpstr>
      <vt:lpstr>A Simple OG Mapping Algorithm</vt:lpstr>
      <vt:lpstr>Exploration</vt:lpstr>
      <vt:lpstr>Exploration in Grid Worlds</vt:lpstr>
      <vt:lpstr>Frontier Based Exploration</vt:lpstr>
      <vt:lpstr>PowerPoint Presentation</vt:lpstr>
      <vt:lpstr>Summary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Robotics</dc:title>
  <dc:creator>HP</dc:creator>
  <cp:lastModifiedBy>HP</cp:lastModifiedBy>
  <cp:revision>34</cp:revision>
  <dcterms:modified xsi:type="dcterms:W3CDTF">2024-10-21T16:17:04Z</dcterms:modified>
</cp:coreProperties>
</file>